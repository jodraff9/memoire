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2018-19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1639E"/>
              </a:solidFill>
              <a:effectLst/>
            </c:spPr>
          </c:dPt>
          <c:dPt>
            <c:idx val="1"/>
            <c:bubble3D val="0"/>
            <c:spPr>
              <a:solidFill>
                <a:srgbClr val="DCE3E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Privés</c:v>
                </c:pt>
                <c:pt idx="1">
                  <c:v>Non privés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63.5</c:v>
                </c:pt>
                <c:pt idx="1">
                  <c:v>36.5</c:v>
                </c:pt>
              </c:numCache>
            </c:numRef>
          </c:val>
        </c:ser>
        <c:firstSliceAng val="0"/>
        <c:holeSize val="60"/>
      </c:doughnutChart>
      <c:spPr>
        <a:solidFill>
          <a:srgbClr val="FBFAF8"/>
        </a:solidFill>
        <a:ln>
          <a:noFill/>
        </a:ln>
        <a:effectLst/>
      </c:spPr>
    </c:plotArea>
    <c:plotVisOnly val="1"/>
    <c:dispBlanksAs val="span"/>
  </c:chart>
  <c:spPr>
    <a:solidFill>
      <a:srgbClr val="FBFA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2021-22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6F2B"/>
              </a:solidFill>
              <a:effectLst/>
            </c:spPr>
          </c:dPt>
          <c:dPt>
            <c:idx val="1"/>
            <c:bubble3D val="0"/>
            <c:spPr>
              <a:solidFill>
                <a:srgbClr val="F1E2D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Privés</c:v>
                </c:pt>
                <c:pt idx="1">
                  <c:v>Non privés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57.8</c:v>
                </c:pt>
                <c:pt idx="1">
                  <c:v>42.2</c:v>
                </c:pt>
              </c:numCache>
            </c:numRef>
          </c:val>
        </c:ser>
        <c:firstSliceAng val="0"/>
        <c:holeSize val="60"/>
      </c:doughnutChart>
      <c:spPr>
        <a:solidFill>
          <a:srgbClr val="FBFAF8"/>
        </a:solidFill>
        <a:ln>
          <a:noFill/>
        </a:ln>
        <a:effectLst/>
      </c:spPr>
    </c:plotArea>
    <c:plotVisOnly val="1"/>
    <c:dispBlanksAs val="span"/>
  </c:chart>
  <c:spPr>
    <a:solidFill>
      <a:srgbClr val="FB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Infographie de synthese du memoire. Chiffres du dernier run de tout.do : ATT PSM-DD 0,064 significatif a 5 % ; recul de l'incidence 3,5 points chez les beneficiaires contre 9,9 points chez les temoins apparies, soit 6,4 points d'ecart ; nutrition +6,8 points ; 0-4 ans +9,1 points ; incidence d'ensemble 63,5 % puis 57,8 % ; 0-4 ans 56,9 % puis 60,1 % ; 68,5 % des transferts affectes au soutien courant en 2021-2022.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3200400"/>
            <a:ext cx="5943600" cy="4206240"/>
          </a:xfrm>
          <a:prstGeom prst="ellipse">
            <a:avLst/>
          </a:prstGeom>
          <a:solidFill>
            <a:srgbClr val="F7EAE4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4206240"/>
            <a:ext cx="5486400" cy="4023360"/>
          </a:xfrm>
          <a:prstGeom prst="ellipse">
            <a:avLst/>
          </a:prstGeom>
          <a:solidFill>
            <a:srgbClr val="E5EEF4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-1554480"/>
            <a:ext cx="2926080" cy="2926080"/>
          </a:xfrm>
          <a:prstGeom prst="ellipse">
            <a:avLst/>
          </a:prstGeom>
          <a:solidFill>
            <a:srgbClr val="E5EE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Transferts de migrants et pauvreté infantile :</a:t>
            </a:r>
            <a:endParaRPr lang="en-US" sz="2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sénégalais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97280" y="1133856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des transferts de fonds sur les 7 dimensions du bien-être de l'enfant, 2018-2022, sur 17 786 enfants suivis.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cet horizon, les transferts n'ont pas réduit la pauvreté multidimensionnelle des enfants.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70078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6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impact paradoxal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83880" y="170078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6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27980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d'écart défavorable,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significatif à 5 %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9424" y="2121408"/>
            <a:ext cx="27432" cy="1060704"/>
          </a:xfrm>
          <a:prstGeom prst="rect">
            <a:avLst/>
          </a:prstGeom>
          <a:solidFill>
            <a:srgbClr val="D96F2B"/>
          </a:solidFill>
          <a:ln/>
        </p:spPr>
      </p:sp>
      <p:sp>
        <p:nvSpPr>
          <p:cNvPr id="12" name="Text 10"/>
          <p:cNvSpPr/>
          <p:nvPr/>
        </p:nvSpPr>
        <p:spPr>
          <a:xfrm>
            <a:off x="2414016" y="2066544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pauvreté a reculé près de trois fois moins vite chez les enfants des ménages bénéficiaires.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Recul de l'incidence MODA entre 2018 et 2021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371600" y="5216652"/>
            <a:ext cx="777240" cy="608076"/>
          </a:xfrm>
          <a:prstGeom prst="roundRect">
            <a:avLst>
              <a:gd name="adj" fmla="val 6015"/>
            </a:avLst>
          </a:prstGeom>
          <a:solidFill>
            <a:srgbClr val="D96F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9057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 pts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897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4104742"/>
            <a:ext cx="777240" cy="1719986"/>
          </a:xfrm>
          <a:prstGeom prst="roundRect">
            <a:avLst>
              <a:gd name="adj" fmla="val 4706"/>
            </a:avLst>
          </a:prstGeom>
          <a:solidFill>
            <a:srgbClr val="41639E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379384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 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58978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Témoins appariés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5824728"/>
            <a:ext cx="3017520" cy="18288"/>
          </a:xfrm>
          <a:prstGeom prst="rect">
            <a:avLst/>
          </a:prstGeom>
          <a:solidFill>
            <a:srgbClr val="CFD4DD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61447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de 6,4 points est l'effet estimé par appariement et double différence.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066544"/>
            <a:ext cx="1005840" cy="1005840"/>
          </a:xfrm>
          <a:prstGeom prst="ellipse">
            <a:avLst/>
          </a:prstGeom>
          <a:solidFill>
            <a:srgbClr val="D96F2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4A">
                <a:alpha val="1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340864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43600" y="206654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nutrition et les 0 à 4 ans en première ligne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943600" y="254203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se concentre sur la nutrition (+6,8 points) et sur les 0 à 4 ans (+9,1 points).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617720" y="32735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de la pauvreté multidimensionnelle (MODA)</a:t>
            </a:r>
            <a:endParaRPr lang="en-US" sz="11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349240" y="3657600"/>
          <a:ext cx="114300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/>
          <p:nvPr/>
        </p:nvSpPr>
        <p:spPr>
          <a:xfrm>
            <a:off x="5349240" y="404164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63,5 %</a:t>
            </a:r>
            <a:endParaRPr lang="en-US" sz="11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2018-19</a:t>
            </a:r>
            <a:endParaRPr lang="en-US" sz="115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6675120" y="3657600"/>
          <a:ext cx="114300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0" name="Text 25"/>
          <p:cNvSpPr/>
          <p:nvPr/>
        </p:nvSpPr>
        <p:spPr>
          <a:xfrm>
            <a:off x="6675120" y="404164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57,8 %</a:t>
            </a:r>
            <a:endParaRPr lang="en-US" sz="11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2021-22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709160" y="48828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les 0 à 4 ans, l'incidence progresse au contraire de 56,9 % à 60,1 %.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800600" y="5303520"/>
            <a:ext cx="1005840" cy="1005840"/>
          </a:xfrm>
          <a:prstGeom prst="ellipse">
            <a:avLst/>
          </a:prstGeom>
          <a:solidFill>
            <a:srgbClr val="C98A2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4A">
                <a:alpha val="18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4800600" y="56144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68 %</a:t>
            </a:r>
            <a:endParaRPr lang="en-US" sz="1900" dirty="0"/>
          </a:p>
        </p:txBody>
      </p:sp>
      <p:sp>
        <p:nvSpPr>
          <p:cNvPr id="34" name="Text 29"/>
          <p:cNvSpPr/>
          <p:nvPr/>
        </p:nvSpPr>
        <p:spPr>
          <a:xfrm>
            <a:off x="5943600" y="5321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fonds affectés au soutien courant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5943600" y="5797296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d'un dixième des envois va à la santé ou à la scolarité.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183880" y="2066544"/>
            <a:ext cx="1051560" cy="1051560"/>
          </a:xfrm>
          <a:prstGeom prst="ellipse">
            <a:avLst/>
          </a:prstGeom>
          <a:solidFill>
            <a:srgbClr val="C98A2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4A">
                <a:alpha val="18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2350008"/>
            <a:ext cx="484632" cy="4846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418320" y="20482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alimentaire et petite enfance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9418320" y="25237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Filets sociaux, cantines et suivi nutritionnel en priorité dans les communes d'émigration.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8183880" y="3566160"/>
            <a:ext cx="1051560" cy="1051560"/>
          </a:xfrm>
          <a:prstGeom prst="ellipse">
            <a:avLst/>
          </a:prstGeom>
          <a:solidFill>
            <a:srgbClr val="41639E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4A">
                <a:alpha val="18000"/>
              </a:srgbClr>
            </a:outerShdw>
          </a:effectLst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3849624"/>
            <a:ext cx="484632" cy="48463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418320" y="3547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par l'offre publique de services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9418320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L'eau, l'assainissement et la santé relèvent d'investissements que le privé ne remplace pas.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8183880" y="5065776"/>
            <a:ext cx="1051560" cy="1051560"/>
          </a:xfrm>
          <a:prstGeom prst="ellipse">
            <a:avLst/>
          </a:prstGeom>
          <a:solidFill>
            <a:srgbClr val="3E8C9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4A">
                <a:alpha val="18000"/>
              </a:srgbClr>
            </a:outerShdw>
          </a:effectLst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5349240"/>
            <a:ext cx="484632" cy="4846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418320" y="5047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les petits montants reçus</a:t>
            </a:r>
            <a:endParaRPr lang="en-US" sz="1350" dirty="0"/>
          </a:p>
        </p:txBody>
      </p:sp>
      <p:sp>
        <p:nvSpPr>
          <p:cNvPr id="47" name="Text 39"/>
          <p:cNvSpPr/>
          <p:nvPr/>
        </p:nvSpPr>
        <p:spPr>
          <a:xfrm>
            <a:off x="9418320" y="55229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A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les ménages qui reçoivent le moins et réduire les coûts des transferts formels.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411480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calcul de l'auteur, EHCVM I (2018-2019) et EHCVM II (2021-2022), estimateur PSM-double différence.</a:t>
            </a:r>
            <a:endParaRPr lang="en-US" sz="950" dirty="0"/>
          </a:p>
        </p:txBody>
      </p:sp>
      <p:sp>
        <p:nvSpPr>
          <p:cNvPr id="49" name="Text 41"/>
          <p:cNvSpPr/>
          <p:nvPr/>
        </p:nvSpPr>
        <p:spPr>
          <a:xfrm>
            <a:off x="8138160" y="6492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Sié Rachid TRAORÉ · ENSAE Pierre Ndiaye ·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Transferts de migrants et pauvrete infantile au Senegal</dc:title>
  <dc:subject>PptxGenJS Presentation</dc:subject>
  <dc:creator>Sie Rachid TRAORE</dc:creator>
  <cp:lastModifiedBy>Sie Rachid TRAORE</cp:lastModifiedBy>
  <cp:revision>1</cp:revision>
  <dcterms:created xsi:type="dcterms:W3CDTF">2026-08-02T20:58:29Z</dcterms:created>
  <dcterms:modified xsi:type="dcterms:W3CDTF">2026-08-02T20:58:29Z</dcterms:modified>
</cp:coreProperties>
</file>