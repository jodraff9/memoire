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D"/>
        </a:solidFill>
      </p:bgPr>
    </p:bg>
    <p:spTree>
      <p:nvGrpSpPr>
        <p:cNvPr id="1" name=""/>
        <p:cNvGrpSpPr/>
        <p:nvPr/>
      </p:nvGrpSpPr>
      <p:grpSpPr>
        <a:xfrm>
          <a:off x="0" y="0"/>
          <a:ext cx="0" cy="0"/>
          <a:chOff x="0" y="0"/>
          <a:chExt cx="0" cy="0"/>
        </a:xfrm>
      </p:grpSpPr>
      <p:sp>
        <p:nvSpPr>
          <p:cNvPr id="2" name="Shape 0"/>
          <p:cNvSpPr/>
          <p:nvPr/>
        </p:nvSpPr>
        <p:spPr>
          <a:xfrm>
            <a:off x="8778240" y="-2011680"/>
            <a:ext cx="5852160" cy="5852160"/>
          </a:xfrm>
          <a:prstGeom prst="ellipse">
            <a:avLst/>
          </a:prstGeom>
          <a:solidFill>
            <a:srgbClr val="24365E"/>
          </a:solidFill>
          <a:ln/>
        </p:spPr>
      </p:sp>
      <p:sp>
        <p:nvSpPr>
          <p:cNvPr id="3" name="Shape 1"/>
          <p:cNvSpPr/>
          <p:nvPr/>
        </p:nvSpPr>
        <p:spPr>
          <a:xfrm>
            <a:off x="-2194560" y="3840480"/>
            <a:ext cx="5120640" cy="5120640"/>
          </a:xfrm>
          <a:prstGeom prst="ellipse">
            <a:avLst/>
          </a:prstGeom>
          <a:solidFill>
            <a:srgbClr val="24365E"/>
          </a:solidFill>
          <a:ln/>
        </p:spPr>
      </p:sp>
      <p:sp>
        <p:nvSpPr>
          <p:cNvPr id="4" name="Shape 2"/>
          <p:cNvSpPr/>
          <p:nvPr/>
        </p:nvSpPr>
        <p:spPr>
          <a:xfrm>
            <a:off x="566928" y="411480"/>
            <a:ext cx="1234440" cy="1234440"/>
          </a:xfrm>
          <a:prstGeom prst="roundRect">
            <a:avLst>
              <a:gd name="adj" fmla="val 7407"/>
            </a:avLst>
          </a:prstGeom>
          <a:solidFill>
            <a:srgbClr val="FFFFFF"/>
          </a:solidFill>
          <a:ln/>
          <a:effectLst>
            <a:outerShdw sx="100000" sy="100000" kx="0" ky="0" algn="bl" rotWithShape="0" blurRad="127000" dist="25400" dir="5400000">
              <a:srgbClr val="1E2B4A">
                <a:alpha val="22000"/>
              </a:srgbClr>
            </a:outerShdw>
          </a:effectLst>
        </p:spPr>
      </p:sp>
      <p:pic>
        <p:nvPicPr>
          <p:cNvPr id="5" name="Image 0" descr="logos/logo_ensae_new.png">    </p:cNvPr>
          <p:cNvPicPr>
            <a:picLocks noChangeAspect="1"/>
          </p:cNvPicPr>
          <p:nvPr/>
        </p:nvPicPr>
        <p:blipFill>
          <a:blip r:embed="rId1"/>
          <a:stretch>
            <a:fillRect/>
          </a:stretch>
        </p:blipFill>
        <p:spPr>
          <a:xfrm>
            <a:off x="685800" y="530352"/>
            <a:ext cx="996696" cy="996696"/>
          </a:xfrm>
          <a:prstGeom prst="rect">
            <a:avLst/>
          </a:prstGeom>
        </p:spPr>
      </p:pic>
      <p:sp>
        <p:nvSpPr>
          <p:cNvPr id="6" name="Shape 3"/>
          <p:cNvSpPr/>
          <p:nvPr/>
        </p:nvSpPr>
        <p:spPr>
          <a:xfrm>
            <a:off x="10387584" y="411480"/>
            <a:ext cx="1234440" cy="1234440"/>
          </a:xfrm>
          <a:prstGeom prst="roundRect">
            <a:avLst>
              <a:gd name="adj" fmla="val 7407"/>
            </a:avLst>
          </a:prstGeom>
          <a:solidFill>
            <a:srgbClr val="FFFFFF"/>
          </a:solidFill>
          <a:ln/>
          <a:effectLst>
            <a:outerShdw sx="100000" sy="100000" kx="0" ky="0" algn="bl" rotWithShape="0" blurRad="127000" dist="25400" dir="5400000">
              <a:srgbClr val="1E2B4A">
                <a:alpha val="22000"/>
              </a:srgbClr>
            </a:outerShdw>
          </a:effectLst>
        </p:spPr>
      </p:sp>
      <p:pic>
        <p:nvPicPr>
          <p:cNvPr id="7" name="Image 1" descr="logos/logo_ansd.jpg">    </p:cNvPr>
          <p:cNvPicPr>
            <a:picLocks noChangeAspect="1"/>
          </p:cNvPicPr>
          <p:nvPr/>
        </p:nvPicPr>
        <p:blipFill>
          <a:blip r:embed="rId2"/>
          <a:stretch>
            <a:fillRect/>
          </a:stretch>
        </p:blipFill>
        <p:spPr>
          <a:xfrm>
            <a:off x="10506456" y="612648"/>
            <a:ext cx="996696" cy="832104"/>
          </a:xfrm>
          <a:prstGeom prst="rect">
            <a:avLst/>
          </a:prstGeom>
        </p:spPr>
      </p:pic>
      <p:sp>
        <p:nvSpPr>
          <p:cNvPr id="8" name="Text 4"/>
          <p:cNvSpPr/>
          <p:nvPr/>
        </p:nvSpPr>
        <p:spPr>
          <a:xfrm>
            <a:off x="0" y="502920"/>
            <a:ext cx="12188952" cy="274320"/>
          </a:xfrm>
          <a:prstGeom prst="rect">
            <a:avLst/>
          </a:prstGeom>
          <a:noFill/>
          <a:ln/>
        </p:spPr>
        <p:txBody>
          <a:bodyPr wrap="square" lIns="0" tIns="0" rIns="0" bIns="0" rtlCol="0" anchor="ctr"/>
          <a:lstStyle/>
          <a:p>
            <a:pPr algn="ctr" indent="0" marL="0">
              <a:buNone/>
            </a:pPr>
            <a:r>
              <a:rPr lang="en-US" sz="1200" b="1" spc="200" kern="0" dirty="0">
                <a:solidFill>
                  <a:srgbClr val="8FA6CC"/>
                </a:solidFill>
                <a:latin typeface="Calibri" pitchFamily="34" charset="0"/>
                <a:ea typeface="Calibri" pitchFamily="34" charset="-122"/>
                <a:cs typeface="Calibri" pitchFamily="34" charset="-120"/>
              </a:rPr>
              <a:t>RÉPUBLIQUE DU SÉNÉGAL</a:t>
            </a:r>
            <a:endParaRPr lang="en-US" sz="1200" dirty="0"/>
          </a:p>
        </p:txBody>
      </p:sp>
      <p:sp>
        <p:nvSpPr>
          <p:cNvPr id="9" name="Text 5"/>
          <p:cNvSpPr/>
          <p:nvPr/>
        </p:nvSpPr>
        <p:spPr>
          <a:xfrm>
            <a:off x="0" y="804672"/>
            <a:ext cx="12188952" cy="274320"/>
          </a:xfrm>
          <a:prstGeom prst="rect">
            <a:avLst/>
          </a:prstGeom>
          <a:noFill/>
          <a:ln/>
        </p:spPr>
        <p:txBody>
          <a:bodyPr wrap="square" lIns="0" tIns="0" rIns="0" bIns="0" rtlCol="0" anchor="ctr"/>
          <a:lstStyle/>
          <a:p>
            <a:pPr algn="ctr" indent="0" marL="0">
              <a:buNone/>
            </a:pPr>
            <a:r>
              <a:rPr lang="en-US" sz="1250" dirty="0">
                <a:solidFill>
                  <a:srgbClr val="AFC0DA"/>
                </a:solidFill>
                <a:latin typeface="Calibri" pitchFamily="34" charset="0"/>
                <a:ea typeface="Calibri" pitchFamily="34" charset="-122"/>
                <a:cs typeface="Calibri" pitchFamily="34" charset="-120"/>
              </a:rPr>
              <a:t>École nationale de la statistique et de l'analyse économique Pierre Ndiaye</a:t>
            </a:r>
            <a:endParaRPr lang="en-US" sz="1250" dirty="0"/>
          </a:p>
        </p:txBody>
      </p:sp>
      <p:sp>
        <p:nvSpPr>
          <p:cNvPr id="10" name="Text 6"/>
          <p:cNvSpPr/>
          <p:nvPr/>
        </p:nvSpPr>
        <p:spPr>
          <a:xfrm>
            <a:off x="1005840" y="1691640"/>
            <a:ext cx="10177272" cy="1691640"/>
          </a:xfrm>
          <a:prstGeom prst="rect">
            <a:avLst/>
          </a:prstGeom>
          <a:noFill/>
          <a:ln/>
        </p:spPr>
        <p:txBody>
          <a:bodyPr wrap="square" lIns="0" tIns="0" rIns="0" bIns="0" rtlCol="0" anchor="ctr"/>
          <a:lstStyle/>
          <a:p>
            <a:pPr algn="ctr" indent="0" marL="0">
              <a:lnSpc>
                <a:spcPts val="4200"/>
              </a:lnSpc>
              <a:buNone/>
            </a:pPr>
            <a:r>
              <a:rPr lang="en-US" sz="3100" b="1" dirty="0">
                <a:solidFill>
                  <a:srgbClr val="FFFFFF"/>
                </a:solidFill>
                <a:latin typeface="Calibri" pitchFamily="34" charset="0"/>
                <a:ea typeface="Calibri" pitchFamily="34" charset="-122"/>
                <a:cs typeface="Calibri" pitchFamily="34" charset="-120"/>
              </a:rPr>
              <a:t>Impact des transferts de migrants sur la pauvreté</a:t>
            </a:r>
            <a:endParaRPr lang="en-US" sz="3100" dirty="0"/>
          </a:p>
          <a:p>
            <a:pPr algn="ctr" indent="0" marL="0">
              <a:lnSpc>
                <a:spcPts val="4200"/>
              </a:lnSpc>
              <a:buNone/>
            </a:pPr>
            <a:r>
              <a:rPr lang="en-US" sz="3100" b="1" dirty="0">
                <a:solidFill>
                  <a:srgbClr val="FFFFFF"/>
                </a:solidFill>
                <a:latin typeface="Calibri" pitchFamily="34" charset="0"/>
                <a:ea typeface="Calibri" pitchFamily="34" charset="-122"/>
                <a:cs typeface="Calibri" pitchFamily="34" charset="-120"/>
              </a:rPr>
              <a:t>multidimensionnelle des enfants au Sénégal</a:t>
            </a:r>
            <a:endParaRPr lang="en-US" sz="3100" dirty="0"/>
          </a:p>
        </p:txBody>
      </p:sp>
      <p:sp>
        <p:nvSpPr>
          <p:cNvPr id="11" name="Text 7"/>
          <p:cNvSpPr/>
          <p:nvPr/>
        </p:nvSpPr>
        <p:spPr>
          <a:xfrm>
            <a:off x="1005840" y="3429000"/>
            <a:ext cx="10177272" cy="310896"/>
          </a:xfrm>
          <a:prstGeom prst="rect">
            <a:avLst/>
          </a:prstGeom>
          <a:noFill/>
          <a:ln/>
        </p:spPr>
        <p:txBody>
          <a:bodyPr wrap="square" lIns="0" tIns="0" rIns="0" bIns="0" rtlCol="0" anchor="ctr"/>
          <a:lstStyle/>
          <a:p>
            <a:pPr algn="ctr" indent="0" marL="0">
              <a:buNone/>
            </a:pPr>
            <a:r>
              <a:rPr lang="en-US" sz="1400" dirty="0">
                <a:solidFill>
                  <a:srgbClr val="D96F2B"/>
                </a:solidFill>
                <a:latin typeface="Calibri" pitchFamily="34" charset="0"/>
                <a:ea typeface="Calibri" pitchFamily="34" charset="-122"/>
                <a:cs typeface="Calibri" pitchFamily="34" charset="-120"/>
              </a:rPr>
              <a:t>Mémoire de fin d'études, ingénieur statisticien économiste</a:t>
            </a:r>
            <a:endParaRPr lang="en-US" sz="1400" dirty="0"/>
          </a:p>
        </p:txBody>
      </p:sp>
      <p:sp>
        <p:nvSpPr>
          <p:cNvPr id="12" name="Text 8"/>
          <p:cNvSpPr/>
          <p:nvPr/>
        </p:nvSpPr>
        <p:spPr>
          <a:xfrm>
            <a:off x="2286000" y="4224528"/>
            <a:ext cx="3383280" cy="256032"/>
          </a:xfrm>
          <a:prstGeom prst="rect">
            <a:avLst/>
          </a:prstGeom>
          <a:noFill/>
          <a:ln/>
        </p:spPr>
        <p:txBody>
          <a:bodyPr wrap="square" lIns="0" tIns="0" rIns="0" bIns="0" rtlCol="0" anchor="ctr"/>
          <a:lstStyle/>
          <a:p>
            <a:pPr algn="ctr" indent="0" marL="0">
              <a:buNone/>
            </a:pPr>
            <a:r>
              <a:rPr lang="en-US" sz="1100" dirty="0">
                <a:solidFill>
                  <a:srgbClr val="8FA6CC"/>
                </a:solidFill>
                <a:latin typeface="Calibri" pitchFamily="34" charset="0"/>
                <a:ea typeface="Calibri" pitchFamily="34" charset="-122"/>
                <a:cs typeface="Calibri" pitchFamily="34" charset="-120"/>
              </a:rPr>
              <a:t>Présenté par</a:t>
            </a:r>
            <a:endParaRPr lang="en-US" sz="1100" dirty="0"/>
          </a:p>
        </p:txBody>
      </p:sp>
      <p:sp>
        <p:nvSpPr>
          <p:cNvPr id="13" name="Text 9"/>
          <p:cNvSpPr/>
          <p:nvPr/>
        </p:nvSpPr>
        <p:spPr>
          <a:xfrm>
            <a:off x="2286000" y="4480560"/>
            <a:ext cx="338328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Sié Rachid TRAORÉ</a:t>
            </a:r>
            <a:endParaRPr lang="en-US" sz="1500" dirty="0"/>
          </a:p>
        </p:txBody>
      </p:sp>
      <p:sp>
        <p:nvSpPr>
          <p:cNvPr id="14" name="Text 10"/>
          <p:cNvSpPr/>
          <p:nvPr/>
        </p:nvSpPr>
        <p:spPr>
          <a:xfrm>
            <a:off x="2103120" y="4791456"/>
            <a:ext cx="3749040" cy="365760"/>
          </a:xfrm>
          <a:prstGeom prst="rect">
            <a:avLst/>
          </a:prstGeom>
          <a:noFill/>
          <a:ln/>
        </p:spPr>
        <p:txBody>
          <a:bodyPr wrap="square" lIns="0" tIns="0" rIns="0" bIns="0" rtlCol="0" anchor="ctr"/>
          <a:lstStyle/>
          <a:p>
            <a:pPr algn="ctr" indent="0" marL="0">
              <a:lnSpc>
                <a:spcPts val="1300"/>
              </a:lnSpc>
              <a:buNone/>
            </a:pPr>
            <a:r>
              <a:rPr lang="en-US" sz="1050" dirty="0">
                <a:solidFill>
                  <a:srgbClr val="AFC0DA"/>
                </a:solidFill>
                <a:latin typeface="Calibri" pitchFamily="34" charset="0"/>
                <a:ea typeface="Calibri" pitchFamily="34" charset="-122"/>
                <a:cs typeface="Calibri" pitchFamily="34" charset="-120"/>
              </a:rPr>
              <a:t>Élève ingénieur statisticien économiste</a:t>
            </a:r>
            <a:endParaRPr lang="en-US" sz="1050" dirty="0"/>
          </a:p>
        </p:txBody>
      </p:sp>
      <p:sp>
        <p:nvSpPr>
          <p:cNvPr id="15" name="Text 11"/>
          <p:cNvSpPr/>
          <p:nvPr/>
        </p:nvSpPr>
        <p:spPr>
          <a:xfrm>
            <a:off x="6583680" y="4224528"/>
            <a:ext cx="3383280" cy="256032"/>
          </a:xfrm>
          <a:prstGeom prst="rect">
            <a:avLst/>
          </a:prstGeom>
          <a:noFill/>
          <a:ln/>
        </p:spPr>
        <p:txBody>
          <a:bodyPr wrap="square" lIns="0" tIns="0" rIns="0" bIns="0" rtlCol="0" anchor="ctr"/>
          <a:lstStyle/>
          <a:p>
            <a:pPr algn="ctr" indent="0" marL="0">
              <a:buNone/>
            </a:pPr>
            <a:r>
              <a:rPr lang="en-US" sz="1100" dirty="0">
                <a:solidFill>
                  <a:srgbClr val="8FA6CC"/>
                </a:solidFill>
                <a:latin typeface="Calibri" pitchFamily="34" charset="0"/>
                <a:ea typeface="Calibri" pitchFamily="34" charset="-122"/>
                <a:cs typeface="Calibri" pitchFamily="34" charset="-120"/>
              </a:rPr>
              <a:t>Sous la direction de</a:t>
            </a:r>
            <a:endParaRPr lang="en-US" sz="1100" dirty="0"/>
          </a:p>
        </p:txBody>
      </p:sp>
      <p:sp>
        <p:nvSpPr>
          <p:cNvPr id="16" name="Text 12"/>
          <p:cNvSpPr/>
          <p:nvPr/>
        </p:nvSpPr>
        <p:spPr>
          <a:xfrm>
            <a:off x="6583680" y="4480560"/>
            <a:ext cx="338328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Mamadou Abdoulaye DIALLO</a:t>
            </a:r>
            <a:endParaRPr lang="en-US" sz="1500" dirty="0"/>
          </a:p>
        </p:txBody>
      </p:sp>
      <p:sp>
        <p:nvSpPr>
          <p:cNvPr id="17" name="Text 13"/>
          <p:cNvSpPr/>
          <p:nvPr/>
        </p:nvSpPr>
        <p:spPr>
          <a:xfrm>
            <a:off x="6400800" y="4791456"/>
            <a:ext cx="3749040" cy="365760"/>
          </a:xfrm>
          <a:prstGeom prst="rect">
            <a:avLst/>
          </a:prstGeom>
          <a:noFill/>
          <a:ln/>
        </p:spPr>
        <p:txBody>
          <a:bodyPr wrap="square" lIns="0" tIns="0" rIns="0" bIns="0" rtlCol="0" anchor="ctr"/>
          <a:lstStyle/>
          <a:p>
            <a:pPr algn="ctr" indent="0" marL="0">
              <a:lnSpc>
                <a:spcPts val="1300"/>
              </a:lnSpc>
              <a:buNone/>
            </a:pPr>
            <a:r>
              <a:rPr lang="en-US" sz="1050" dirty="0">
                <a:solidFill>
                  <a:srgbClr val="AFC0DA"/>
                </a:solidFill>
                <a:latin typeface="Calibri" pitchFamily="34" charset="0"/>
                <a:ea typeface="Calibri" pitchFamily="34" charset="-122"/>
                <a:cs typeface="Calibri" pitchFamily="34" charset="-120"/>
              </a:rPr>
              <a:t>Chercheur postdoctoral en économie appliquée</a:t>
            </a:r>
            <a:endParaRPr lang="en-US" sz="1050" dirty="0"/>
          </a:p>
        </p:txBody>
      </p:sp>
      <p:sp>
        <p:nvSpPr>
          <p:cNvPr id="18" name="Text 14"/>
          <p:cNvSpPr/>
          <p:nvPr/>
        </p:nvSpPr>
        <p:spPr>
          <a:xfrm>
            <a:off x="0" y="5806440"/>
            <a:ext cx="12188952" cy="292608"/>
          </a:xfrm>
          <a:prstGeom prst="rect">
            <a:avLst/>
          </a:prstGeom>
          <a:noFill/>
          <a:ln/>
        </p:spPr>
        <p:txBody>
          <a:bodyPr wrap="square" lIns="0" tIns="0" rIns="0" bIns="0" rtlCol="0" anchor="ctr"/>
          <a:lstStyle/>
          <a:p>
            <a:pPr algn="ctr" indent="0" marL="0">
              <a:buNone/>
            </a:pPr>
            <a:r>
              <a:rPr lang="en-US" sz="1300" dirty="0">
                <a:solidFill>
                  <a:srgbClr val="8FA6CC"/>
                </a:solidFill>
                <a:latin typeface="Calibri" pitchFamily="34" charset="0"/>
                <a:ea typeface="Calibri" pitchFamily="34" charset="-122"/>
                <a:cs typeface="Calibri" pitchFamily="34" charset="-120"/>
              </a:rPr>
              <a:t>Août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Plan de la présentation</a:t>
            </a:r>
            <a:endParaRPr lang="en-US" sz="2700" dirty="0"/>
          </a:p>
        </p:txBody>
      </p:sp>
      <p:sp>
        <p:nvSpPr>
          <p:cNvPr id="3" name="Shape 1"/>
          <p:cNvSpPr/>
          <p:nvPr/>
        </p:nvSpPr>
        <p:spPr>
          <a:xfrm>
            <a:off x="685800" y="1572768"/>
            <a:ext cx="3429000"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4" name="Shape 2"/>
          <p:cNvSpPr/>
          <p:nvPr/>
        </p:nvSpPr>
        <p:spPr>
          <a:xfrm>
            <a:off x="978408" y="1883664"/>
            <a:ext cx="841248" cy="841248"/>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5" name="Image 0" descr="preencoded.png">    </p:cNvPr>
          <p:cNvPicPr>
            <a:picLocks noChangeAspect="1"/>
          </p:cNvPicPr>
          <p:nvPr/>
        </p:nvPicPr>
        <p:blipFill>
          <a:blip r:embed="rId1"/>
          <a:stretch>
            <a:fillRect/>
          </a:stretch>
        </p:blipFill>
        <p:spPr>
          <a:xfrm>
            <a:off x="1205545" y="2110801"/>
            <a:ext cx="386974" cy="386974"/>
          </a:xfrm>
          <a:prstGeom prst="rect">
            <a:avLst/>
          </a:prstGeom>
        </p:spPr>
      </p:pic>
      <p:sp>
        <p:nvSpPr>
          <p:cNvPr id="6" name="Text 3"/>
          <p:cNvSpPr/>
          <p:nvPr/>
        </p:nvSpPr>
        <p:spPr>
          <a:xfrm>
            <a:off x="3291840" y="1792224"/>
            <a:ext cx="594360" cy="457200"/>
          </a:xfrm>
          <a:prstGeom prst="rect">
            <a:avLst/>
          </a:prstGeom>
          <a:noFill/>
          <a:ln/>
        </p:spPr>
        <p:txBody>
          <a:bodyPr wrap="square" lIns="0" tIns="0" rIns="0" bIns="0" rtlCol="0" anchor="ctr"/>
          <a:lstStyle/>
          <a:p>
            <a:pPr algn="r" indent="0" marL="0">
              <a:buNone/>
            </a:pPr>
            <a:r>
              <a:rPr lang="en-US" sz="3000" b="1" dirty="0">
                <a:solidFill>
                  <a:srgbClr val="E3E7EE"/>
                </a:solidFill>
                <a:latin typeface="Calibri" pitchFamily="34" charset="0"/>
                <a:ea typeface="Calibri" pitchFamily="34" charset="-122"/>
                <a:cs typeface="Calibri" pitchFamily="34" charset="-120"/>
              </a:rPr>
              <a:t>1</a:t>
            </a:r>
            <a:endParaRPr lang="en-US" sz="3000" dirty="0"/>
          </a:p>
        </p:txBody>
      </p:sp>
      <p:sp>
        <p:nvSpPr>
          <p:cNvPr id="7" name="Text 4"/>
          <p:cNvSpPr/>
          <p:nvPr/>
        </p:nvSpPr>
        <p:spPr>
          <a:xfrm>
            <a:off x="978408" y="2816352"/>
            <a:ext cx="2880360" cy="310896"/>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Contexte et problématique</a:t>
            </a:r>
            <a:endParaRPr lang="en-US" sz="1450" dirty="0"/>
          </a:p>
        </p:txBody>
      </p:sp>
      <p:sp>
        <p:nvSpPr>
          <p:cNvPr id="8" name="Text 5"/>
          <p:cNvSpPr/>
          <p:nvPr/>
        </p:nvSpPr>
        <p:spPr>
          <a:xfrm>
            <a:off x="978408" y="3127248"/>
            <a:ext cx="2880360" cy="274320"/>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Deux réalités qui se rejoignent</a:t>
            </a:r>
            <a:endParaRPr lang="en-US" sz="1100" dirty="0"/>
          </a:p>
        </p:txBody>
      </p:sp>
      <p:sp>
        <p:nvSpPr>
          <p:cNvPr id="9" name="Shape 6"/>
          <p:cNvSpPr/>
          <p:nvPr/>
        </p:nvSpPr>
        <p:spPr>
          <a:xfrm>
            <a:off x="4480560" y="1572768"/>
            <a:ext cx="3429000"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10" name="Shape 7"/>
          <p:cNvSpPr/>
          <p:nvPr/>
        </p:nvSpPr>
        <p:spPr>
          <a:xfrm>
            <a:off x="4773168" y="1883664"/>
            <a:ext cx="841248" cy="841248"/>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11" name="Image 1" descr="preencoded.png">    </p:cNvPr>
          <p:cNvPicPr>
            <a:picLocks noChangeAspect="1"/>
          </p:cNvPicPr>
          <p:nvPr/>
        </p:nvPicPr>
        <p:blipFill>
          <a:blip r:embed="rId2"/>
          <a:stretch>
            <a:fillRect/>
          </a:stretch>
        </p:blipFill>
        <p:spPr>
          <a:xfrm>
            <a:off x="5000305" y="2110801"/>
            <a:ext cx="386974" cy="386974"/>
          </a:xfrm>
          <a:prstGeom prst="rect">
            <a:avLst/>
          </a:prstGeom>
        </p:spPr>
      </p:pic>
      <p:sp>
        <p:nvSpPr>
          <p:cNvPr id="12" name="Text 8"/>
          <p:cNvSpPr/>
          <p:nvPr/>
        </p:nvSpPr>
        <p:spPr>
          <a:xfrm>
            <a:off x="7086600" y="1792224"/>
            <a:ext cx="594360" cy="457200"/>
          </a:xfrm>
          <a:prstGeom prst="rect">
            <a:avLst/>
          </a:prstGeom>
          <a:noFill/>
          <a:ln/>
        </p:spPr>
        <p:txBody>
          <a:bodyPr wrap="square" lIns="0" tIns="0" rIns="0" bIns="0" rtlCol="0" anchor="ctr"/>
          <a:lstStyle/>
          <a:p>
            <a:pPr algn="r" indent="0" marL="0">
              <a:buNone/>
            </a:pPr>
            <a:r>
              <a:rPr lang="en-US" sz="3000" b="1" dirty="0">
                <a:solidFill>
                  <a:srgbClr val="E3E7EE"/>
                </a:solidFill>
                <a:latin typeface="Calibri" pitchFamily="34" charset="0"/>
                <a:ea typeface="Calibri" pitchFamily="34" charset="-122"/>
                <a:cs typeface="Calibri" pitchFamily="34" charset="-120"/>
              </a:rPr>
              <a:t>2</a:t>
            </a:r>
            <a:endParaRPr lang="en-US" sz="3000" dirty="0"/>
          </a:p>
        </p:txBody>
      </p:sp>
      <p:sp>
        <p:nvSpPr>
          <p:cNvPr id="13" name="Text 9"/>
          <p:cNvSpPr/>
          <p:nvPr/>
        </p:nvSpPr>
        <p:spPr>
          <a:xfrm>
            <a:off x="4773168" y="2816352"/>
            <a:ext cx="2880360" cy="310896"/>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Revue de la littérature</a:t>
            </a:r>
            <a:endParaRPr lang="en-US" sz="1450" dirty="0"/>
          </a:p>
        </p:txBody>
      </p:sp>
      <p:sp>
        <p:nvSpPr>
          <p:cNvPr id="14" name="Text 10"/>
          <p:cNvSpPr/>
          <p:nvPr/>
        </p:nvSpPr>
        <p:spPr>
          <a:xfrm>
            <a:off x="4773168" y="3127248"/>
            <a:ext cx="2880360" cy="274320"/>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Canaux, mesure et lacune</a:t>
            </a:r>
            <a:endParaRPr lang="en-US" sz="1100" dirty="0"/>
          </a:p>
        </p:txBody>
      </p:sp>
      <p:sp>
        <p:nvSpPr>
          <p:cNvPr id="15" name="Shape 11"/>
          <p:cNvSpPr/>
          <p:nvPr/>
        </p:nvSpPr>
        <p:spPr>
          <a:xfrm>
            <a:off x="8275320" y="1572768"/>
            <a:ext cx="3429000"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16" name="Shape 12"/>
          <p:cNvSpPr/>
          <p:nvPr/>
        </p:nvSpPr>
        <p:spPr>
          <a:xfrm>
            <a:off x="8567928" y="1883664"/>
            <a:ext cx="841248" cy="841248"/>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7" name="Image 2" descr="preencoded.png">    </p:cNvPr>
          <p:cNvPicPr>
            <a:picLocks noChangeAspect="1"/>
          </p:cNvPicPr>
          <p:nvPr/>
        </p:nvPicPr>
        <p:blipFill>
          <a:blip r:embed="rId3"/>
          <a:stretch>
            <a:fillRect/>
          </a:stretch>
        </p:blipFill>
        <p:spPr>
          <a:xfrm>
            <a:off x="8795065" y="2110801"/>
            <a:ext cx="386974" cy="386974"/>
          </a:xfrm>
          <a:prstGeom prst="rect">
            <a:avLst/>
          </a:prstGeom>
        </p:spPr>
      </p:pic>
      <p:sp>
        <p:nvSpPr>
          <p:cNvPr id="18" name="Text 13"/>
          <p:cNvSpPr/>
          <p:nvPr/>
        </p:nvSpPr>
        <p:spPr>
          <a:xfrm>
            <a:off x="10881360" y="1792224"/>
            <a:ext cx="594360" cy="457200"/>
          </a:xfrm>
          <a:prstGeom prst="rect">
            <a:avLst/>
          </a:prstGeom>
          <a:noFill/>
          <a:ln/>
        </p:spPr>
        <p:txBody>
          <a:bodyPr wrap="square" lIns="0" tIns="0" rIns="0" bIns="0" rtlCol="0" anchor="ctr"/>
          <a:lstStyle/>
          <a:p>
            <a:pPr algn="r" indent="0" marL="0">
              <a:buNone/>
            </a:pPr>
            <a:r>
              <a:rPr lang="en-US" sz="3000" b="1" dirty="0">
                <a:solidFill>
                  <a:srgbClr val="E3E7EE"/>
                </a:solidFill>
                <a:latin typeface="Calibri" pitchFamily="34" charset="0"/>
                <a:ea typeface="Calibri" pitchFamily="34" charset="-122"/>
                <a:cs typeface="Calibri" pitchFamily="34" charset="-120"/>
              </a:rPr>
              <a:t>3</a:t>
            </a:r>
            <a:endParaRPr lang="en-US" sz="3000" dirty="0"/>
          </a:p>
        </p:txBody>
      </p:sp>
      <p:sp>
        <p:nvSpPr>
          <p:cNvPr id="19" name="Text 14"/>
          <p:cNvSpPr/>
          <p:nvPr/>
        </p:nvSpPr>
        <p:spPr>
          <a:xfrm>
            <a:off x="8567928" y="2816352"/>
            <a:ext cx="2880360" cy="310896"/>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Cadre méthodologique</a:t>
            </a:r>
            <a:endParaRPr lang="en-US" sz="1450" dirty="0"/>
          </a:p>
        </p:txBody>
      </p:sp>
      <p:sp>
        <p:nvSpPr>
          <p:cNvPr id="20" name="Text 15"/>
          <p:cNvSpPr/>
          <p:nvPr/>
        </p:nvSpPr>
        <p:spPr>
          <a:xfrm>
            <a:off x="8567928" y="3127248"/>
            <a:ext cx="2880360" cy="274320"/>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MODA et identification PSM-DD</a:t>
            </a:r>
            <a:endParaRPr lang="en-US" sz="1100" dirty="0"/>
          </a:p>
        </p:txBody>
      </p:sp>
      <p:sp>
        <p:nvSpPr>
          <p:cNvPr id="21" name="Shape 16"/>
          <p:cNvSpPr/>
          <p:nvPr/>
        </p:nvSpPr>
        <p:spPr>
          <a:xfrm>
            <a:off x="685800" y="3904488"/>
            <a:ext cx="3429000"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22" name="Shape 17"/>
          <p:cNvSpPr/>
          <p:nvPr/>
        </p:nvSpPr>
        <p:spPr>
          <a:xfrm>
            <a:off x="978408" y="4215384"/>
            <a:ext cx="841248" cy="841248"/>
          </a:xfrm>
          <a:prstGeom prst="ellipse">
            <a:avLst/>
          </a:prstGeom>
          <a:solidFill>
            <a:srgbClr val="F6ECDC"/>
          </a:solidFill>
          <a:ln w="15875">
            <a:solidFill>
              <a:srgbClr val="ECD5B0"/>
            </a:solidFill>
            <a:prstDash val="solid"/>
          </a:ln>
          <a:effectLst>
            <a:outerShdw sx="100000" sy="100000" kx="0" ky="0" algn="bl" rotWithShape="0" blurRad="127000" dist="25400" dir="5400000">
              <a:srgbClr val="1E2B4A">
                <a:alpha val="8000"/>
              </a:srgbClr>
            </a:outerShdw>
          </a:effectLst>
        </p:spPr>
      </p:sp>
      <p:pic>
        <p:nvPicPr>
          <p:cNvPr id="23" name="Image 3" descr="preencoded.png">    </p:cNvPr>
          <p:cNvPicPr>
            <a:picLocks noChangeAspect="1"/>
          </p:cNvPicPr>
          <p:nvPr/>
        </p:nvPicPr>
        <p:blipFill>
          <a:blip r:embed="rId4"/>
          <a:stretch>
            <a:fillRect/>
          </a:stretch>
        </p:blipFill>
        <p:spPr>
          <a:xfrm>
            <a:off x="1205545" y="4442521"/>
            <a:ext cx="386974" cy="386974"/>
          </a:xfrm>
          <a:prstGeom prst="rect">
            <a:avLst/>
          </a:prstGeom>
        </p:spPr>
      </p:pic>
      <p:sp>
        <p:nvSpPr>
          <p:cNvPr id="24" name="Text 18"/>
          <p:cNvSpPr/>
          <p:nvPr/>
        </p:nvSpPr>
        <p:spPr>
          <a:xfrm>
            <a:off x="3291840" y="4123944"/>
            <a:ext cx="594360" cy="457200"/>
          </a:xfrm>
          <a:prstGeom prst="rect">
            <a:avLst/>
          </a:prstGeom>
          <a:noFill/>
          <a:ln/>
        </p:spPr>
        <p:txBody>
          <a:bodyPr wrap="square" lIns="0" tIns="0" rIns="0" bIns="0" rtlCol="0" anchor="ctr"/>
          <a:lstStyle/>
          <a:p>
            <a:pPr algn="r" indent="0" marL="0">
              <a:buNone/>
            </a:pPr>
            <a:r>
              <a:rPr lang="en-US" sz="3000" b="1" dirty="0">
                <a:solidFill>
                  <a:srgbClr val="E3E7EE"/>
                </a:solidFill>
                <a:latin typeface="Calibri" pitchFamily="34" charset="0"/>
                <a:ea typeface="Calibri" pitchFamily="34" charset="-122"/>
                <a:cs typeface="Calibri" pitchFamily="34" charset="-120"/>
              </a:rPr>
              <a:t>4</a:t>
            </a:r>
            <a:endParaRPr lang="en-US" sz="3000" dirty="0"/>
          </a:p>
        </p:txBody>
      </p:sp>
      <p:sp>
        <p:nvSpPr>
          <p:cNvPr id="25" name="Text 19"/>
          <p:cNvSpPr/>
          <p:nvPr/>
        </p:nvSpPr>
        <p:spPr>
          <a:xfrm>
            <a:off x="978408" y="5148072"/>
            <a:ext cx="2880360" cy="310896"/>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Résultats empiriques</a:t>
            </a:r>
            <a:endParaRPr lang="en-US" sz="1450" dirty="0"/>
          </a:p>
        </p:txBody>
      </p:sp>
      <p:sp>
        <p:nvSpPr>
          <p:cNvPr id="26" name="Text 20"/>
          <p:cNvSpPr/>
          <p:nvPr/>
        </p:nvSpPr>
        <p:spPr>
          <a:xfrm>
            <a:off x="978408" y="5458968"/>
            <a:ext cx="2880360" cy="274320"/>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Effet, dimensions, montants</a:t>
            </a:r>
            <a:endParaRPr lang="en-US" sz="1100" dirty="0"/>
          </a:p>
        </p:txBody>
      </p:sp>
      <p:sp>
        <p:nvSpPr>
          <p:cNvPr id="27" name="Shape 21"/>
          <p:cNvSpPr/>
          <p:nvPr/>
        </p:nvSpPr>
        <p:spPr>
          <a:xfrm>
            <a:off x="4480560" y="3904488"/>
            <a:ext cx="3429000"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28" name="Shape 22"/>
          <p:cNvSpPr/>
          <p:nvPr/>
        </p:nvSpPr>
        <p:spPr>
          <a:xfrm>
            <a:off x="4773168" y="4215384"/>
            <a:ext cx="841248" cy="841248"/>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29" name="Image 4" descr="preencoded.png">    </p:cNvPr>
          <p:cNvPicPr>
            <a:picLocks noChangeAspect="1"/>
          </p:cNvPicPr>
          <p:nvPr/>
        </p:nvPicPr>
        <p:blipFill>
          <a:blip r:embed="rId5"/>
          <a:stretch>
            <a:fillRect/>
          </a:stretch>
        </p:blipFill>
        <p:spPr>
          <a:xfrm>
            <a:off x="5000305" y="4442521"/>
            <a:ext cx="386974" cy="386974"/>
          </a:xfrm>
          <a:prstGeom prst="rect">
            <a:avLst/>
          </a:prstGeom>
        </p:spPr>
      </p:pic>
      <p:sp>
        <p:nvSpPr>
          <p:cNvPr id="30" name="Text 23"/>
          <p:cNvSpPr/>
          <p:nvPr/>
        </p:nvSpPr>
        <p:spPr>
          <a:xfrm>
            <a:off x="7086600" y="4123944"/>
            <a:ext cx="594360" cy="457200"/>
          </a:xfrm>
          <a:prstGeom prst="rect">
            <a:avLst/>
          </a:prstGeom>
          <a:noFill/>
          <a:ln/>
        </p:spPr>
        <p:txBody>
          <a:bodyPr wrap="square" lIns="0" tIns="0" rIns="0" bIns="0" rtlCol="0" anchor="ctr"/>
          <a:lstStyle/>
          <a:p>
            <a:pPr algn="r" indent="0" marL="0">
              <a:buNone/>
            </a:pPr>
            <a:r>
              <a:rPr lang="en-US" sz="3000" b="1" dirty="0">
                <a:solidFill>
                  <a:srgbClr val="E3E7EE"/>
                </a:solidFill>
                <a:latin typeface="Calibri" pitchFamily="34" charset="0"/>
                <a:ea typeface="Calibri" pitchFamily="34" charset="-122"/>
                <a:cs typeface="Calibri" pitchFamily="34" charset="-120"/>
              </a:rPr>
              <a:t>5</a:t>
            </a:r>
            <a:endParaRPr lang="en-US" sz="3000" dirty="0"/>
          </a:p>
        </p:txBody>
      </p:sp>
      <p:sp>
        <p:nvSpPr>
          <p:cNvPr id="31" name="Text 24"/>
          <p:cNvSpPr/>
          <p:nvPr/>
        </p:nvSpPr>
        <p:spPr>
          <a:xfrm>
            <a:off x="4773168" y="5148072"/>
            <a:ext cx="2880360" cy="310896"/>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Robustesse et discussion</a:t>
            </a:r>
            <a:endParaRPr lang="en-US" sz="1450" dirty="0"/>
          </a:p>
        </p:txBody>
      </p:sp>
      <p:sp>
        <p:nvSpPr>
          <p:cNvPr id="32" name="Text 25"/>
          <p:cNvSpPr/>
          <p:nvPr/>
        </p:nvSpPr>
        <p:spPr>
          <a:xfrm>
            <a:off x="4773168" y="5458968"/>
            <a:ext cx="2880360" cy="274320"/>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Ce qui tient et ce qui ne tient pas</a:t>
            </a:r>
            <a:endParaRPr lang="en-US" sz="1100" dirty="0"/>
          </a:p>
        </p:txBody>
      </p:sp>
      <p:sp>
        <p:nvSpPr>
          <p:cNvPr id="33" name="Shape 26"/>
          <p:cNvSpPr/>
          <p:nvPr/>
        </p:nvSpPr>
        <p:spPr>
          <a:xfrm>
            <a:off x="8275320" y="3904488"/>
            <a:ext cx="3429000"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34" name="Shape 27"/>
          <p:cNvSpPr/>
          <p:nvPr/>
        </p:nvSpPr>
        <p:spPr>
          <a:xfrm>
            <a:off x="8567928" y="4215384"/>
            <a:ext cx="841248" cy="841248"/>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35" name="Image 5" descr="preencoded.png">    </p:cNvPr>
          <p:cNvPicPr>
            <a:picLocks noChangeAspect="1"/>
          </p:cNvPicPr>
          <p:nvPr/>
        </p:nvPicPr>
        <p:blipFill>
          <a:blip r:embed="rId6"/>
          <a:stretch>
            <a:fillRect/>
          </a:stretch>
        </p:blipFill>
        <p:spPr>
          <a:xfrm>
            <a:off x="8795065" y="4442521"/>
            <a:ext cx="386974" cy="386974"/>
          </a:xfrm>
          <a:prstGeom prst="rect">
            <a:avLst/>
          </a:prstGeom>
        </p:spPr>
      </p:pic>
      <p:sp>
        <p:nvSpPr>
          <p:cNvPr id="36" name="Text 28"/>
          <p:cNvSpPr/>
          <p:nvPr/>
        </p:nvSpPr>
        <p:spPr>
          <a:xfrm>
            <a:off x="10881360" y="4123944"/>
            <a:ext cx="594360" cy="457200"/>
          </a:xfrm>
          <a:prstGeom prst="rect">
            <a:avLst/>
          </a:prstGeom>
          <a:noFill/>
          <a:ln/>
        </p:spPr>
        <p:txBody>
          <a:bodyPr wrap="square" lIns="0" tIns="0" rIns="0" bIns="0" rtlCol="0" anchor="ctr"/>
          <a:lstStyle/>
          <a:p>
            <a:pPr algn="r" indent="0" marL="0">
              <a:buNone/>
            </a:pPr>
            <a:r>
              <a:rPr lang="en-US" sz="3000" b="1" dirty="0">
                <a:solidFill>
                  <a:srgbClr val="E3E7EE"/>
                </a:solidFill>
                <a:latin typeface="Calibri" pitchFamily="34" charset="0"/>
                <a:ea typeface="Calibri" pitchFamily="34" charset="-122"/>
                <a:cs typeface="Calibri" pitchFamily="34" charset="-120"/>
              </a:rPr>
              <a:t>6</a:t>
            </a:r>
            <a:endParaRPr lang="en-US" sz="3000" dirty="0"/>
          </a:p>
        </p:txBody>
      </p:sp>
      <p:sp>
        <p:nvSpPr>
          <p:cNvPr id="37" name="Text 29"/>
          <p:cNvSpPr/>
          <p:nvPr/>
        </p:nvSpPr>
        <p:spPr>
          <a:xfrm>
            <a:off x="8567928" y="5148072"/>
            <a:ext cx="2880360" cy="310896"/>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Conclusion et recommandations</a:t>
            </a:r>
            <a:endParaRPr lang="en-US" sz="1450" dirty="0"/>
          </a:p>
        </p:txBody>
      </p:sp>
      <p:sp>
        <p:nvSpPr>
          <p:cNvPr id="38" name="Text 30"/>
          <p:cNvSpPr/>
          <p:nvPr/>
        </p:nvSpPr>
        <p:spPr>
          <a:xfrm>
            <a:off x="8567928" y="5458968"/>
            <a:ext cx="2880360" cy="274320"/>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Ce qu'il faut en faire</a:t>
            </a:r>
            <a:endParaRPr lang="en-US" sz="1100" dirty="0"/>
          </a:p>
        </p:txBody>
      </p:sp>
      <p:sp>
        <p:nvSpPr>
          <p:cNvPr id="39" name="Text 31"/>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2</a:t>
            </a:r>
            <a:endParaRPr lang="en-US" sz="950" dirty="0"/>
          </a:p>
        </p:txBody>
      </p:sp>
      <p:pic>
        <p:nvPicPr>
          <p:cNvPr id="40" name="Image 6" descr="logos/logo_ensae_new.png">    </p:cNvPr>
          <p:cNvPicPr>
            <a:picLocks noChangeAspect="1"/>
          </p:cNvPicPr>
          <p:nvPr/>
        </p:nvPicPr>
        <p:blipFill>
          <a:blip r:embed="rId7"/>
          <a:stretch>
            <a:fillRect/>
          </a:stretch>
        </p:blipFill>
        <p:spPr>
          <a:xfrm>
            <a:off x="11384280" y="6355080"/>
            <a:ext cx="384048" cy="3840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13D"/>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24365E"/>
          </a:solidFill>
          <a:ln/>
        </p:spPr>
      </p:sp>
      <p:sp>
        <p:nvSpPr>
          <p:cNvPr id="3" name="Shape 1"/>
          <p:cNvSpPr/>
          <p:nvPr/>
        </p:nvSpPr>
        <p:spPr>
          <a:xfrm>
            <a:off x="-1463040" y="4389120"/>
            <a:ext cx="4023360" cy="4023360"/>
          </a:xfrm>
          <a:prstGeom prst="ellipse">
            <a:avLst/>
          </a:prstGeom>
          <a:solidFill>
            <a:srgbClr val="24365E"/>
          </a:solidFill>
          <a:ln/>
        </p:spPr>
      </p:sp>
      <p:sp>
        <p:nvSpPr>
          <p:cNvPr id="4" name="Text 2"/>
          <p:cNvSpPr/>
          <p:nvPr/>
        </p:nvSpPr>
        <p:spPr>
          <a:xfrm>
            <a:off x="1005840" y="2231136"/>
            <a:ext cx="1280160" cy="1207008"/>
          </a:xfrm>
          <a:prstGeom prst="rect">
            <a:avLst/>
          </a:prstGeom>
          <a:noFill/>
          <a:ln/>
        </p:spPr>
        <p:txBody>
          <a:bodyPr wrap="square" lIns="0" tIns="0" rIns="0" bIns="0" rtlCol="0" anchor="ctr"/>
          <a:lstStyle/>
          <a:p>
            <a:pPr algn="l" indent="0" marL="0">
              <a:buNone/>
            </a:pPr>
            <a:r>
              <a:rPr lang="en-US" sz="7200" b="1" dirty="0">
                <a:solidFill>
                  <a:srgbClr val="D96F2B"/>
                </a:solidFill>
                <a:latin typeface="Calibri" pitchFamily="34" charset="0"/>
                <a:ea typeface="Calibri" pitchFamily="34" charset="-122"/>
                <a:cs typeface="Calibri" pitchFamily="34" charset="-120"/>
              </a:rPr>
              <a:t>01</a:t>
            </a:r>
            <a:endParaRPr lang="en-US" sz="7200" dirty="0"/>
          </a:p>
        </p:txBody>
      </p:sp>
      <p:sp>
        <p:nvSpPr>
          <p:cNvPr id="5" name="Text 3"/>
          <p:cNvSpPr/>
          <p:nvPr/>
        </p:nvSpPr>
        <p:spPr>
          <a:xfrm>
            <a:off x="2377440" y="2395728"/>
            <a:ext cx="86868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Contexte et problématique</a:t>
            </a:r>
            <a:endParaRPr lang="en-US" sz="3400" dirty="0"/>
          </a:p>
        </p:txBody>
      </p:sp>
      <p:sp>
        <p:nvSpPr>
          <p:cNvPr id="6" name="Text 4"/>
          <p:cNvSpPr/>
          <p:nvPr/>
        </p:nvSpPr>
        <p:spPr>
          <a:xfrm>
            <a:off x="2423160" y="3273552"/>
            <a:ext cx="8229600" cy="457200"/>
          </a:xfrm>
          <a:prstGeom prst="rect">
            <a:avLst/>
          </a:prstGeom>
          <a:noFill/>
          <a:ln/>
        </p:spPr>
        <p:txBody>
          <a:bodyPr wrap="square" lIns="0" tIns="0" rIns="0" bIns="0" rtlCol="0" anchor="t"/>
          <a:lstStyle/>
          <a:p>
            <a:pPr indent="0" marL="0">
              <a:lnSpc>
                <a:spcPts val="1800"/>
              </a:lnSpc>
              <a:buNone/>
            </a:pPr>
            <a:r>
              <a:rPr lang="en-US" sz="1400" dirty="0">
                <a:solidFill>
                  <a:srgbClr val="AFC0DA"/>
                </a:solidFill>
                <a:latin typeface="Calibri" pitchFamily="34" charset="0"/>
                <a:ea typeface="Calibri" pitchFamily="34" charset="-122"/>
                <a:cs typeface="Calibri" pitchFamily="34" charset="-120"/>
              </a:rPr>
              <a:t>Une ressource privée massive, des privations infantiles persistantes.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Deux réalités qui se rejoignent</a:t>
            </a:r>
            <a:endParaRPr lang="en-US" sz="2700" dirty="0"/>
          </a:p>
        </p:txBody>
      </p:sp>
      <p:sp>
        <p:nvSpPr>
          <p:cNvPr id="3" name="Shape 1"/>
          <p:cNvSpPr/>
          <p:nvPr/>
        </p:nvSpPr>
        <p:spPr>
          <a:xfrm>
            <a:off x="640080" y="1298448"/>
            <a:ext cx="5349240" cy="4480560"/>
          </a:xfrm>
          <a:prstGeom prst="roundRect">
            <a:avLst>
              <a:gd name="adj" fmla="val 1224"/>
            </a:avLst>
          </a:prstGeom>
          <a:solidFill>
            <a:srgbClr val="F4F5FA"/>
          </a:solidFill>
          <a:ln/>
          <a:effectLst>
            <a:outerShdw sx="100000" sy="100000" kx="0" ky="0" algn="bl" rotWithShape="0" blurRad="127000" dist="25400" dir="5400000">
              <a:srgbClr val="1E2B4A">
                <a:alpha val="10000"/>
              </a:srgbClr>
            </a:outerShdw>
          </a:effectLst>
        </p:spPr>
      </p:sp>
      <p:sp>
        <p:nvSpPr>
          <p:cNvPr id="4" name="Shape 2"/>
          <p:cNvSpPr/>
          <p:nvPr/>
        </p:nvSpPr>
        <p:spPr>
          <a:xfrm>
            <a:off x="960120" y="1600200"/>
            <a:ext cx="868680" cy="868680"/>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5" name="Image 0" descr="preencoded.png">    </p:cNvPr>
          <p:cNvPicPr>
            <a:picLocks noChangeAspect="1"/>
          </p:cNvPicPr>
          <p:nvPr/>
        </p:nvPicPr>
        <p:blipFill>
          <a:blip r:embed="rId1"/>
          <a:stretch>
            <a:fillRect/>
          </a:stretch>
        </p:blipFill>
        <p:spPr>
          <a:xfrm>
            <a:off x="1194664" y="1834744"/>
            <a:ext cx="399593" cy="399593"/>
          </a:xfrm>
          <a:prstGeom prst="rect">
            <a:avLst/>
          </a:prstGeom>
        </p:spPr>
      </p:pic>
      <p:sp>
        <p:nvSpPr>
          <p:cNvPr id="6" name="Text 3"/>
          <p:cNvSpPr/>
          <p:nvPr/>
        </p:nvSpPr>
        <p:spPr>
          <a:xfrm>
            <a:off x="2029968" y="1664208"/>
            <a:ext cx="3703320" cy="548640"/>
          </a:xfrm>
          <a:prstGeom prst="rect">
            <a:avLst/>
          </a:prstGeom>
          <a:noFill/>
          <a:ln/>
        </p:spPr>
        <p:txBody>
          <a:bodyPr wrap="square" lIns="0" tIns="0" rIns="0" bIns="0" rtlCol="0" anchor="ctr"/>
          <a:lstStyle/>
          <a:p>
            <a:pPr indent="0" marL="0">
              <a:lnSpc>
                <a:spcPts val="2000"/>
              </a:lnSpc>
              <a:buNone/>
            </a:pPr>
            <a:r>
              <a:rPr lang="en-US" sz="1600" b="1" dirty="0">
                <a:solidFill>
                  <a:srgbClr val="1D2433"/>
                </a:solidFill>
                <a:latin typeface="Calibri" pitchFamily="34" charset="0"/>
                <a:ea typeface="Calibri" pitchFamily="34" charset="-122"/>
                <a:cs typeface="Calibri" pitchFamily="34" charset="-120"/>
              </a:rPr>
              <a:t>Une ressource extérieure de premier plan</a:t>
            </a:r>
            <a:endParaRPr lang="en-US" sz="1600" dirty="0"/>
          </a:p>
        </p:txBody>
      </p:sp>
      <p:sp>
        <p:nvSpPr>
          <p:cNvPr id="7" name="Text 4"/>
          <p:cNvSpPr/>
          <p:nvPr/>
        </p:nvSpPr>
        <p:spPr>
          <a:xfrm>
            <a:off x="914400" y="2697480"/>
            <a:ext cx="2286000" cy="578104"/>
          </a:xfrm>
          <a:prstGeom prst="rect">
            <a:avLst/>
          </a:prstGeom>
          <a:noFill/>
          <a:ln/>
        </p:spPr>
        <p:txBody>
          <a:bodyPr wrap="square" lIns="0" tIns="0" rIns="0" bIns="0" rtlCol="0" anchor="ctr"/>
          <a:lstStyle/>
          <a:p>
            <a:pPr algn="ctr" indent="0" marL="0">
              <a:buNone/>
            </a:pPr>
            <a:r>
              <a:rPr lang="en-US" sz="3400" b="1" dirty="0">
                <a:solidFill>
                  <a:srgbClr val="1E2B4A"/>
                </a:solidFill>
                <a:latin typeface="Calibri" pitchFamily="34" charset="0"/>
                <a:ea typeface="Calibri" pitchFamily="34" charset="-122"/>
                <a:cs typeface="Calibri" pitchFamily="34" charset="-120"/>
              </a:rPr>
              <a:t>2 220</a:t>
            </a:r>
            <a:endParaRPr lang="en-US" sz="3400" dirty="0"/>
          </a:p>
        </p:txBody>
      </p:sp>
      <p:sp>
        <p:nvSpPr>
          <p:cNvPr id="8" name="Text 5"/>
          <p:cNvSpPr/>
          <p:nvPr/>
        </p:nvSpPr>
        <p:spPr>
          <a:xfrm>
            <a:off x="914400" y="3293872"/>
            <a:ext cx="228600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millions de dollars reçus en 2017,</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contre 233 en 2000</a:t>
            </a:r>
            <a:endParaRPr lang="en-US" sz="1050" dirty="0"/>
          </a:p>
        </p:txBody>
      </p:sp>
      <p:sp>
        <p:nvSpPr>
          <p:cNvPr id="9" name="Text 6"/>
          <p:cNvSpPr/>
          <p:nvPr/>
        </p:nvSpPr>
        <p:spPr>
          <a:xfrm>
            <a:off x="3383280" y="2697480"/>
            <a:ext cx="2286000" cy="578104"/>
          </a:xfrm>
          <a:prstGeom prst="rect">
            <a:avLst/>
          </a:prstGeom>
          <a:noFill/>
          <a:ln/>
        </p:spPr>
        <p:txBody>
          <a:bodyPr wrap="square" lIns="0" tIns="0" rIns="0" bIns="0" rtlCol="0" anchor="ctr"/>
          <a:lstStyle/>
          <a:p>
            <a:pPr algn="ctr" indent="0" marL="0">
              <a:buNone/>
            </a:pPr>
            <a:r>
              <a:rPr lang="en-US" sz="3400" b="1" dirty="0">
                <a:solidFill>
                  <a:srgbClr val="1E2B4A"/>
                </a:solidFill>
                <a:latin typeface="Calibri" pitchFamily="34" charset="0"/>
                <a:ea typeface="Calibri" pitchFamily="34" charset="-122"/>
                <a:cs typeface="Calibri" pitchFamily="34" charset="-120"/>
              </a:rPr>
              <a:t>12,1 %</a:t>
            </a:r>
            <a:endParaRPr lang="en-US" sz="3400" dirty="0"/>
          </a:p>
        </p:txBody>
      </p:sp>
      <p:sp>
        <p:nvSpPr>
          <p:cNvPr id="10" name="Text 7"/>
          <p:cNvSpPr/>
          <p:nvPr/>
        </p:nvSpPr>
        <p:spPr>
          <a:xfrm>
            <a:off x="3383280" y="3293872"/>
            <a:ext cx="228600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du produit intérieur brut,</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4ᵉ récepteur subsaharien</a:t>
            </a:r>
            <a:endParaRPr lang="en-US" sz="1050" dirty="0"/>
          </a:p>
        </p:txBody>
      </p:sp>
      <p:sp>
        <p:nvSpPr>
          <p:cNvPr id="11" name="Text 8"/>
          <p:cNvSpPr/>
          <p:nvPr/>
        </p:nvSpPr>
        <p:spPr>
          <a:xfrm>
            <a:off x="914400" y="4160520"/>
            <a:ext cx="4800600" cy="548640"/>
          </a:xfrm>
          <a:prstGeom prst="rect">
            <a:avLst/>
          </a:prstGeom>
          <a:noFill/>
          <a:ln/>
        </p:spPr>
        <p:txBody>
          <a:bodyPr wrap="square" lIns="0" tIns="0" rIns="0" bIns="0" rtlCol="0" anchor="t"/>
          <a:lstStyle/>
          <a:p>
            <a:pPr indent="0" marL="0">
              <a:lnSpc>
                <a:spcPts val="1700"/>
              </a:lnSpc>
              <a:buNone/>
            </a:pPr>
            <a:r>
              <a:rPr lang="en-US" sz="1250" dirty="0">
                <a:solidFill>
                  <a:srgbClr val="4A5468"/>
                </a:solidFill>
                <a:latin typeface="Calibri" pitchFamily="34" charset="0"/>
                <a:ea typeface="Calibri" pitchFamily="34" charset="-122"/>
                <a:cs typeface="Calibri" pitchFamily="34" charset="-120"/>
              </a:rPr>
              <a:t>À l'échelle des ménages, les montants reçus avoisinent le seuil de pauvreté monétaire annuel par tête.</a:t>
            </a:r>
            <a:endParaRPr lang="en-US" sz="1250" dirty="0"/>
          </a:p>
        </p:txBody>
      </p:sp>
      <p:sp>
        <p:nvSpPr>
          <p:cNvPr id="12" name="Text 9"/>
          <p:cNvSpPr/>
          <p:nvPr/>
        </p:nvSpPr>
        <p:spPr>
          <a:xfrm>
            <a:off x="914400" y="5349240"/>
            <a:ext cx="4800600" cy="237744"/>
          </a:xfrm>
          <a:prstGeom prst="rect">
            <a:avLst/>
          </a:prstGeom>
          <a:noFill/>
          <a:ln/>
        </p:spPr>
        <p:txBody>
          <a:bodyPr wrap="square" lIns="0" tIns="0" rIns="0" bIns="0" rtlCol="0" anchor="ctr"/>
          <a:lstStyle/>
          <a:p>
            <a:pPr indent="0" marL="0">
              <a:buNone/>
            </a:pPr>
            <a:r>
              <a:rPr lang="en-US" sz="950" dirty="0">
                <a:solidFill>
                  <a:srgbClr val="8A93A5"/>
                </a:solidFill>
                <a:latin typeface="Calibri" pitchFamily="34" charset="0"/>
                <a:ea typeface="Calibri" pitchFamily="34" charset="-122"/>
                <a:cs typeface="Calibri" pitchFamily="34" charset="-120"/>
              </a:rPr>
              <a:t>Source : ANSD et OIM, profil migratoire 2018.</a:t>
            </a:r>
            <a:endParaRPr lang="en-US" sz="950" dirty="0"/>
          </a:p>
        </p:txBody>
      </p:sp>
      <p:sp>
        <p:nvSpPr>
          <p:cNvPr id="13" name="Shape 10"/>
          <p:cNvSpPr/>
          <p:nvPr/>
        </p:nvSpPr>
        <p:spPr>
          <a:xfrm>
            <a:off x="6263640" y="1298448"/>
            <a:ext cx="5285232" cy="4480560"/>
          </a:xfrm>
          <a:prstGeom prst="roundRect">
            <a:avLst>
              <a:gd name="adj" fmla="val 1224"/>
            </a:avLst>
          </a:prstGeom>
          <a:solidFill>
            <a:srgbClr val="F4F5FA"/>
          </a:solidFill>
          <a:ln/>
          <a:effectLst>
            <a:outerShdw sx="100000" sy="100000" kx="0" ky="0" algn="bl" rotWithShape="0" blurRad="127000" dist="25400" dir="5400000">
              <a:srgbClr val="1E2B4A">
                <a:alpha val="10000"/>
              </a:srgbClr>
            </a:outerShdw>
          </a:effectLst>
        </p:spPr>
      </p:sp>
      <p:sp>
        <p:nvSpPr>
          <p:cNvPr id="14" name="Shape 11"/>
          <p:cNvSpPr/>
          <p:nvPr/>
        </p:nvSpPr>
        <p:spPr>
          <a:xfrm>
            <a:off x="6583680" y="1600200"/>
            <a:ext cx="868680" cy="868680"/>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15" name="Image 1" descr="preencoded.png">    </p:cNvPr>
          <p:cNvPicPr>
            <a:picLocks noChangeAspect="1"/>
          </p:cNvPicPr>
          <p:nvPr/>
        </p:nvPicPr>
        <p:blipFill>
          <a:blip r:embed="rId2"/>
          <a:stretch>
            <a:fillRect/>
          </a:stretch>
        </p:blipFill>
        <p:spPr>
          <a:xfrm>
            <a:off x="6818224" y="1834744"/>
            <a:ext cx="399593" cy="399593"/>
          </a:xfrm>
          <a:prstGeom prst="rect">
            <a:avLst/>
          </a:prstGeom>
        </p:spPr>
      </p:pic>
      <p:sp>
        <p:nvSpPr>
          <p:cNvPr id="16" name="Text 12"/>
          <p:cNvSpPr/>
          <p:nvPr/>
        </p:nvSpPr>
        <p:spPr>
          <a:xfrm>
            <a:off x="7653528" y="1664208"/>
            <a:ext cx="3611880" cy="548640"/>
          </a:xfrm>
          <a:prstGeom prst="rect">
            <a:avLst/>
          </a:prstGeom>
          <a:noFill/>
          <a:ln/>
        </p:spPr>
        <p:txBody>
          <a:bodyPr wrap="square" lIns="0" tIns="0" rIns="0" bIns="0" rtlCol="0" anchor="ctr"/>
          <a:lstStyle/>
          <a:p>
            <a:pPr indent="0" marL="0">
              <a:lnSpc>
                <a:spcPts val="2000"/>
              </a:lnSpc>
              <a:buNone/>
            </a:pPr>
            <a:r>
              <a:rPr lang="en-US" sz="1600" b="1" dirty="0">
                <a:solidFill>
                  <a:srgbClr val="1D2433"/>
                </a:solidFill>
                <a:latin typeface="Calibri" pitchFamily="34" charset="0"/>
                <a:ea typeface="Calibri" pitchFamily="34" charset="-122"/>
                <a:cs typeface="Calibri" pitchFamily="34" charset="-120"/>
              </a:rPr>
              <a:t>Des privations infantiles d'ampleur</a:t>
            </a:r>
            <a:endParaRPr lang="en-US" sz="1600" dirty="0"/>
          </a:p>
        </p:txBody>
      </p:sp>
      <p:sp>
        <p:nvSpPr>
          <p:cNvPr id="17" name="Text 13"/>
          <p:cNvSpPr/>
          <p:nvPr/>
        </p:nvSpPr>
        <p:spPr>
          <a:xfrm>
            <a:off x="6537960" y="2697480"/>
            <a:ext cx="2286000" cy="578104"/>
          </a:xfrm>
          <a:prstGeom prst="rect">
            <a:avLst/>
          </a:prstGeom>
          <a:noFill/>
          <a:ln/>
        </p:spPr>
        <p:txBody>
          <a:bodyPr wrap="square" lIns="0" tIns="0" rIns="0" bIns="0" rtlCol="0" anchor="ctr"/>
          <a:lstStyle/>
          <a:p>
            <a:pPr algn="ctr" indent="0" marL="0">
              <a:buNone/>
            </a:pPr>
            <a:r>
              <a:rPr lang="en-US" sz="3400" b="1" dirty="0">
                <a:solidFill>
                  <a:srgbClr val="1E2B4A"/>
                </a:solidFill>
                <a:latin typeface="Calibri" pitchFamily="34" charset="0"/>
                <a:ea typeface="Calibri" pitchFamily="34" charset="-122"/>
                <a:cs typeface="Calibri" pitchFamily="34" charset="-120"/>
              </a:rPr>
              <a:t>50,7 %</a:t>
            </a:r>
            <a:endParaRPr lang="en-US" sz="3400" dirty="0"/>
          </a:p>
        </p:txBody>
      </p:sp>
      <p:sp>
        <p:nvSpPr>
          <p:cNvPr id="18" name="Text 14"/>
          <p:cNvSpPr/>
          <p:nvPr/>
        </p:nvSpPr>
        <p:spPr>
          <a:xfrm>
            <a:off x="6537960" y="3293872"/>
            <a:ext cx="228600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des enfants de 0 à 17 ans privés</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dans au moins 4 des 7 domaines</a:t>
            </a:r>
            <a:endParaRPr lang="en-US" sz="1050" dirty="0"/>
          </a:p>
        </p:txBody>
      </p:sp>
      <p:sp>
        <p:nvSpPr>
          <p:cNvPr id="19" name="Text 15"/>
          <p:cNvSpPr/>
          <p:nvPr/>
        </p:nvSpPr>
        <p:spPr>
          <a:xfrm>
            <a:off x="9006840" y="2697480"/>
            <a:ext cx="2286000" cy="578104"/>
          </a:xfrm>
          <a:prstGeom prst="rect">
            <a:avLst/>
          </a:prstGeom>
          <a:noFill/>
          <a:ln/>
        </p:spPr>
        <p:txBody>
          <a:bodyPr wrap="square" lIns="0" tIns="0" rIns="0" bIns="0" rtlCol="0" anchor="ctr"/>
          <a:lstStyle/>
          <a:p>
            <a:pPr algn="ctr" indent="0" marL="0">
              <a:buNone/>
            </a:pPr>
            <a:r>
              <a:rPr lang="en-US" sz="3400" b="1" dirty="0">
                <a:solidFill>
                  <a:srgbClr val="1E2B4A"/>
                </a:solidFill>
                <a:latin typeface="Calibri" pitchFamily="34" charset="0"/>
                <a:ea typeface="Calibri" pitchFamily="34" charset="-122"/>
                <a:cs typeface="Calibri" pitchFamily="34" charset="-120"/>
              </a:rPr>
              <a:t>7</a:t>
            </a:r>
            <a:endParaRPr lang="en-US" sz="3400" dirty="0"/>
          </a:p>
        </p:txBody>
      </p:sp>
      <p:sp>
        <p:nvSpPr>
          <p:cNvPr id="20" name="Text 16"/>
          <p:cNvSpPr/>
          <p:nvPr/>
        </p:nvSpPr>
        <p:spPr>
          <a:xfrm>
            <a:off x="9006840" y="3293872"/>
            <a:ext cx="228600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domaines du bien-être,</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de l'eau à l'éducation</a:t>
            </a:r>
            <a:endParaRPr lang="en-US" sz="1050" dirty="0"/>
          </a:p>
        </p:txBody>
      </p:sp>
      <p:sp>
        <p:nvSpPr>
          <p:cNvPr id="21" name="Text 17"/>
          <p:cNvSpPr/>
          <p:nvPr/>
        </p:nvSpPr>
        <p:spPr>
          <a:xfrm>
            <a:off x="6537960" y="4160520"/>
            <a:ext cx="4754880" cy="685800"/>
          </a:xfrm>
          <a:prstGeom prst="rect">
            <a:avLst/>
          </a:prstGeom>
          <a:noFill/>
          <a:ln/>
        </p:spPr>
        <p:txBody>
          <a:bodyPr wrap="square" lIns="0" tIns="0" rIns="0" bIns="0" rtlCol="0" anchor="t"/>
          <a:lstStyle/>
          <a:p>
            <a:pPr indent="0" marL="0">
              <a:lnSpc>
                <a:spcPts val="1700"/>
              </a:lnSpc>
              <a:buNone/>
            </a:pPr>
            <a:r>
              <a:rPr lang="en-US" sz="1250" dirty="0">
                <a:solidFill>
                  <a:srgbClr val="4A5468"/>
                </a:solidFill>
                <a:latin typeface="Calibri" pitchFamily="34" charset="0"/>
                <a:ea typeface="Calibri" pitchFamily="34" charset="-122"/>
                <a:cs typeface="Calibri" pitchFamily="34" charset="-120"/>
              </a:rPr>
              <a:t>Ces manques échappent aux mesures fondées sur le seul revenu : un enfant peut vivre au-dessus du seuil monétaire et rester déscolarisé.</a:t>
            </a:r>
            <a:endParaRPr lang="en-US" sz="1250" dirty="0"/>
          </a:p>
        </p:txBody>
      </p:sp>
      <p:sp>
        <p:nvSpPr>
          <p:cNvPr id="22" name="Text 18"/>
          <p:cNvSpPr/>
          <p:nvPr/>
        </p:nvSpPr>
        <p:spPr>
          <a:xfrm>
            <a:off x="6537960" y="5349240"/>
            <a:ext cx="4754880" cy="237744"/>
          </a:xfrm>
          <a:prstGeom prst="rect">
            <a:avLst/>
          </a:prstGeom>
          <a:noFill/>
          <a:ln/>
        </p:spPr>
        <p:txBody>
          <a:bodyPr wrap="square" lIns="0" tIns="0" rIns="0" bIns="0" rtlCol="0" anchor="ctr"/>
          <a:lstStyle/>
          <a:p>
            <a:pPr indent="0" marL="0">
              <a:buNone/>
            </a:pPr>
            <a:r>
              <a:rPr lang="en-US" sz="950" dirty="0">
                <a:solidFill>
                  <a:srgbClr val="8A93A5"/>
                </a:solidFill>
                <a:latin typeface="Calibri" pitchFamily="34" charset="0"/>
                <a:ea typeface="Calibri" pitchFamily="34" charset="-122"/>
                <a:cs typeface="Calibri" pitchFamily="34" charset="-120"/>
              </a:rPr>
              <a:t>Source : ANSD et UNICEF, 2024.</a:t>
            </a:r>
            <a:endParaRPr lang="en-US" sz="950" dirty="0"/>
          </a:p>
        </p:txBody>
      </p:sp>
      <p:sp>
        <p:nvSpPr>
          <p:cNvPr id="23" name="Text 19"/>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4</a:t>
            </a:r>
            <a:endParaRPr lang="en-US" sz="950" dirty="0"/>
          </a:p>
        </p:txBody>
      </p:sp>
      <p:pic>
        <p:nvPicPr>
          <p:cNvPr id="24" name="Image 2" descr="logos/logo_ensae_new.png">    </p:cNvPr>
          <p:cNvPicPr>
            <a:picLocks noChangeAspect="1"/>
          </p:cNvPicPr>
          <p:nvPr/>
        </p:nvPicPr>
        <p:blipFill>
          <a:blip r:embed="rId3"/>
          <a:stretch>
            <a:fillRect/>
          </a:stretch>
        </p:blipFill>
        <p:spPr>
          <a:xfrm>
            <a:off x="11384280" y="6355080"/>
            <a:ext cx="384048" cy="3840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Problématique</a:t>
            </a:r>
            <a:endParaRPr lang="en-US" sz="2700" dirty="0"/>
          </a:p>
        </p:txBody>
      </p:sp>
      <p:sp>
        <p:nvSpPr>
          <p:cNvPr id="3" name="Shape 1"/>
          <p:cNvSpPr/>
          <p:nvPr/>
        </p:nvSpPr>
        <p:spPr>
          <a:xfrm>
            <a:off x="1371600" y="1417320"/>
            <a:ext cx="9445752" cy="1481328"/>
          </a:xfrm>
          <a:prstGeom prst="roundRect">
            <a:avLst>
              <a:gd name="adj" fmla="val 3704"/>
            </a:avLst>
          </a:prstGeom>
          <a:solidFill>
            <a:srgbClr val="1E2B4A"/>
          </a:solidFill>
          <a:ln/>
          <a:effectLst>
            <a:outerShdw sx="100000" sy="100000" kx="0" ky="0" algn="bl" rotWithShape="0" blurRad="127000" dist="25400" dir="5400000">
              <a:srgbClr val="1E2B4A">
                <a:alpha val="10000"/>
              </a:srgbClr>
            </a:outerShdw>
          </a:effectLst>
        </p:spPr>
      </p:sp>
      <p:sp>
        <p:nvSpPr>
          <p:cNvPr id="4" name="Text 2"/>
          <p:cNvSpPr/>
          <p:nvPr/>
        </p:nvSpPr>
        <p:spPr>
          <a:xfrm>
            <a:off x="1645920" y="1572768"/>
            <a:ext cx="8897112" cy="1170432"/>
          </a:xfrm>
          <a:prstGeom prst="rect">
            <a:avLst/>
          </a:prstGeom>
          <a:noFill/>
          <a:ln/>
        </p:spPr>
        <p:txBody>
          <a:bodyPr wrap="square" lIns="0" tIns="0" rIns="0" bIns="0" rtlCol="0" anchor="ctr"/>
          <a:lstStyle/>
          <a:p>
            <a:pPr algn="ctr" indent="0" marL="0">
              <a:lnSpc>
                <a:spcPts val="3100"/>
              </a:lnSpc>
              <a:buNone/>
            </a:pPr>
            <a:r>
              <a:rPr lang="en-US" sz="2100" b="1" dirty="0">
                <a:solidFill>
                  <a:srgbClr val="FFFFFF"/>
                </a:solidFill>
                <a:latin typeface="Calibri" pitchFamily="34" charset="0"/>
                <a:ea typeface="Calibri" pitchFamily="34" charset="-122"/>
                <a:cs typeface="Calibri" pitchFamily="34" charset="-120"/>
              </a:rPr>
              <a:t>Dans quelle mesure les transferts de migrants réduisent-ils</a:t>
            </a:r>
            <a:endParaRPr lang="en-US" sz="2100" dirty="0"/>
          </a:p>
          <a:p>
            <a:pPr algn="ctr" indent="0" marL="0">
              <a:lnSpc>
                <a:spcPts val="3100"/>
              </a:lnSpc>
              <a:buNone/>
            </a:pPr>
            <a:r>
              <a:rPr lang="en-US" sz="2100" b="1" dirty="0">
                <a:solidFill>
                  <a:srgbClr val="FFFFFF"/>
                </a:solidFill>
                <a:latin typeface="Calibri" pitchFamily="34" charset="0"/>
                <a:ea typeface="Calibri" pitchFamily="34" charset="-122"/>
                <a:cs typeface="Calibri" pitchFamily="34" charset="-120"/>
              </a:rPr>
              <a:t>la pauvreté multidimensionnelle des enfants au Sénégal ?</a:t>
            </a:r>
            <a:endParaRPr lang="en-US" sz="2100" dirty="0"/>
          </a:p>
        </p:txBody>
      </p:sp>
      <p:sp>
        <p:nvSpPr>
          <p:cNvPr id="5" name="Shape 3"/>
          <p:cNvSpPr/>
          <p:nvPr/>
        </p:nvSpPr>
        <p:spPr>
          <a:xfrm>
            <a:off x="640080" y="3154680"/>
            <a:ext cx="3456432" cy="2697480"/>
          </a:xfrm>
          <a:prstGeom prst="roundRect">
            <a:avLst>
              <a:gd name="adj" fmla="val 2034"/>
            </a:avLst>
          </a:prstGeom>
          <a:solidFill>
            <a:srgbClr val="F4F5FA"/>
          </a:solidFill>
          <a:ln/>
          <a:effectLst>
            <a:outerShdw sx="100000" sy="100000" kx="0" ky="0" algn="bl" rotWithShape="0" blurRad="127000" dist="25400" dir="5400000">
              <a:srgbClr val="1E2B4A">
                <a:alpha val="10000"/>
              </a:srgbClr>
            </a:outerShdw>
          </a:effectLst>
        </p:spPr>
      </p:sp>
      <p:sp>
        <p:nvSpPr>
          <p:cNvPr id="6" name="Text 4"/>
          <p:cNvSpPr/>
          <p:nvPr/>
        </p:nvSpPr>
        <p:spPr>
          <a:xfrm>
            <a:off x="1874520" y="3401568"/>
            <a:ext cx="2057400" cy="658368"/>
          </a:xfrm>
          <a:prstGeom prst="rect">
            <a:avLst/>
          </a:prstGeom>
          <a:noFill/>
          <a:ln/>
        </p:spPr>
        <p:txBody>
          <a:bodyPr wrap="square" lIns="0" tIns="0" rIns="0" bIns="0" rtlCol="0" anchor="ctr"/>
          <a:lstStyle/>
          <a:p>
            <a:pPr indent="0" marL="0">
              <a:lnSpc>
                <a:spcPts val="1800"/>
              </a:lnSpc>
              <a:buNone/>
            </a:pPr>
            <a:r>
              <a:rPr lang="en-US" sz="1400" b="1" dirty="0">
                <a:solidFill>
                  <a:srgbClr val="1D2433"/>
                </a:solidFill>
                <a:latin typeface="Calibri" pitchFamily="34" charset="0"/>
                <a:ea typeface="Calibri" pitchFamily="34" charset="-122"/>
                <a:cs typeface="Calibri" pitchFamily="34" charset="-120"/>
              </a:rPr>
              <a:t>Une réponse qui n'a rien d'évident</a:t>
            </a:r>
            <a:endParaRPr lang="en-US" sz="1400" dirty="0"/>
          </a:p>
        </p:txBody>
      </p:sp>
      <p:sp>
        <p:nvSpPr>
          <p:cNvPr id="7" name="Text 5"/>
          <p:cNvSpPr/>
          <p:nvPr/>
        </p:nvSpPr>
        <p:spPr>
          <a:xfrm>
            <a:off x="914400" y="4206240"/>
            <a:ext cx="2926080" cy="146304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Les transferts desserrent la contrainte budgétaire, sans qu'un supplément de ressources se traduise mécaniquement par un recul des privations.</a:t>
            </a:r>
            <a:endParaRPr lang="en-US" sz="1200" dirty="0"/>
          </a:p>
        </p:txBody>
      </p:sp>
      <p:sp>
        <p:nvSpPr>
          <p:cNvPr id="8" name="Shape 6"/>
          <p:cNvSpPr/>
          <p:nvPr/>
        </p:nvSpPr>
        <p:spPr>
          <a:xfrm>
            <a:off x="4434840" y="3154680"/>
            <a:ext cx="3456432" cy="2697480"/>
          </a:xfrm>
          <a:prstGeom prst="roundRect">
            <a:avLst>
              <a:gd name="adj" fmla="val 2034"/>
            </a:avLst>
          </a:prstGeom>
          <a:solidFill>
            <a:srgbClr val="F4F5FA"/>
          </a:solidFill>
          <a:ln/>
          <a:effectLst>
            <a:outerShdw sx="100000" sy="100000" kx="0" ky="0" algn="bl" rotWithShape="0" blurRad="127000" dist="25400" dir="5400000">
              <a:srgbClr val="1E2B4A">
                <a:alpha val="10000"/>
              </a:srgbClr>
            </a:outerShdw>
          </a:effectLst>
        </p:spPr>
      </p:sp>
      <p:sp>
        <p:nvSpPr>
          <p:cNvPr id="9" name="Text 7"/>
          <p:cNvSpPr/>
          <p:nvPr/>
        </p:nvSpPr>
        <p:spPr>
          <a:xfrm>
            <a:off x="5669280" y="3401568"/>
            <a:ext cx="2057400" cy="658368"/>
          </a:xfrm>
          <a:prstGeom prst="rect">
            <a:avLst/>
          </a:prstGeom>
          <a:noFill/>
          <a:ln/>
        </p:spPr>
        <p:txBody>
          <a:bodyPr wrap="square" lIns="0" tIns="0" rIns="0" bIns="0" rtlCol="0" anchor="ctr"/>
          <a:lstStyle/>
          <a:p>
            <a:pPr indent="0" marL="0">
              <a:lnSpc>
                <a:spcPts val="1800"/>
              </a:lnSpc>
              <a:buNone/>
            </a:pPr>
            <a:r>
              <a:rPr lang="en-US" sz="1400" b="1" dirty="0">
                <a:solidFill>
                  <a:srgbClr val="1D2433"/>
                </a:solidFill>
                <a:latin typeface="Calibri" pitchFamily="34" charset="0"/>
                <a:ea typeface="Calibri" pitchFamily="34" charset="-122"/>
                <a:cs typeface="Calibri" pitchFamily="34" charset="-120"/>
              </a:rPr>
              <a:t>Un enjeu d'identification</a:t>
            </a:r>
            <a:endParaRPr lang="en-US" sz="1400" dirty="0"/>
          </a:p>
        </p:txBody>
      </p:sp>
      <p:sp>
        <p:nvSpPr>
          <p:cNvPr id="10" name="Text 8"/>
          <p:cNvSpPr/>
          <p:nvPr/>
        </p:nvSpPr>
        <p:spPr>
          <a:xfrm>
            <a:off x="4709160" y="4206240"/>
            <a:ext cx="2926080" cy="146304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Recevoir des transferts suppose un réseau migratoire : les ménages bénéficiaires diffèrent des autres avant même le premier franc reçu.</a:t>
            </a:r>
            <a:endParaRPr lang="en-US" sz="1200" dirty="0"/>
          </a:p>
        </p:txBody>
      </p:sp>
      <p:sp>
        <p:nvSpPr>
          <p:cNvPr id="11" name="Shape 9"/>
          <p:cNvSpPr/>
          <p:nvPr/>
        </p:nvSpPr>
        <p:spPr>
          <a:xfrm>
            <a:off x="8229600" y="3154680"/>
            <a:ext cx="3456432" cy="2697480"/>
          </a:xfrm>
          <a:prstGeom prst="roundRect">
            <a:avLst>
              <a:gd name="adj" fmla="val 2034"/>
            </a:avLst>
          </a:prstGeom>
          <a:solidFill>
            <a:srgbClr val="F4F5FA"/>
          </a:solidFill>
          <a:ln/>
          <a:effectLst>
            <a:outerShdw sx="100000" sy="100000" kx="0" ky="0" algn="bl" rotWithShape="0" blurRad="127000" dist="25400" dir="5400000">
              <a:srgbClr val="1E2B4A">
                <a:alpha val="10000"/>
              </a:srgbClr>
            </a:outerShdw>
          </a:effectLst>
        </p:spPr>
      </p:sp>
      <p:sp>
        <p:nvSpPr>
          <p:cNvPr id="12" name="Text 10"/>
          <p:cNvSpPr/>
          <p:nvPr/>
        </p:nvSpPr>
        <p:spPr>
          <a:xfrm>
            <a:off x="9464040" y="3401568"/>
            <a:ext cx="2057400" cy="658368"/>
          </a:xfrm>
          <a:prstGeom prst="rect">
            <a:avLst/>
          </a:prstGeom>
          <a:noFill/>
          <a:ln/>
        </p:spPr>
        <p:txBody>
          <a:bodyPr wrap="square" lIns="0" tIns="0" rIns="0" bIns="0" rtlCol="0" anchor="ctr"/>
          <a:lstStyle/>
          <a:p>
            <a:pPr indent="0" marL="0">
              <a:lnSpc>
                <a:spcPts val="1800"/>
              </a:lnSpc>
              <a:buNone/>
            </a:pPr>
            <a:r>
              <a:rPr lang="en-US" sz="1400" b="1" dirty="0">
                <a:solidFill>
                  <a:srgbClr val="1D2433"/>
                </a:solidFill>
                <a:latin typeface="Calibri" pitchFamily="34" charset="0"/>
                <a:ea typeface="Calibri" pitchFamily="34" charset="-122"/>
                <a:cs typeface="Calibri" pitchFamily="34" charset="-120"/>
              </a:rPr>
              <a:t>Une lacune dans la littérature</a:t>
            </a:r>
            <a:endParaRPr lang="en-US" sz="1400" dirty="0"/>
          </a:p>
        </p:txBody>
      </p:sp>
      <p:sp>
        <p:nvSpPr>
          <p:cNvPr id="13" name="Text 11"/>
          <p:cNvSpPr/>
          <p:nvPr/>
        </p:nvSpPr>
        <p:spPr>
          <a:xfrm>
            <a:off x="8503920" y="4206240"/>
            <a:ext cx="2926080" cy="146304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Aucune étude recensée ne combine mesure multidimensionnelle de la pauvreté infantile et identification sur panel en Afrique de l'Ouest.</a:t>
            </a:r>
            <a:endParaRPr lang="en-US" sz="1200" dirty="0"/>
          </a:p>
        </p:txBody>
      </p:sp>
      <p:sp>
        <p:nvSpPr>
          <p:cNvPr id="14" name="Shape 12"/>
          <p:cNvSpPr/>
          <p:nvPr/>
        </p:nvSpPr>
        <p:spPr>
          <a:xfrm>
            <a:off x="914400" y="3429000"/>
            <a:ext cx="822960" cy="822960"/>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15" name="Image 0" descr="preencoded.png">    </p:cNvPr>
          <p:cNvPicPr>
            <a:picLocks noChangeAspect="1"/>
          </p:cNvPicPr>
          <p:nvPr/>
        </p:nvPicPr>
        <p:blipFill>
          <a:blip r:embed="rId1"/>
          <a:stretch>
            <a:fillRect/>
          </a:stretch>
        </p:blipFill>
        <p:spPr>
          <a:xfrm>
            <a:off x="1136599" y="3651199"/>
            <a:ext cx="378562" cy="378562"/>
          </a:xfrm>
          <a:prstGeom prst="rect">
            <a:avLst/>
          </a:prstGeom>
        </p:spPr>
      </p:pic>
      <p:sp>
        <p:nvSpPr>
          <p:cNvPr id="16" name="Shape 13"/>
          <p:cNvSpPr/>
          <p:nvPr/>
        </p:nvSpPr>
        <p:spPr>
          <a:xfrm>
            <a:off x="4709160" y="3429000"/>
            <a:ext cx="822960" cy="822960"/>
          </a:xfrm>
          <a:prstGeom prst="ellipse">
            <a:avLst/>
          </a:prstGeom>
          <a:solidFill>
            <a:srgbClr val="F6ECDC"/>
          </a:solidFill>
          <a:ln w="15875">
            <a:solidFill>
              <a:srgbClr val="ECD5B0"/>
            </a:solidFill>
            <a:prstDash val="solid"/>
          </a:ln>
          <a:effectLst>
            <a:outerShdw sx="100000" sy="100000" kx="0" ky="0" algn="bl" rotWithShape="0" blurRad="127000" dist="25400" dir="5400000">
              <a:srgbClr val="1E2B4A">
                <a:alpha val="8000"/>
              </a:srgbClr>
            </a:outerShdw>
          </a:effectLst>
        </p:spPr>
      </p:sp>
      <p:pic>
        <p:nvPicPr>
          <p:cNvPr id="17" name="Image 1" descr="preencoded.png">    </p:cNvPr>
          <p:cNvPicPr>
            <a:picLocks noChangeAspect="1"/>
          </p:cNvPicPr>
          <p:nvPr/>
        </p:nvPicPr>
        <p:blipFill>
          <a:blip r:embed="rId2"/>
          <a:stretch>
            <a:fillRect/>
          </a:stretch>
        </p:blipFill>
        <p:spPr>
          <a:xfrm>
            <a:off x="4931359" y="3651199"/>
            <a:ext cx="378562" cy="378562"/>
          </a:xfrm>
          <a:prstGeom prst="rect">
            <a:avLst/>
          </a:prstGeom>
        </p:spPr>
      </p:pic>
      <p:sp>
        <p:nvSpPr>
          <p:cNvPr id="18" name="Shape 14"/>
          <p:cNvSpPr/>
          <p:nvPr/>
        </p:nvSpPr>
        <p:spPr>
          <a:xfrm>
            <a:off x="8503920" y="3429000"/>
            <a:ext cx="822960" cy="822960"/>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9" name="Image 2" descr="preencoded.png">    </p:cNvPr>
          <p:cNvPicPr>
            <a:picLocks noChangeAspect="1"/>
          </p:cNvPicPr>
          <p:nvPr/>
        </p:nvPicPr>
        <p:blipFill>
          <a:blip r:embed="rId3"/>
          <a:stretch>
            <a:fillRect/>
          </a:stretch>
        </p:blipFill>
        <p:spPr>
          <a:xfrm>
            <a:off x="8726119" y="3651199"/>
            <a:ext cx="378562" cy="378562"/>
          </a:xfrm>
          <a:prstGeom prst="rect">
            <a:avLst/>
          </a:prstGeom>
        </p:spPr>
      </p:pic>
      <p:sp>
        <p:nvSpPr>
          <p:cNvPr id="20" name="Text 15"/>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5</a:t>
            </a:r>
            <a:endParaRPr lang="en-US" sz="950" dirty="0"/>
          </a:p>
        </p:txBody>
      </p:sp>
      <p:pic>
        <p:nvPicPr>
          <p:cNvPr id="21" name="Image 3" descr="logos/logo_ensae_new.png">    </p:cNvPr>
          <p:cNvPicPr>
            <a:picLocks noChangeAspect="1"/>
          </p:cNvPicPr>
          <p:nvPr/>
        </p:nvPicPr>
        <p:blipFill>
          <a:blip r:embed="rId4"/>
          <a:stretch>
            <a:fillRect/>
          </a:stretch>
        </p:blipFill>
        <p:spPr>
          <a:xfrm>
            <a:off x="11384280" y="6355080"/>
            <a:ext cx="384048" cy="3840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Objectifs et hypothèses</a:t>
            </a:r>
            <a:endParaRPr lang="en-US" sz="2700" dirty="0"/>
          </a:p>
        </p:txBody>
      </p:sp>
      <p:sp>
        <p:nvSpPr>
          <p:cNvPr id="3" name="Shape 1"/>
          <p:cNvSpPr/>
          <p:nvPr/>
        </p:nvSpPr>
        <p:spPr>
          <a:xfrm>
            <a:off x="640080" y="1298448"/>
            <a:ext cx="5349240" cy="4480560"/>
          </a:xfrm>
          <a:prstGeom prst="roundRect">
            <a:avLst>
              <a:gd name="adj" fmla="val 1224"/>
            </a:avLst>
          </a:prstGeom>
          <a:solidFill>
            <a:srgbClr val="F4F5FA"/>
          </a:solidFill>
          <a:ln/>
          <a:effectLst>
            <a:outerShdw sx="100000" sy="100000" kx="0" ky="0" algn="bl" rotWithShape="0" blurRad="127000" dist="25400" dir="5400000">
              <a:srgbClr val="1E2B4A">
                <a:alpha val="10000"/>
              </a:srgbClr>
            </a:outerShdw>
          </a:effectLst>
        </p:spPr>
      </p:sp>
      <p:sp>
        <p:nvSpPr>
          <p:cNvPr id="4" name="Shape 2"/>
          <p:cNvSpPr/>
          <p:nvPr/>
        </p:nvSpPr>
        <p:spPr>
          <a:xfrm>
            <a:off x="960120" y="1600200"/>
            <a:ext cx="822960" cy="822960"/>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5" name="Image 0" descr="preencoded.png">    </p:cNvPr>
          <p:cNvPicPr>
            <a:picLocks noChangeAspect="1"/>
          </p:cNvPicPr>
          <p:nvPr/>
        </p:nvPicPr>
        <p:blipFill>
          <a:blip r:embed="rId1"/>
          <a:stretch>
            <a:fillRect/>
          </a:stretch>
        </p:blipFill>
        <p:spPr>
          <a:xfrm>
            <a:off x="1182319" y="1822399"/>
            <a:ext cx="378562" cy="378562"/>
          </a:xfrm>
          <a:prstGeom prst="rect">
            <a:avLst/>
          </a:prstGeom>
        </p:spPr>
      </p:pic>
      <p:sp>
        <p:nvSpPr>
          <p:cNvPr id="6" name="Text 3"/>
          <p:cNvSpPr/>
          <p:nvPr/>
        </p:nvSpPr>
        <p:spPr>
          <a:xfrm>
            <a:off x="1965960" y="1664208"/>
            <a:ext cx="3749040" cy="457200"/>
          </a:xfrm>
          <a:prstGeom prst="rect">
            <a:avLst/>
          </a:prstGeom>
          <a:noFill/>
          <a:ln/>
        </p:spPr>
        <p:txBody>
          <a:bodyPr wrap="square" lIns="0" tIns="0" rIns="0" bIns="0" rtlCol="0" anchor="ctr"/>
          <a:lstStyle/>
          <a:p>
            <a:pPr indent="0" marL="0">
              <a:buNone/>
            </a:pPr>
            <a:r>
              <a:rPr lang="en-US" sz="1800" b="1" dirty="0">
                <a:solidFill>
                  <a:srgbClr val="1D2433"/>
                </a:solidFill>
                <a:latin typeface="Calibri" pitchFamily="34" charset="0"/>
                <a:ea typeface="Calibri" pitchFamily="34" charset="-122"/>
                <a:cs typeface="Calibri" pitchFamily="34" charset="-120"/>
              </a:rPr>
              <a:t>Objectifs</a:t>
            </a:r>
            <a:endParaRPr lang="en-US" sz="1800" dirty="0"/>
          </a:p>
        </p:txBody>
      </p:sp>
      <p:sp>
        <p:nvSpPr>
          <p:cNvPr id="7" name="Text 4"/>
          <p:cNvSpPr/>
          <p:nvPr/>
        </p:nvSpPr>
        <p:spPr>
          <a:xfrm>
            <a:off x="960120" y="2651760"/>
            <a:ext cx="4754880" cy="685800"/>
          </a:xfrm>
          <a:prstGeom prst="rect">
            <a:avLst/>
          </a:prstGeom>
          <a:noFill/>
          <a:ln/>
        </p:spPr>
        <p:txBody>
          <a:bodyPr wrap="square" lIns="0" tIns="0" rIns="0" bIns="0" rtlCol="0" anchor="t"/>
          <a:lstStyle/>
          <a:p>
            <a:pPr indent="0" marL="0">
              <a:lnSpc>
                <a:spcPts val="1800"/>
              </a:lnSpc>
              <a:buNone/>
            </a:pPr>
            <a:r>
              <a:rPr lang="en-US" sz="1350" b="1" dirty="0">
                <a:solidFill>
                  <a:srgbClr val="1D2433"/>
                </a:solidFill>
                <a:latin typeface="Calibri" pitchFamily="34" charset="0"/>
                <a:ea typeface="Calibri" pitchFamily="34" charset="-122"/>
                <a:cs typeface="Calibri" pitchFamily="34" charset="-120"/>
              </a:rPr>
              <a:t>Évaluer l'impact des transferts de migrants sur la pauvreté multidimensionnelle des enfants au Sénégal.</a:t>
            </a:r>
            <a:endParaRPr lang="en-US" sz="1350" dirty="0"/>
          </a:p>
        </p:txBody>
      </p:sp>
      <p:sp>
        <p:nvSpPr>
          <p:cNvPr id="8" name="Shape 5"/>
          <p:cNvSpPr/>
          <p:nvPr/>
        </p:nvSpPr>
        <p:spPr>
          <a:xfrm>
            <a:off x="960120" y="3520440"/>
            <a:ext cx="329184" cy="329184"/>
          </a:xfrm>
          <a:prstGeom prst="ellipse">
            <a:avLst/>
          </a:prstGeom>
          <a:solidFill>
            <a:srgbClr val="41639E"/>
          </a:solidFill>
          <a:ln/>
        </p:spPr>
      </p:sp>
      <p:sp>
        <p:nvSpPr>
          <p:cNvPr id="9" name="Text 6"/>
          <p:cNvSpPr/>
          <p:nvPr/>
        </p:nvSpPr>
        <p:spPr>
          <a:xfrm>
            <a:off x="960120" y="3538728"/>
            <a:ext cx="329184"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444752" y="3493008"/>
            <a:ext cx="4251960" cy="777240"/>
          </a:xfrm>
          <a:prstGeom prst="rect">
            <a:avLst/>
          </a:prstGeom>
          <a:noFill/>
          <a:ln/>
        </p:spPr>
        <p:txBody>
          <a:bodyPr wrap="square" lIns="0" tIns="0" rIns="0" bIns="0" rtlCol="0" anchor="t"/>
          <a:lstStyle/>
          <a:p>
            <a:pPr indent="0" marL="0">
              <a:lnSpc>
                <a:spcPts val="1700"/>
              </a:lnSpc>
              <a:buNone/>
            </a:pPr>
            <a:r>
              <a:rPr lang="en-US" sz="1250" dirty="0">
                <a:solidFill>
                  <a:srgbClr val="4A5468"/>
                </a:solidFill>
                <a:latin typeface="Calibri" pitchFamily="34" charset="0"/>
                <a:ea typeface="Calibri" pitchFamily="34" charset="-122"/>
                <a:cs typeface="Calibri" pitchFamily="34" charset="-120"/>
              </a:rPr>
              <a:t>Construire un indice de pauvreté multidimensionnelle adapté aux enfants sénégalais.</a:t>
            </a:r>
            <a:endParaRPr lang="en-US" sz="1250" dirty="0"/>
          </a:p>
        </p:txBody>
      </p:sp>
      <p:sp>
        <p:nvSpPr>
          <p:cNvPr id="11" name="Shape 8"/>
          <p:cNvSpPr/>
          <p:nvPr/>
        </p:nvSpPr>
        <p:spPr>
          <a:xfrm>
            <a:off x="960120" y="4544568"/>
            <a:ext cx="329184" cy="329184"/>
          </a:xfrm>
          <a:prstGeom prst="ellipse">
            <a:avLst/>
          </a:prstGeom>
          <a:solidFill>
            <a:srgbClr val="41639E"/>
          </a:solidFill>
          <a:ln/>
        </p:spPr>
      </p:sp>
      <p:sp>
        <p:nvSpPr>
          <p:cNvPr id="12" name="Text 9"/>
          <p:cNvSpPr/>
          <p:nvPr/>
        </p:nvSpPr>
        <p:spPr>
          <a:xfrm>
            <a:off x="960120" y="4562856"/>
            <a:ext cx="329184"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444752" y="4517136"/>
            <a:ext cx="4251960" cy="777240"/>
          </a:xfrm>
          <a:prstGeom prst="rect">
            <a:avLst/>
          </a:prstGeom>
          <a:noFill/>
          <a:ln/>
        </p:spPr>
        <p:txBody>
          <a:bodyPr wrap="square" lIns="0" tIns="0" rIns="0" bIns="0" rtlCol="0" anchor="t"/>
          <a:lstStyle/>
          <a:p>
            <a:pPr indent="0" marL="0">
              <a:lnSpc>
                <a:spcPts val="1700"/>
              </a:lnSpc>
              <a:buNone/>
            </a:pPr>
            <a:r>
              <a:rPr lang="en-US" sz="1250" dirty="0">
                <a:solidFill>
                  <a:srgbClr val="4A5468"/>
                </a:solidFill>
                <a:latin typeface="Calibri" pitchFamily="34" charset="0"/>
                <a:ea typeface="Calibri" pitchFamily="34" charset="-122"/>
                <a:cs typeface="Calibri" pitchFamily="34" charset="-120"/>
              </a:rPr>
              <a:t>Estimer l'impact des transferts sur cet indice et en analyser l'hétérogénéité.</a:t>
            </a:r>
            <a:endParaRPr lang="en-US" sz="1250" dirty="0"/>
          </a:p>
        </p:txBody>
      </p:sp>
      <p:sp>
        <p:nvSpPr>
          <p:cNvPr id="14" name="Shape 11"/>
          <p:cNvSpPr/>
          <p:nvPr/>
        </p:nvSpPr>
        <p:spPr>
          <a:xfrm>
            <a:off x="6263640" y="1298448"/>
            <a:ext cx="5285232" cy="4480560"/>
          </a:xfrm>
          <a:prstGeom prst="roundRect">
            <a:avLst>
              <a:gd name="adj" fmla="val 1224"/>
            </a:avLst>
          </a:prstGeom>
          <a:solidFill>
            <a:srgbClr val="F4F5FA"/>
          </a:solidFill>
          <a:ln/>
          <a:effectLst>
            <a:outerShdw sx="100000" sy="100000" kx="0" ky="0" algn="bl" rotWithShape="0" blurRad="127000" dist="25400" dir="5400000">
              <a:srgbClr val="1E2B4A">
                <a:alpha val="10000"/>
              </a:srgbClr>
            </a:outerShdw>
          </a:effectLst>
        </p:spPr>
      </p:sp>
      <p:sp>
        <p:nvSpPr>
          <p:cNvPr id="15" name="Shape 12"/>
          <p:cNvSpPr/>
          <p:nvPr/>
        </p:nvSpPr>
        <p:spPr>
          <a:xfrm>
            <a:off x="6583680" y="1600200"/>
            <a:ext cx="822960" cy="822960"/>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16" name="Image 1" descr="preencoded.png">    </p:cNvPr>
          <p:cNvPicPr>
            <a:picLocks noChangeAspect="1"/>
          </p:cNvPicPr>
          <p:nvPr/>
        </p:nvPicPr>
        <p:blipFill>
          <a:blip r:embed="rId2"/>
          <a:stretch>
            <a:fillRect/>
          </a:stretch>
        </p:blipFill>
        <p:spPr>
          <a:xfrm>
            <a:off x="6805879" y="1822399"/>
            <a:ext cx="378562" cy="378562"/>
          </a:xfrm>
          <a:prstGeom prst="rect">
            <a:avLst/>
          </a:prstGeom>
        </p:spPr>
      </p:pic>
      <p:sp>
        <p:nvSpPr>
          <p:cNvPr id="17" name="Text 13"/>
          <p:cNvSpPr/>
          <p:nvPr/>
        </p:nvSpPr>
        <p:spPr>
          <a:xfrm>
            <a:off x="7589520" y="1664208"/>
            <a:ext cx="3657600" cy="457200"/>
          </a:xfrm>
          <a:prstGeom prst="rect">
            <a:avLst/>
          </a:prstGeom>
          <a:noFill/>
          <a:ln/>
        </p:spPr>
        <p:txBody>
          <a:bodyPr wrap="square" lIns="0" tIns="0" rIns="0" bIns="0" rtlCol="0" anchor="ctr"/>
          <a:lstStyle/>
          <a:p>
            <a:pPr indent="0" marL="0">
              <a:buNone/>
            </a:pPr>
            <a:r>
              <a:rPr lang="en-US" sz="1800" b="1" dirty="0">
                <a:solidFill>
                  <a:srgbClr val="1D2433"/>
                </a:solidFill>
                <a:latin typeface="Calibri" pitchFamily="34" charset="0"/>
                <a:ea typeface="Calibri" pitchFamily="34" charset="-122"/>
                <a:cs typeface="Calibri" pitchFamily="34" charset="-120"/>
              </a:rPr>
              <a:t>Hypothèses</a:t>
            </a:r>
            <a:endParaRPr lang="en-US" sz="1800" dirty="0"/>
          </a:p>
        </p:txBody>
      </p:sp>
      <p:sp>
        <p:nvSpPr>
          <p:cNvPr id="18" name="Shape 14"/>
          <p:cNvSpPr/>
          <p:nvPr/>
        </p:nvSpPr>
        <p:spPr>
          <a:xfrm>
            <a:off x="6537960" y="2651760"/>
            <a:ext cx="4754880" cy="1371600"/>
          </a:xfrm>
          <a:prstGeom prst="roundRect">
            <a:avLst>
              <a:gd name="adj" fmla="val 4000"/>
            </a:avLst>
          </a:prstGeom>
          <a:solidFill>
            <a:srgbClr val="E5EEF4"/>
          </a:solidFill>
          <a:ln/>
          <a:effectLst>
            <a:outerShdw sx="100000" sy="100000" kx="0" ky="0" algn="bl" rotWithShape="0" blurRad="127000" dist="25400" dir="5400000">
              <a:srgbClr val="1E2B4A">
                <a:alpha val="10000"/>
              </a:srgbClr>
            </a:outerShdw>
          </a:effectLst>
        </p:spPr>
      </p:sp>
      <p:sp>
        <p:nvSpPr>
          <p:cNvPr id="19" name="Text 15"/>
          <p:cNvSpPr/>
          <p:nvPr/>
        </p:nvSpPr>
        <p:spPr>
          <a:xfrm>
            <a:off x="6766560" y="2880360"/>
            <a:ext cx="685800" cy="411480"/>
          </a:xfrm>
          <a:prstGeom prst="rect">
            <a:avLst/>
          </a:prstGeom>
          <a:noFill/>
          <a:ln/>
        </p:spPr>
        <p:txBody>
          <a:bodyPr wrap="square" lIns="0" tIns="0" rIns="0" bIns="0" rtlCol="0" anchor="ctr"/>
          <a:lstStyle/>
          <a:p>
            <a:pPr indent="0" marL="0">
              <a:buNone/>
            </a:pPr>
            <a:r>
              <a:rPr lang="en-US" sz="2200" b="1" dirty="0">
                <a:solidFill>
                  <a:srgbClr val="D96F2B"/>
                </a:solidFill>
                <a:latin typeface="Calibri" pitchFamily="34" charset="0"/>
                <a:ea typeface="Calibri" pitchFamily="34" charset="-122"/>
                <a:cs typeface="Calibri" pitchFamily="34" charset="-120"/>
              </a:rPr>
              <a:t>H1</a:t>
            </a:r>
            <a:endParaRPr lang="en-US" sz="2200" dirty="0"/>
          </a:p>
        </p:txBody>
      </p:sp>
      <p:sp>
        <p:nvSpPr>
          <p:cNvPr id="20" name="Text 16"/>
          <p:cNvSpPr/>
          <p:nvPr/>
        </p:nvSpPr>
        <p:spPr>
          <a:xfrm>
            <a:off x="7498080" y="2834640"/>
            <a:ext cx="3611880" cy="1051560"/>
          </a:xfrm>
          <a:prstGeom prst="rect">
            <a:avLst/>
          </a:prstGeom>
          <a:noFill/>
          <a:ln/>
        </p:spPr>
        <p:txBody>
          <a:bodyPr wrap="square" lIns="0" tIns="0" rIns="0" bIns="0" rtlCol="0" anchor="ctr"/>
          <a:lstStyle/>
          <a:p>
            <a:pPr indent="0" marL="0">
              <a:lnSpc>
                <a:spcPts val="1650"/>
              </a:lnSpc>
              <a:buNone/>
            </a:pPr>
            <a:r>
              <a:rPr lang="en-US" sz="1200" dirty="0">
                <a:solidFill>
                  <a:srgbClr val="1D2433"/>
                </a:solidFill>
                <a:latin typeface="Calibri" pitchFamily="34" charset="0"/>
                <a:ea typeface="Calibri" pitchFamily="34" charset="-122"/>
                <a:cs typeface="Calibri" pitchFamily="34" charset="-120"/>
              </a:rPr>
              <a:t>Les transferts de migrants réduisent significativement la pauvreté multidimensionnelle des enfants.</a:t>
            </a:r>
            <a:endParaRPr lang="en-US" sz="1200" dirty="0"/>
          </a:p>
        </p:txBody>
      </p:sp>
      <p:sp>
        <p:nvSpPr>
          <p:cNvPr id="21" name="Shape 17"/>
          <p:cNvSpPr/>
          <p:nvPr/>
        </p:nvSpPr>
        <p:spPr>
          <a:xfrm>
            <a:off x="6537960" y="4224528"/>
            <a:ext cx="4754880" cy="1371600"/>
          </a:xfrm>
          <a:prstGeom prst="roundRect">
            <a:avLst>
              <a:gd name="adj" fmla="val 4000"/>
            </a:avLst>
          </a:prstGeom>
          <a:solidFill>
            <a:srgbClr val="E5EEF4"/>
          </a:solidFill>
          <a:ln/>
          <a:effectLst>
            <a:outerShdw sx="100000" sy="100000" kx="0" ky="0" algn="bl" rotWithShape="0" blurRad="127000" dist="25400" dir="5400000">
              <a:srgbClr val="1E2B4A">
                <a:alpha val="10000"/>
              </a:srgbClr>
            </a:outerShdw>
          </a:effectLst>
        </p:spPr>
      </p:sp>
      <p:sp>
        <p:nvSpPr>
          <p:cNvPr id="22" name="Text 18"/>
          <p:cNvSpPr/>
          <p:nvPr/>
        </p:nvSpPr>
        <p:spPr>
          <a:xfrm>
            <a:off x="6766560" y="4453128"/>
            <a:ext cx="685800" cy="411480"/>
          </a:xfrm>
          <a:prstGeom prst="rect">
            <a:avLst/>
          </a:prstGeom>
          <a:noFill/>
          <a:ln/>
        </p:spPr>
        <p:txBody>
          <a:bodyPr wrap="square" lIns="0" tIns="0" rIns="0" bIns="0" rtlCol="0" anchor="ctr"/>
          <a:lstStyle/>
          <a:p>
            <a:pPr indent="0" marL="0">
              <a:buNone/>
            </a:pPr>
            <a:r>
              <a:rPr lang="en-US" sz="2200" b="1" dirty="0">
                <a:solidFill>
                  <a:srgbClr val="D96F2B"/>
                </a:solidFill>
                <a:latin typeface="Calibri" pitchFamily="34" charset="0"/>
                <a:ea typeface="Calibri" pitchFamily="34" charset="-122"/>
                <a:cs typeface="Calibri" pitchFamily="34" charset="-120"/>
              </a:rPr>
              <a:t>H2</a:t>
            </a:r>
            <a:endParaRPr lang="en-US" sz="2200" dirty="0"/>
          </a:p>
        </p:txBody>
      </p:sp>
      <p:sp>
        <p:nvSpPr>
          <p:cNvPr id="23" name="Text 19"/>
          <p:cNvSpPr/>
          <p:nvPr/>
        </p:nvSpPr>
        <p:spPr>
          <a:xfrm>
            <a:off x="7498080" y="4407408"/>
            <a:ext cx="3611880" cy="1051560"/>
          </a:xfrm>
          <a:prstGeom prst="rect">
            <a:avLst/>
          </a:prstGeom>
          <a:noFill/>
          <a:ln/>
        </p:spPr>
        <p:txBody>
          <a:bodyPr wrap="square" lIns="0" tIns="0" rIns="0" bIns="0" rtlCol="0" anchor="ctr"/>
          <a:lstStyle/>
          <a:p>
            <a:pPr indent="0" marL="0">
              <a:lnSpc>
                <a:spcPts val="1650"/>
              </a:lnSpc>
              <a:buNone/>
            </a:pPr>
            <a:r>
              <a:rPr lang="en-US" sz="1200" dirty="0">
                <a:solidFill>
                  <a:srgbClr val="1D2433"/>
                </a:solidFill>
                <a:latin typeface="Calibri" pitchFamily="34" charset="0"/>
                <a:ea typeface="Calibri" pitchFamily="34" charset="-122"/>
                <a:cs typeface="Calibri" pitchFamily="34" charset="-120"/>
              </a:rPr>
              <a:t>Leur impact est hétérogène selon les dimensions, le milieu, le genre du chef de ménage, l'âge de l'enfant et le montant reçu.</a:t>
            </a:r>
            <a:endParaRPr lang="en-US" sz="1200" dirty="0"/>
          </a:p>
        </p:txBody>
      </p:sp>
      <p:sp>
        <p:nvSpPr>
          <p:cNvPr id="24" name="Text 20"/>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6</a:t>
            </a:r>
            <a:endParaRPr lang="en-US" sz="950" dirty="0"/>
          </a:p>
        </p:txBody>
      </p:sp>
      <p:pic>
        <p:nvPicPr>
          <p:cNvPr id="25" name="Image 2" descr="logos/logo_ensae_new.png">    </p:cNvPr>
          <p:cNvPicPr>
            <a:picLocks noChangeAspect="1"/>
          </p:cNvPicPr>
          <p:nvPr/>
        </p:nvPicPr>
        <p:blipFill>
          <a:blip r:embed="rId3"/>
          <a:stretch>
            <a:fillRect/>
          </a:stretch>
        </p:blipFill>
        <p:spPr>
          <a:xfrm>
            <a:off x="11384280" y="6355080"/>
            <a:ext cx="384048" cy="3840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13D"/>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24365E"/>
          </a:solidFill>
          <a:ln/>
        </p:spPr>
      </p:sp>
      <p:sp>
        <p:nvSpPr>
          <p:cNvPr id="3" name="Shape 1"/>
          <p:cNvSpPr/>
          <p:nvPr/>
        </p:nvSpPr>
        <p:spPr>
          <a:xfrm>
            <a:off x="-1463040" y="4389120"/>
            <a:ext cx="4023360" cy="4023360"/>
          </a:xfrm>
          <a:prstGeom prst="ellipse">
            <a:avLst/>
          </a:prstGeom>
          <a:solidFill>
            <a:srgbClr val="24365E"/>
          </a:solidFill>
          <a:ln/>
        </p:spPr>
      </p:sp>
      <p:sp>
        <p:nvSpPr>
          <p:cNvPr id="4" name="Text 2"/>
          <p:cNvSpPr/>
          <p:nvPr/>
        </p:nvSpPr>
        <p:spPr>
          <a:xfrm>
            <a:off x="1005840" y="2231136"/>
            <a:ext cx="1280160" cy="1207008"/>
          </a:xfrm>
          <a:prstGeom prst="rect">
            <a:avLst/>
          </a:prstGeom>
          <a:noFill/>
          <a:ln/>
        </p:spPr>
        <p:txBody>
          <a:bodyPr wrap="square" lIns="0" tIns="0" rIns="0" bIns="0" rtlCol="0" anchor="ctr"/>
          <a:lstStyle/>
          <a:p>
            <a:pPr algn="l" indent="0" marL="0">
              <a:buNone/>
            </a:pPr>
            <a:r>
              <a:rPr lang="en-US" sz="7200" b="1" dirty="0">
                <a:solidFill>
                  <a:srgbClr val="D96F2B"/>
                </a:solidFill>
                <a:latin typeface="Calibri" pitchFamily="34" charset="0"/>
                <a:ea typeface="Calibri" pitchFamily="34" charset="-122"/>
                <a:cs typeface="Calibri" pitchFamily="34" charset="-120"/>
              </a:rPr>
              <a:t>02</a:t>
            </a:r>
            <a:endParaRPr lang="en-US" sz="7200" dirty="0"/>
          </a:p>
        </p:txBody>
      </p:sp>
      <p:sp>
        <p:nvSpPr>
          <p:cNvPr id="5" name="Text 3"/>
          <p:cNvSpPr/>
          <p:nvPr/>
        </p:nvSpPr>
        <p:spPr>
          <a:xfrm>
            <a:off x="2377440" y="2395728"/>
            <a:ext cx="86868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Revue de la littérature</a:t>
            </a:r>
            <a:endParaRPr lang="en-US" sz="3400" dirty="0"/>
          </a:p>
        </p:txBody>
      </p:sp>
      <p:sp>
        <p:nvSpPr>
          <p:cNvPr id="6" name="Text 4"/>
          <p:cNvSpPr/>
          <p:nvPr/>
        </p:nvSpPr>
        <p:spPr>
          <a:xfrm>
            <a:off x="2423160" y="3273552"/>
            <a:ext cx="8229600" cy="457200"/>
          </a:xfrm>
          <a:prstGeom prst="rect">
            <a:avLst/>
          </a:prstGeom>
          <a:noFill/>
          <a:ln/>
        </p:spPr>
        <p:txBody>
          <a:bodyPr wrap="square" lIns="0" tIns="0" rIns="0" bIns="0" rtlCol="0" anchor="t"/>
          <a:lstStyle/>
          <a:p>
            <a:pPr indent="0" marL="0">
              <a:lnSpc>
                <a:spcPts val="1800"/>
              </a:lnSpc>
              <a:buNone/>
            </a:pPr>
            <a:r>
              <a:rPr lang="en-US" sz="1400" dirty="0">
                <a:solidFill>
                  <a:srgbClr val="AFC0DA"/>
                </a:solidFill>
                <a:latin typeface="Calibri" pitchFamily="34" charset="0"/>
                <a:ea typeface="Calibri" pitchFamily="34" charset="-122"/>
                <a:cs typeface="Calibri" pitchFamily="34" charset="-120"/>
              </a:rPr>
              <a:t>Trois enseignements : la sélection, la diversité des canaux, la lacune à combler.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Pourquoi les migrants transfèrent, et avec quels effets</a:t>
            </a:r>
            <a:endParaRPr lang="en-US" sz="2700" dirty="0"/>
          </a:p>
        </p:txBody>
      </p:sp>
      <p:sp>
        <p:nvSpPr>
          <p:cNvPr id="3" name="Shape 1"/>
          <p:cNvSpPr/>
          <p:nvPr/>
        </p:nvSpPr>
        <p:spPr>
          <a:xfrm>
            <a:off x="640080" y="1298448"/>
            <a:ext cx="5349240" cy="4480560"/>
          </a:xfrm>
          <a:prstGeom prst="roundRect">
            <a:avLst>
              <a:gd name="adj" fmla="val 1224"/>
            </a:avLst>
          </a:prstGeom>
          <a:solidFill>
            <a:srgbClr val="F4F5FA"/>
          </a:solidFill>
          <a:ln/>
          <a:effectLst>
            <a:outerShdw sx="100000" sy="100000" kx="0" ky="0" algn="bl" rotWithShape="0" blurRad="127000" dist="25400" dir="5400000">
              <a:srgbClr val="1E2B4A">
                <a:alpha val="10000"/>
              </a:srgbClr>
            </a:outerShdw>
          </a:effectLst>
        </p:spPr>
      </p:sp>
      <p:sp>
        <p:nvSpPr>
          <p:cNvPr id="4" name="Text 2"/>
          <p:cNvSpPr/>
          <p:nvPr/>
        </p:nvSpPr>
        <p:spPr>
          <a:xfrm>
            <a:off x="960120" y="1572768"/>
            <a:ext cx="4754880" cy="384048"/>
          </a:xfrm>
          <a:prstGeom prst="rect">
            <a:avLst/>
          </a:prstGeom>
          <a:noFill/>
          <a:ln/>
        </p:spPr>
        <p:txBody>
          <a:bodyPr wrap="square" lIns="0" tIns="0" rIns="0" bIns="0" rtlCol="0" anchor="ctr"/>
          <a:lstStyle/>
          <a:p>
            <a:pPr indent="0" marL="0">
              <a:buNone/>
            </a:pPr>
            <a:r>
              <a:rPr lang="en-US" sz="1700" b="1" dirty="0">
                <a:solidFill>
                  <a:srgbClr val="1D2433"/>
                </a:solidFill>
                <a:latin typeface="Calibri" pitchFamily="34" charset="0"/>
                <a:ea typeface="Calibri" pitchFamily="34" charset="-122"/>
                <a:cs typeface="Calibri" pitchFamily="34" charset="-120"/>
              </a:rPr>
              <a:t>Trois familles de motivations</a:t>
            </a:r>
            <a:endParaRPr lang="en-US" sz="1700" dirty="0"/>
          </a:p>
        </p:txBody>
      </p:sp>
      <p:sp>
        <p:nvSpPr>
          <p:cNvPr id="5" name="Shape 3"/>
          <p:cNvSpPr/>
          <p:nvPr/>
        </p:nvSpPr>
        <p:spPr>
          <a:xfrm>
            <a:off x="960120" y="2194560"/>
            <a:ext cx="274320" cy="274320"/>
          </a:xfrm>
          <a:prstGeom prst="ellipse">
            <a:avLst/>
          </a:prstGeom>
          <a:solidFill>
            <a:srgbClr val="41639E"/>
          </a:solidFill>
          <a:ln/>
        </p:spPr>
      </p:sp>
      <p:sp>
        <p:nvSpPr>
          <p:cNvPr id="6" name="Text 4"/>
          <p:cNvSpPr/>
          <p:nvPr/>
        </p:nvSpPr>
        <p:spPr>
          <a:xfrm>
            <a:off x="1417320" y="2121408"/>
            <a:ext cx="4297680" cy="292608"/>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Altruisme</a:t>
            </a:r>
            <a:endParaRPr lang="en-US" sz="1400" dirty="0"/>
          </a:p>
        </p:txBody>
      </p:sp>
      <p:sp>
        <p:nvSpPr>
          <p:cNvPr id="7" name="Text 5"/>
          <p:cNvSpPr/>
          <p:nvPr/>
        </p:nvSpPr>
        <p:spPr>
          <a:xfrm>
            <a:off x="1417320" y="2432304"/>
            <a:ext cx="4297680" cy="329184"/>
          </a:xfrm>
          <a:prstGeom prst="rect">
            <a:avLst/>
          </a:prstGeom>
          <a:noFill/>
          <a:ln/>
        </p:spPr>
        <p:txBody>
          <a:bodyPr wrap="square" lIns="0" tIns="0" rIns="0" bIns="0" rtlCol="0" anchor="ctr"/>
          <a:lstStyle/>
          <a:p>
            <a:pPr indent="0" marL="0">
              <a:lnSpc>
                <a:spcPts val="1600"/>
              </a:lnSpc>
              <a:buNone/>
            </a:pPr>
            <a:r>
              <a:rPr lang="en-US" sz="1200" dirty="0">
                <a:solidFill>
                  <a:srgbClr val="4A5468"/>
                </a:solidFill>
                <a:latin typeface="Calibri" pitchFamily="34" charset="0"/>
                <a:ea typeface="Calibri" pitchFamily="34" charset="-122"/>
                <a:cs typeface="Calibri" pitchFamily="34" charset="-120"/>
              </a:rPr>
              <a:t>Les transferts décroissent avec le revenu du receveur.</a:t>
            </a:r>
            <a:endParaRPr lang="en-US" sz="1200" dirty="0"/>
          </a:p>
        </p:txBody>
      </p:sp>
      <p:sp>
        <p:nvSpPr>
          <p:cNvPr id="8" name="Text 6"/>
          <p:cNvSpPr/>
          <p:nvPr/>
        </p:nvSpPr>
        <p:spPr>
          <a:xfrm>
            <a:off x="1417320" y="2779776"/>
            <a:ext cx="4297680" cy="237744"/>
          </a:xfrm>
          <a:prstGeom prst="rect">
            <a:avLst/>
          </a:prstGeom>
          <a:noFill/>
          <a:ln/>
        </p:spPr>
        <p:txBody>
          <a:bodyPr wrap="square" lIns="0" tIns="0" rIns="0" bIns="0" rtlCol="0" anchor="ctr"/>
          <a:lstStyle/>
          <a:p>
            <a:pPr indent="0" marL="0">
              <a:buNone/>
            </a:pPr>
            <a:r>
              <a:rPr lang="en-US" sz="1050" i="1" dirty="0">
                <a:solidFill>
                  <a:srgbClr val="8A93A5"/>
                </a:solidFill>
                <a:latin typeface="Calibri" pitchFamily="34" charset="0"/>
                <a:ea typeface="Calibri" pitchFamily="34" charset="-122"/>
                <a:cs typeface="Calibri" pitchFamily="34" charset="-120"/>
              </a:rPr>
              <a:t>Lucas &amp; Stark, 1985</a:t>
            </a:r>
            <a:endParaRPr lang="en-US" sz="1050" dirty="0"/>
          </a:p>
        </p:txBody>
      </p:sp>
      <p:sp>
        <p:nvSpPr>
          <p:cNvPr id="9" name="Shape 7"/>
          <p:cNvSpPr/>
          <p:nvPr/>
        </p:nvSpPr>
        <p:spPr>
          <a:xfrm>
            <a:off x="960120" y="3401568"/>
            <a:ext cx="274320" cy="274320"/>
          </a:xfrm>
          <a:prstGeom prst="ellipse">
            <a:avLst/>
          </a:prstGeom>
          <a:solidFill>
            <a:srgbClr val="41639E"/>
          </a:solidFill>
          <a:ln/>
        </p:spPr>
      </p:sp>
      <p:sp>
        <p:nvSpPr>
          <p:cNvPr id="10" name="Text 8"/>
          <p:cNvSpPr/>
          <p:nvPr/>
        </p:nvSpPr>
        <p:spPr>
          <a:xfrm>
            <a:off x="1417320" y="3328416"/>
            <a:ext cx="4297680" cy="292608"/>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Intérêt personnel et échange</a:t>
            </a:r>
            <a:endParaRPr lang="en-US" sz="1400" dirty="0"/>
          </a:p>
        </p:txBody>
      </p:sp>
      <p:sp>
        <p:nvSpPr>
          <p:cNvPr id="11" name="Text 9"/>
          <p:cNvSpPr/>
          <p:nvPr/>
        </p:nvSpPr>
        <p:spPr>
          <a:xfrm>
            <a:off x="1417320" y="3639312"/>
            <a:ext cx="4297680" cy="329184"/>
          </a:xfrm>
          <a:prstGeom prst="rect">
            <a:avLst/>
          </a:prstGeom>
          <a:noFill/>
          <a:ln/>
        </p:spPr>
        <p:txBody>
          <a:bodyPr wrap="square" lIns="0" tIns="0" rIns="0" bIns="0" rtlCol="0" anchor="ctr"/>
          <a:lstStyle/>
          <a:p>
            <a:pPr indent="0" marL="0">
              <a:lnSpc>
                <a:spcPts val="1600"/>
              </a:lnSpc>
              <a:buNone/>
            </a:pPr>
            <a:r>
              <a:rPr lang="en-US" sz="1200" dirty="0">
                <a:solidFill>
                  <a:srgbClr val="4A5468"/>
                </a:solidFill>
                <a:latin typeface="Calibri" pitchFamily="34" charset="0"/>
                <a:ea typeface="Calibri" pitchFamily="34" charset="-122"/>
                <a:cs typeface="Calibri" pitchFamily="34" charset="-120"/>
              </a:rPr>
              <a:t>Préserver un héritage, rembourser la dette du départ.</a:t>
            </a:r>
            <a:endParaRPr lang="en-US" sz="1200" dirty="0"/>
          </a:p>
        </p:txBody>
      </p:sp>
      <p:sp>
        <p:nvSpPr>
          <p:cNvPr id="12" name="Text 10"/>
          <p:cNvSpPr/>
          <p:nvPr/>
        </p:nvSpPr>
        <p:spPr>
          <a:xfrm>
            <a:off x="1417320" y="3986784"/>
            <a:ext cx="4297680" cy="237744"/>
          </a:xfrm>
          <a:prstGeom prst="rect">
            <a:avLst/>
          </a:prstGeom>
          <a:noFill/>
          <a:ln/>
        </p:spPr>
        <p:txBody>
          <a:bodyPr wrap="square" lIns="0" tIns="0" rIns="0" bIns="0" rtlCol="0" anchor="ctr"/>
          <a:lstStyle/>
          <a:p>
            <a:pPr indent="0" marL="0">
              <a:buNone/>
            </a:pPr>
            <a:r>
              <a:rPr lang="en-US" sz="1050" i="1" dirty="0">
                <a:solidFill>
                  <a:srgbClr val="8A93A5"/>
                </a:solidFill>
                <a:latin typeface="Calibri" pitchFamily="34" charset="0"/>
                <a:ea typeface="Calibri" pitchFamily="34" charset="-122"/>
                <a:cs typeface="Calibri" pitchFamily="34" charset="-120"/>
              </a:rPr>
              <a:t>Rapoport &amp; Docquier, 2006</a:t>
            </a:r>
            <a:endParaRPr lang="en-US" sz="1050" dirty="0"/>
          </a:p>
        </p:txBody>
      </p:sp>
      <p:sp>
        <p:nvSpPr>
          <p:cNvPr id="13" name="Shape 11"/>
          <p:cNvSpPr/>
          <p:nvPr/>
        </p:nvSpPr>
        <p:spPr>
          <a:xfrm>
            <a:off x="960120" y="4608576"/>
            <a:ext cx="274320" cy="274320"/>
          </a:xfrm>
          <a:prstGeom prst="ellipse">
            <a:avLst/>
          </a:prstGeom>
          <a:solidFill>
            <a:srgbClr val="41639E"/>
          </a:solidFill>
          <a:ln/>
        </p:spPr>
      </p:sp>
      <p:sp>
        <p:nvSpPr>
          <p:cNvPr id="14" name="Text 12"/>
          <p:cNvSpPr/>
          <p:nvPr/>
        </p:nvSpPr>
        <p:spPr>
          <a:xfrm>
            <a:off x="1417320" y="4535424"/>
            <a:ext cx="4297680" cy="292608"/>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Diversification du risque</a:t>
            </a:r>
            <a:endParaRPr lang="en-US" sz="1400" dirty="0"/>
          </a:p>
        </p:txBody>
      </p:sp>
      <p:sp>
        <p:nvSpPr>
          <p:cNvPr id="15" name="Text 13"/>
          <p:cNvSpPr/>
          <p:nvPr/>
        </p:nvSpPr>
        <p:spPr>
          <a:xfrm>
            <a:off x="1417320" y="4846320"/>
            <a:ext cx="4297680" cy="329184"/>
          </a:xfrm>
          <a:prstGeom prst="rect">
            <a:avLst/>
          </a:prstGeom>
          <a:noFill/>
          <a:ln/>
        </p:spPr>
        <p:txBody>
          <a:bodyPr wrap="square" lIns="0" tIns="0" rIns="0" bIns="0" rtlCol="0" anchor="ctr"/>
          <a:lstStyle/>
          <a:p>
            <a:pPr indent="0" marL="0">
              <a:lnSpc>
                <a:spcPts val="1600"/>
              </a:lnSpc>
              <a:buNone/>
            </a:pPr>
            <a:r>
              <a:rPr lang="en-US" sz="1200" dirty="0">
                <a:solidFill>
                  <a:srgbClr val="4A5468"/>
                </a:solidFill>
                <a:latin typeface="Calibri" pitchFamily="34" charset="0"/>
                <a:ea typeface="Calibri" pitchFamily="34" charset="-122"/>
                <a:cs typeface="Calibri" pitchFamily="34" charset="-120"/>
              </a:rPr>
              <a:t>Les transferts assurent le ménage contre les chocs.</a:t>
            </a:r>
            <a:endParaRPr lang="en-US" sz="1200" dirty="0"/>
          </a:p>
        </p:txBody>
      </p:sp>
      <p:sp>
        <p:nvSpPr>
          <p:cNvPr id="16" name="Text 14"/>
          <p:cNvSpPr/>
          <p:nvPr/>
        </p:nvSpPr>
        <p:spPr>
          <a:xfrm>
            <a:off x="1417320" y="5193792"/>
            <a:ext cx="4297680" cy="237744"/>
          </a:xfrm>
          <a:prstGeom prst="rect">
            <a:avLst/>
          </a:prstGeom>
          <a:noFill/>
          <a:ln/>
        </p:spPr>
        <p:txBody>
          <a:bodyPr wrap="square" lIns="0" tIns="0" rIns="0" bIns="0" rtlCol="0" anchor="ctr"/>
          <a:lstStyle/>
          <a:p>
            <a:pPr indent="0" marL="0">
              <a:buNone/>
            </a:pPr>
            <a:r>
              <a:rPr lang="en-US" sz="1050" i="1" dirty="0">
                <a:solidFill>
                  <a:srgbClr val="8A93A5"/>
                </a:solidFill>
                <a:latin typeface="Calibri" pitchFamily="34" charset="0"/>
                <a:ea typeface="Calibri" pitchFamily="34" charset="-122"/>
                <a:cs typeface="Calibri" pitchFamily="34" charset="-120"/>
              </a:rPr>
              <a:t>Stark &amp; Bloom, 1985</a:t>
            </a:r>
            <a:endParaRPr lang="en-US" sz="1050" dirty="0"/>
          </a:p>
        </p:txBody>
      </p:sp>
      <p:sp>
        <p:nvSpPr>
          <p:cNvPr id="17" name="Shape 15"/>
          <p:cNvSpPr/>
          <p:nvPr/>
        </p:nvSpPr>
        <p:spPr>
          <a:xfrm>
            <a:off x="6263640" y="1298448"/>
            <a:ext cx="5285232" cy="4480560"/>
          </a:xfrm>
          <a:prstGeom prst="roundRect">
            <a:avLst>
              <a:gd name="adj" fmla="val 1224"/>
            </a:avLst>
          </a:prstGeom>
          <a:solidFill>
            <a:srgbClr val="F4F5FA"/>
          </a:solidFill>
          <a:ln/>
          <a:effectLst>
            <a:outerShdw sx="100000" sy="100000" kx="0" ky="0" algn="bl" rotWithShape="0" blurRad="127000" dist="25400" dir="5400000">
              <a:srgbClr val="1E2B4A">
                <a:alpha val="10000"/>
              </a:srgbClr>
            </a:outerShdw>
          </a:effectLst>
        </p:spPr>
      </p:sp>
      <p:sp>
        <p:nvSpPr>
          <p:cNvPr id="18" name="Text 16"/>
          <p:cNvSpPr/>
          <p:nvPr/>
        </p:nvSpPr>
        <p:spPr>
          <a:xfrm>
            <a:off x="6583680" y="1572768"/>
            <a:ext cx="4709160" cy="384048"/>
          </a:xfrm>
          <a:prstGeom prst="rect">
            <a:avLst/>
          </a:prstGeom>
          <a:noFill/>
          <a:ln/>
        </p:spPr>
        <p:txBody>
          <a:bodyPr wrap="square" lIns="0" tIns="0" rIns="0" bIns="0" rtlCol="0" anchor="ctr"/>
          <a:lstStyle/>
          <a:p>
            <a:pPr indent="0" marL="0">
              <a:buNone/>
            </a:pPr>
            <a:r>
              <a:rPr lang="en-US" sz="1700" b="1" dirty="0">
                <a:solidFill>
                  <a:srgbClr val="1D2433"/>
                </a:solidFill>
                <a:latin typeface="Calibri" pitchFamily="34" charset="0"/>
                <a:ea typeface="Calibri" pitchFamily="34" charset="-122"/>
                <a:cs typeface="Calibri" pitchFamily="34" charset="-120"/>
              </a:rPr>
              <a:t>Ce que la littérature empirique établit</a:t>
            </a:r>
            <a:endParaRPr lang="en-US" sz="1700" dirty="0"/>
          </a:p>
        </p:txBody>
      </p:sp>
      <p:sp>
        <p:nvSpPr>
          <p:cNvPr id="19" name="Text 17"/>
          <p:cNvSpPr/>
          <p:nvPr/>
        </p:nvSpPr>
        <p:spPr>
          <a:xfrm>
            <a:off x="7635240" y="2121408"/>
            <a:ext cx="3657600" cy="292608"/>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Pauvreté monétaire</a:t>
            </a:r>
            <a:endParaRPr lang="en-US" sz="1400" dirty="0"/>
          </a:p>
        </p:txBody>
      </p:sp>
      <p:sp>
        <p:nvSpPr>
          <p:cNvPr id="20" name="Text 18"/>
          <p:cNvSpPr/>
          <p:nvPr/>
        </p:nvSpPr>
        <p:spPr>
          <a:xfrm>
            <a:off x="7635240" y="2432304"/>
            <a:ext cx="3657600" cy="329184"/>
          </a:xfrm>
          <a:prstGeom prst="rect">
            <a:avLst/>
          </a:prstGeom>
          <a:noFill/>
          <a:ln/>
        </p:spPr>
        <p:txBody>
          <a:bodyPr wrap="square" lIns="0" tIns="0" rIns="0" bIns="0" rtlCol="0" anchor="ctr"/>
          <a:lstStyle/>
          <a:p>
            <a:pPr indent="0" marL="0">
              <a:lnSpc>
                <a:spcPts val="1600"/>
              </a:lnSpc>
              <a:buNone/>
            </a:pPr>
            <a:r>
              <a:rPr lang="en-US" sz="1200" dirty="0">
                <a:solidFill>
                  <a:srgbClr val="4A5468"/>
                </a:solidFill>
                <a:latin typeface="Calibri" pitchFamily="34" charset="0"/>
                <a:ea typeface="Calibri" pitchFamily="34" charset="-122"/>
                <a:cs typeface="Calibri" pitchFamily="34" charset="-120"/>
              </a:rPr>
              <a:t>Recul modeste, atténué par les coûts.</a:t>
            </a:r>
            <a:endParaRPr lang="en-US" sz="1200" dirty="0"/>
          </a:p>
        </p:txBody>
      </p:sp>
      <p:sp>
        <p:nvSpPr>
          <p:cNvPr id="21" name="Text 19"/>
          <p:cNvSpPr/>
          <p:nvPr/>
        </p:nvSpPr>
        <p:spPr>
          <a:xfrm>
            <a:off x="7635240" y="2779776"/>
            <a:ext cx="3657600" cy="237744"/>
          </a:xfrm>
          <a:prstGeom prst="rect">
            <a:avLst/>
          </a:prstGeom>
          <a:noFill/>
          <a:ln/>
        </p:spPr>
        <p:txBody>
          <a:bodyPr wrap="square" lIns="0" tIns="0" rIns="0" bIns="0" rtlCol="0" anchor="ctr"/>
          <a:lstStyle/>
          <a:p>
            <a:pPr indent="0" marL="0">
              <a:buNone/>
            </a:pPr>
            <a:r>
              <a:rPr lang="en-US" sz="1050" i="1" dirty="0">
                <a:solidFill>
                  <a:srgbClr val="8A93A5"/>
                </a:solidFill>
                <a:latin typeface="Calibri" pitchFamily="34" charset="0"/>
                <a:ea typeface="Calibri" pitchFamily="34" charset="-122"/>
                <a:cs typeface="Calibri" pitchFamily="34" charset="-120"/>
              </a:rPr>
              <a:t>Azam &amp; Gubert, 2006 ; Combes &amp; Ebeke, 2011</a:t>
            </a:r>
            <a:endParaRPr lang="en-US" sz="1050" dirty="0"/>
          </a:p>
        </p:txBody>
      </p:sp>
      <p:sp>
        <p:nvSpPr>
          <p:cNvPr id="22" name="Text 20"/>
          <p:cNvSpPr/>
          <p:nvPr/>
        </p:nvSpPr>
        <p:spPr>
          <a:xfrm>
            <a:off x="7635240" y="3328416"/>
            <a:ext cx="3657600" cy="292608"/>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Éducation</a:t>
            </a:r>
            <a:endParaRPr lang="en-US" sz="1400" dirty="0"/>
          </a:p>
        </p:txBody>
      </p:sp>
      <p:sp>
        <p:nvSpPr>
          <p:cNvPr id="23" name="Text 21"/>
          <p:cNvSpPr/>
          <p:nvPr/>
        </p:nvSpPr>
        <p:spPr>
          <a:xfrm>
            <a:off x="7635240" y="3639312"/>
            <a:ext cx="3657600" cy="329184"/>
          </a:xfrm>
          <a:prstGeom prst="rect">
            <a:avLst/>
          </a:prstGeom>
          <a:noFill/>
          <a:ln/>
        </p:spPr>
        <p:txBody>
          <a:bodyPr wrap="square" lIns="0" tIns="0" rIns="0" bIns="0" rtlCol="0" anchor="ctr"/>
          <a:lstStyle/>
          <a:p>
            <a:pPr indent="0" marL="0">
              <a:lnSpc>
                <a:spcPts val="1600"/>
              </a:lnSpc>
              <a:buNone/>
            </a:pPr>
            <a:r>
              <a:rPr lang="en-US" sz="1200" dirty="0">
                <a:solidFill>
                  <a:srgbClr val="4A5468"/>
                </a:solidFill>
                <a:latin typeface="Calibri" pitchFamily="34" charset="0"/>
                <a:ea typeface="Calibri" pitchFamily="34" charset="-122"/>
                <a:cs typeface="Calibri" pitchFamily="34" charset="-120"/>
              </a:rPr>
              <a:t>Scolarisation et capital humain en hausse.</a:t>
            </a:r>
            <a:endParaRPr lang="en-US" sz="1200" dirty="0"/>
          </a:p>
        </p:txBody>
      </p:sp>
      <p:sp>
        <p:nvSpPr>
          <p:cNvPr id="24" name="Text 22"/>
          <p:cNvSpPr/>
          <p:nvPr/>
        </p:nvSpPr>
        <p:spPr>
          <a:xfrm>
            <a:off x="7635240" y="3986784"/>
            <a:ext cx="3657600" cy="237744"/>
          </a:xfrm>
          <a:prstGeom prst="rect">
            <a:avLst/>
          </a:prstGeom>
          <a:noFill/>
          <a:ln/>
        </p:spPr>
        <p:txBody>
          <a:bodyPr wrap="square" lIns="0" tIns="0" rIns="0" bIns="0" rtlCol="0" anchor="ctr"/>
          <a:lstStyle/>
          <a:p>
            <a:pPr indent="0" marL="0">
              <a:buNone/>
            </a:pPr>
            <a:r>
              <a:rPr lang="en-US" sz="1050" i="1" dirty="0">
                <a:solidFill>
                  <a:srgbClr val="8A93A5"/>
                </a:solidFill>
                <a:latin typeface="Calibri" pitchFamily="34" charset="0"/>
                <a:ea typeface="Calibri" pitchFamily="34" charset="-122"/>
                <a:cs typeface="Calibri" pitchFamily="34" charset="-120"/>
              </a:rPr>
              <a:t>Cox Edwards &amp; Ureta, 2003 ; Yang, 2008</a:t>
            </a:r>
            <a:endParaRPr lang="en-US" sz="1050" dirty="0"/>
          </a:p>
        </p:txBody>
      </p:sp>
      <p:sp>
        <p:nvSpPr>
          <p:cNvPr id="25" name="Text 23"/>
          <p:cNvSpPr/>
          <p:nvPr/>
        </p:nvSpPr>
        <p:spPr>
          <a:xfrm>
            <a:off x="7635240" y="4535424"/>
            <a:ext cx="3657600" cy="292608"/>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Nutrition</a:t>
            </a:r>
            <a:endParaRPr lang="en-US" sz="1400" dirty="0"/>
          </a:p>
        </p:txBody>
      </p:sp>
      <p:sp>
        <p:nvSpPr>
          <p:cNvPr id="26" name="Text 24"/>
          <p:cNvSpPr/>
          <p:nvPr/>
        </p:nvSpPr>
        <p:spPr>
          <a:xfrm>
            <a:off x="7635240" y="4846320"/>
            <a:ext cx="3657600" cy="329184"/>
          </a:xfrm>
          <a:prstGeom prst="rect">
            <a:avLst/>
          </a:prstGeom>
          <a:noFill/>
          <a:ln/>
        </p:spPr>
        <p:txBody>
          <a:bodyPr wrap="square" lIns="0" tIns="0" rIns="0" bIns="0" rtlCol="0" anchor="ctr"/>
          <a:lstStyle/>
          <a:p>
            <a:pPr indent="0" marL="0">
              <a:lnSpc>
                <a:spcPts val="1600"/>
              </a:lnSpc>
              <a:buNone/>
            </a:pPr>
            <a:r>
              <a:rPr lang="en-US" sz="1200" dirty="0">
                <a:solidFill>
                  <a:srgbClr val="4A5468"/>
                </a:solidFill>
                <a:latin typeface="Calibri" pitchFamily="34" charset="0"/>
                <a:ea typeface="Calibri" pitchFamily="34" charset="-122"/>
                <a:cs typeface="Calibri" pitchFamily="34" charset="-120"/>
              </a:rPr>
              <a:t>Effets fragiles, liés au maintien du lien.</a:t>
            </a:r>
            <a:endParaRPr lang="en-US" sz="1200" dirty="0"/>
          </a:p>
        </p:txBody>
      </p:sp>
      <p:sp>
        <p:nvSpPr>
          <p:cNvPr id="27" name="Text 25"/>
          <p:cNvSpPr/>
          <p:nvPr/>
        </p:nvSpPr>
        <p:spPr>
          <a:xfrm>
            <a:off x="7635240" y="5193792"/>
            <a:ext cx="3657600" cy="237744"/>
          </a:xfrm>
          <a:prstGeom prst="rect">
            <a:avLst/>
          </a:prstGeom>
          <a:noFill/>
          <a:ln/>
        </p:spPr>
        <p:txBody>
          <a:bodyPr wrap="square" lIns="0" tIns="0" rIns="0" bIns="0" rtlCol="0" anchor="ctr"/>
          <a:lstStyle/>
          <a:p>
            <a:pPr indent="0" marL="0">
              <a:buNone/>
            </a:pPr>
            <a:r>
              <a:rPr lang="en-US" sz="1050" i="1" dirty="0">
                <a:solidFill>
                  <a:srgbClr val="8A93A5"/>
                </a:solidFill>
                <a:latin typeface="Calibri" pitchFamily="34" charset="0"/>
                <a:ea typeface="Calibri" pitchFamily="34" charset="-122"/>
                <a:cs typeface="Calibri" pitchFamily="34" charset="-120"/>
              </a:rPr>
              <a:t>Davis &amp; Brazil, 2016</a:t>
            </a:r>
            <a:endParaRPr lang="en-US" sz="1050" dirty="0"/>
          </a:p>
        </p:txBody>
      </p:sp>
      <p:sp>
        <p:nvSpPr>
          <p:cNvPr id="28" name="Shape 26"/>
          <p:cNvSpPr/>
          <p:nvPr/>
        </p:nvSpPr>
        <p:spPr>
          <a:xfrm>
            <a:off x="6583680" y="2176272"/>
            <a:ext cx="749808" cy="749808"/>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29" name="Image 0" descr="preencoded.png">    </p:cNvPr>
          <p:cNvPicPr>
            <a:picLocks noChangeAspect="1"/>
          </p:cNvPicPr>
          <p:nvPr/>
        </p:nvPicPr>
        <p:blipFill>
          <a:blip r:embed="rId1"/>
          <a:stretch>
            <a:fillRect/>
          </a:stretch>
        </p:blipFill>
        <p:spPr>
          <a:xfrm>
            <a:off x="6786128" y="2378720"/>
            <a:ext cx="344912" cy="344912"/>
          </a:xfrm>
          <a:prstGeom prst="rect">
            <a:avLst/>
          </a:prstGeom>
        </p:spPr>
      </p:pic>
      <p:sp>
        <p:nvSpPr>
          <p:cNvPr id="30" name="Shape 27"/>
          <p:cNvSpPr/>
          <p:nvPr/>
        </p:nvSpPr>
        <p:spPr>
          <a:xfrm>
            <a:off x="6583680" y="3383280"/>
            <a:ext cx="749808" cy="749808"/>
          </a:xfrm>
          <a:prstGeom prst="ellipse">
            <a:avLst/>
          </a:prstGeom>
          <a:solidFill>
            <a:srgbClr val="F6ECDC"/>
          </a:solidFill>
          <a:ln w="15875">
            <a:solidFill>
              <a:srgbClr val="ECD5B0"/>
            </a:solidFill>
            <a:prstDash val="solid"/>
          </a:ln>
          <a:effectLst>
            <a:outerShdw sx="100000" sy="100000" kx="0" ky="0" algn="bl" rotWithShape="0" blurRad="127000" dist="25400" dir="5400000">
              <a:srgbClr val="1E2B4A">
                <a:alpha val="8000"/>
              </a:srgbClr>
            </a:outerShdw>
          </a:effectLst>
        </p:spPr>
      </p:sp>
      <p:pic>
        <p:nvPicPr>
          <p:cNvPr id="31" name="Image 1" descr="preencoded.png">    </p:cNvPr>
          <p:cNvPicPr>
            <a:picLocks noChangeAspect="1"/>
          </p:cNvPicPr>
          <p:nvPr/>
        </p:nvPicPr>
        <p:blipFill>
          <a:blip r:embed="rId2"/>
          <a:stretch>
            <a:fillRect/>
          </a:stretch>
        </p:blipFill>
        <p:spPr>
          <a:xfrm>
            <a:off x="6786128" y="3585728"/>
            <a:ext cx="344912" cy="344912"/>
          </a:xfrm>
          <a:prstGeom prst="rect">
            <a:avLst/>
          </a:prstGeom>
        </p:spPr>
      </p:pic>
      <p:sp>
        <p:nvSpPr>
          <p:cNvPr id="32" name="Shape 28"/>
          <p:cNvSpPr/>
          <p:nvPr/>
        </p:nvSpPr>
        <p:spPr>
          <a:xfrm>
            <a:off x="6583680" y="4590288"/>
            <a:ext cx="749808" cy="749808"/>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33" name="Image 2" descr="preencoded.png">    </p:cNvPr>
          <p:cNvPicPr>
            <a:picLocks noChangeAspect="1"/>
          </p:cNvPicPr>
          <p:nvPr/>
        </p:nvPicPr>
        <p:blipFill>
          <a:blip r:embed="rId3"/>
          <a:stretch>
            <a:fillRect/>
          </a:stretch>
        </p:blipFill>
        <p:spPr>
          <a:xfrm>
            <a:off x="6786128" y="4792736"/>
            <a:ext cx="344912" cy="344912"/>
          </a:xfrm>
          <a:prstGeom prst="rect">
            <a:avLst/>
          </a:prstGeom>
        </p:spPr>
      </p:pic>
      <p:sp>
        <p:nvSpPr>
          <p:cNvPr id="34" name="Text 29"/>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8</a:t>
            </a:r>
            <a:endParaRPr lang="en-US" sz="950" dirty="0"/>
          </a:p>
        </p:txBody>
      </p:sp>
      <p:pic>
        <p:nvPicPr>
          <p:cNvPr id="35" name="Image 3" descr="logos/logo_ensae_new.png">    </p:cNvPr>
          <p:cNvPicPr>
            <a:picLocks noChangeAspect="1"/>
          </p:cNvPicPr>
          <p:nvPr/>
        </p:nvPicPr>
        <p:blipFill>
          <a:blip r:embed="rId4"/>
          <a:stretch>
            <a:fillRect/>
          </a:stretch>
        </p:blipFill>
        <p:spPr>
          <a:xfrm>
            <a:off x="11384280" y="6355080"/>
            <a:ext cx="384048" cy="3840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13D"/>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24365E"/>
          </a:solidFill>
          <a:ln/>
        </p:spPr>
      </p:sp>
      <p:sp>
        <p:nvSpPr>
          <p:cNvPr id="3" name="Shape 1"/>
          <p:cNvSpPr/>
          <p:nvPr/>
        </p:nvSpPr>
        <p:spPr>
          <a:xfrm>
            <a:off x="-1463040" y="4389120"/>
            <a:ext cx="4023360" cy="4023360"/>
          </a:xfrm>
          <a:prstGeom prst="ellipse">
            <a:avLst/>
          </a:prstGeom>
          <a:solidFill>
            <a:srgbClr val="24365E"/>
          </a:solidFill>
          <a:ln/>
        </p:spPr>
      </p:sp>
      <p:sp>
        <p:nvSpPr>
          <p:cNvPr id="4" name="Text 2"/>
          <p:cNvSpPr/>
          <p:nvPr/>
        </p:nvSpPr>
        <p:spPr>
          <a:xfrm>
            <a:off x="1005840" y="2231136"/>
            <a:ext cx="1280160" cy="1207008"/>
          </a:xfrm>
          <a:prstGeom prst="rect">
            <a:avLst/>
          </a:prstGeom>
          <a:noFill/>
          <a:ln/>
        </p:spPr>
        <p:txBody>
          <a:bodyPr wrap="square" lIns="0" tIns="0" rIns="0" bIns="0" rtlCol="0" anchor="ctr"/>
          <a:lstStyle/>
          <a:p>
            <a:pPr algn="l" indent="0" marL="0">
              <a:buNone/>
            </a:pPr>
            <a:r>
              <a:rPr lang="en-US" sz="7200" b="1" dirty="0">
                <a:solidFill>
                  <a:srgbClr val="D96F2B"/>
                </a:solidFill>
                <a:latin typeface="Calibri" pitchFamily="34" charset="0"/>
                <a:ea typeface="Calibri" pitchFamily="34" charset="-122"/>
                <a:cs typeface="Calibri" pitchFamily="34" charset="-120"/>
              </a:rPr>
              <a:t>03</a:t>
            </a:r>
            <a:endParaRPr lang="en-US" sz="7200" dirty="0"/>
          </a:p>
        </p:txBody>
      </p:sp>
      <p:sp>
        <p:nvSpPr>
          <p:cNvPr id="5" name="Text 3"/>
          <p:cNvSpPr/>
          <p:nvPr/>
        </p:nvSpPr>
        <p:spPr>
          <a:xfrm>
            <a:off x="2377440" y="2395728"/>
            <a:ext cx="86868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Cadre méthodologique</a:t>
            </a:r>
            <a:endParaRPr lang="en-US" sz="3400" dirty="0"/>
          </a:p>
        </p:txBody>
      </p:sp>
      <p:sp>
        <p:nvSpPr>
          <p:cNvPr id="6" name="Text 4"/>
          <p:cNvSpPr/>
          <p:nvPr/>
        </p:nvSpPr>
        <p:spPr>
          <a:xfrm>
            <a:off x="2423160" y="3273552"/>
            <a:ext cx="8229600" cy="457200"/>
          </a:xfrm>
          <a:prstGeom prst="rect">
            <a:avLst/>
          </a:prstGeom>
          <a:noFill/>
          <a:ln/>
        </p:spPr>
        <p:txBody>
          <a:bodyPr wrap="square" lIns="0" tIns="0" rIns="0" bIns="0" rtlCol="0" anchor="t"/>
          <a:lstStyle/>
          <a:p>
            <a:pPr indent="0" marL="0">
              <a:lnSpc>
                <a:spcPts val="1800"/>
              </a:lnSpc>
              <a:buNone/>
            </a:pPr>
            <a:r>
              <a:rPr lang="en-US" sz="1400" dirty="0">
                <a:solidFill>
                  <a:srgbClr val="AFC0DA"/>
                </a:solidFill>
                <a:latin typeface="Calibri" pitchFamily="34" charset="0"/>
                <a:ea typeface="Calibri" pitchFamily="34" charset="-122"/>
                <a:cs typeface="Calibri" pitchFamily="34" charset="-120"/>
              </a:rPr>
              <a:t>Mesurer la pauvreté par l'approche MODA, identifier l'effet par PSM et double différence.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Mesurer la pauvreté de l'enfant, l'approche MODA</a:t>
            </a:r>
            <a:endParaRPr lang="en-US" sz="2700" dirty="0"/>
          </a:p>
        </p:txBody>
      </p:sp>
      <p:sp>
        <p:nvSpPr>
          <p:cNvPr id="3" name="Text 1"/>
          <p:cNvSpPr/>
          <p:nvPr/>
        </p:nvSpPr>
        <p:spPr>
          <a:xfrm>
            <a:off x="548640" y="896112"/>
            <a:ext cx="11064240" cy="475488"/>
          </a:xfrm>
          <a:prstGeom prst="rect">
            <a:avLst/>
          </a:prstGeom>
          <a:noFill/>
          <a:ln/>
        </p:spPr>
        <p:txBody>
          <a:bodyPr wrap="square" lIns="0" tIns="0" rIns="0" bIns="0" rtlCol="0" anchor="t"/>
          <a:lstStyle/>
          <a:p>
            <a:pPr indent="0" marL="0">
              <a:lnSpc>
                <a:spcPts val="1700"/>
              </a:lnSpc>
              <a:buNone/>
            </a:pPr>
            <a:r>
              <a:rPr lang="en-US" sz="1300" dirty="0">
                <a:solidFill>
                  <a:srgbClr val="4A5468"/>
                </a:solidFill>
                <a:latin typeface="Calibri" pitchFamily="34" charset="0"/>
                <a:ea typeface="Calibri" pitchFamily="34" charset="-122"/>
                <a:cs typeface="Calibri" pitchFamily="34" charset="-120"/>
              </a:rPr>
              <a:t>Sept dimensions, 14 indicateurs, trois groupes d'âge. Un enfant est pauvre s'il est privé dans au moins quatre dimensions.</a:t>
            </a:r>
            <a:endParaRPr lang="en-US" sz="1300" dirty="0"/>
          </a:p>
        </p:txBody>
      </p:sp>
      <p:sp>
        <p:nvSpPr>
          <p:cNvPr id="4" name="Shape 2"/>
          <p:cNvSpPr/>
          <p:nvPr/>
        </p:nvSpPr>
        <p:spPr>
          <a:xfrm>
            <a:off x="658368" y="1783080"/>
            <a:ext cx="1481328" cy="1783080"/>
          </a:xfrm>
          <a:prstGeom prst="roundRect">
            <a:avLst>
              <a:gd name="adj" fmla="val 3704"/>
            </a:avLst>
          </a:prstGeom>
          <a:solidFill>
            <a:srgbClr val="F4F5FA"/>
          </a:solidFill>
          <a:ln/>
          <a:effectLst>
            <a:outerShdw sx="100000" sy="100000" kx="0" ky="0" algn="bl" rotWithShape="0" blurRad="127000" dist="25400" dir="5400000">
              <a:srgbClr val="1E2B4A">
                <a:alpha val="10000"/>
              </a:srgbClr>
            </a:outerShdw>
          </a:effectLst>
        </p:spPr>
      </p:sp>
      <p:sp>
        <p:nvSpPr>
          <p:cNvPr id="5" name="Shape 3"/>
          <p:cNvSpPr/>
          <p:nvPr/>
        </p:nvSpPr>
        <p:spPr>
          <a:xfrm>
            <a:off x="987552" y="2011680"/>
            <a:ext cx="822960" cy="822960"/>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6" name="Image 0" descr="preencoded.png">    </p:cNvPr>
          <p:cNvPicPr>
            <a:picLocks noChangeAspect="1"/>
          </p:cNvPicPr>
          <p:nvPr/>
        </p:nvPicPr>
        <p:blipFill>
          <a:blip r:embed="rId1"/>
          <a:stretch>
            <a:fillRect/>
          </a:stretch>
        </p:blipFill>
        <p:spPr>
          <a:xfrm>
            <a:off x="1209751" y="2233879"/>
            <a:ext cx="378562" cy="378562"/>
          </a:xfrm>
          <a:prstGeom prst="rect">
            <a:avLst/>
          </a:prstGeom>
        </p:spPr>
      </p:pic>
      <p:sp>
        <p:nvSpPr>
          <p:cNvPr id="7" name="Text 4"/>
          <p:cNvSpPr/>
          <p:nvPr/>
        </p:nvSpPr>
        <p:spPr>
          <a:xfrm>
            <a:off x="704088" y="2962656"/>
            <a:ext cx="1389888" cy="384048"/>
          </a:xfrm>
          <a:prstGeom prst="rect">
            <a:avLst/>
          </a:prstGeom>
          <a:noFill/>
          <a:ln/>
        </p:spPr>
        <p:txBody>
          <a:bodyPr wrap="square" lIns="0" tIns="0" rIns="0" bIns="0" rtlCol="0" anchor="t"/>
          <a:lstStyle/>
          <a:p>
            <a:pPr algn="ctr" indent="0" marL="0">
              <a:lnSpc>
                <a:spcPts val="1400"/>
              </a:lnSpc>
              <a:buNone/>
            </a:pPr>
            <a:r>
              <a:rPr lang="en-US" sz="1150" b="1" dirty="0">
                <a:solidFill>
                  <a:srgbClr val="1D2433"/>
                </a:solidFill>
                <a:latin typeface="Calibri" pitchFamily="34" charset="0"/>
                <a:ea typeface="Calibri" pitchFamily="34" charset="-122"/>
                <a:cs typeface="Calibri" pitchFamily="34" charset="-120"/>
              </a:rPr>
              <a:t>Assainissement</a:t>
            </a:r>
            <a:endParaRPr lang="en-US" sz="1150" dirty="0"/>
          </a:p>
        </p:txBody>
      </p:sp>
      <p:sp>
        <p:nvSpPr>
          <p:cNvPr id="8" name="Shape 5"/>
          <p:cNvSpPr/>
          <p:nvPr/>
        </p:nvSpPr>
        <p:spPr>
          <a:xfrm>
            <a:off x="2221992" y="1783080"/>
            <a:ext cx="1481328" cy="1783080"/>
          </a:xfrm>
          <a:prstGeom prst="roundRect">
            <a:avLst>
              <a:gd name="adj" fmla="val 3704"/>
            </a:avLst>
          </a:prstGeom>
          <a:solidFill>
            <a:srgbClr val="F4F5FA"/>
          </a:solidFill>
          <a:ln/>
          <a:effectLst>
            <a:outerShdw sx="100000" sy="100000" kx="0" ky="0" algn="bl" rotWithShape="0" blurRad="127000" dist="25400" dir="5400000">
              <a:srgbClr val="1E2B4A">
                <a:alpha val="10000"/>
              </a:srgbClr>
            </a:outerShdw>
          </a:effectLst>
        </p:spPr>
      </p:sp>
      <p:sp>
        <p:nvSpPr>
          <p:cNvPr id="9" name="Shape 6"/>
          <p:cNvSpPr/>
          <p:nvPr/>
        </p:nvSpPr>
        <p:spPr>
          <a:xfrm>
            <a:off x="2551176" y="2011680"/>
            <a:ext cx="822960" cy="822960"/>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0" name="Image 1" descr="preencoded.png">    </p:cNvPr>
          <p:cNvPicPr>
            <a:picLocks noChangeAspect="1"/>
          </p:cNvPicPr>
          <p:nvPr/>
        </p:nvPicPr>
        <p:blipFill>
          <a:blip r:embed="rId2"/>
          <a:stretch>
            <a:fillRect/>
          </a:stretch>
        </p:blipFill>
        <p:spPr>
          <a:xfrm>
            <a:off x="2773375" y="2233879"/>
            <a:ext cx="378562" cy="378562"/>
          </a:xfrm>
          <a:prstGeom prst="rect">
            <a:avLst/>
          </a:prstGeom>
        </p:spPr>
      </p:pic>
      <p:sp>
        <p:nvSpPr>
          <p:cNvPr id="11" name="Text 7"/>
          <p:cNvSpPr/>
          <p:nvPr/>
        </p:nvSpPr>
        <p:spPr>
          <a:xfrm>
            <a:off x="2267712" y="2962656"/>
            <a:ext cx="1389888" cy="384048"/>
          </a:xfrm>
          <a:prstGeom prst="rect">
            <a:avLst/>
          </a:prstGeom>
          <a:noFill/>
          <a:ln/>
        </p:spPr>
        <p:txBody>
          <a:bodyPr wrap="square" lIns="0" tIns="0" rIns="0" bIns="0" rtlCol="0" anchor="t"/>
          <a:lstStyle/>
          <a:p>
            <a:pPr algn="ctr" indent="0" marL="0">
              <a:lnSpc>
                <a:spcPts val="1400"/>
              </a:lnSpc>
              <a:buNone/>
            </a:pPr>
            <a:r>
              <a:rPr lang="en-US" sz="1150" b="1" dirty="0">
                <a:solidFill>
                  <a:srgbClr val="1D2433"/>
                </a:solidFill>
                <a:latin typeface="Calibri" pitchFamily="34" charset="0"/>
                <a:ea typeface="Calibri" pitchFamily="34" charset="-122"/>
                <a:cs typeface="Calibri" pitchFamily="34" charset="-120"/>
              </a:rPr>
              <a:t>Eau</a:t>
            </a:r>
            <a:endParaRPr lang="en-US" sz="1150" dirty="0"/>
          </a:p>
        </p:txBody>
      </p:sp>
      <p:sp>
        <p:nvSpPr>
          <p:cNvPr id="12" name="Shape 8"/>
          <p:cNvSpPr/>
          <p:nvPr/>
        </p:nvSpPr>
        <p:spPr>
          <a:xfrm>
            <a:off x="3785616" y="1783080"/>
            <a:ext cx="1481328" cy="1783080"/>
          </a:xfrm>
          <a:prstGeom prst="roundRect">
            <a:avLst>
              <a:gd name="adj" fmla="val 3704"/>
            </a:avLst>
          </a:prstGeom>
          <a:solidFill>
            <a:srgbClr val="F4F5FA"/>
          </a:solidFill>
          <a:ln/>
          <a:effectLst>
            <a:outerShdw sx="100000" sy="100000" kx="0" ky="0" algn="bl" rotWithShape="0" blurRad="127000" dist="25400" dir="5400000">
              <a:srgbClr val="1E2B4A">
                <a:alpha val="10000"/>
              </a:srgbClr>
            </a:outerShdw>
          </a:effectLst>
        </p:spPr>
      </p:sp>
      <p:sp>
        <p:nvSpPr>
          <p:cNvPr id="13" name="Shape 9"/>
          <p:cNvSpPr/>
          <p:nvPr/>
        </p:nvSpPr>
        <p:spPr>
          <a:xfrm>
            <a:off x="4114800" y="2011680"/>
            <a:ext cx="822960" cy="822960"/>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14" name="Image 2" descr="preencoded.png">    </p:cNvPr>
          <p:cNvPicPr>
            <a:picLocks noChangeAspect="1"/>
          </p:cNvPicPr>
          <p:nvPr/>
        </p:nvPicPr>
        <p:blipFill>
          <a:blip r:embed="rId3"/>
          <a:stretch>
            <a:fillRect/>
          </a:stretch>
        </p:blipFill>
        <p:spPr>
          <a:xfrm>
            <a:off x="4336999" y="2233879"/>
            <a:ext cx="378562" cy="378562"/>
          </a:xfrm>
          <a:prstGeom prst="rect">
            <a:avLst/>
          </a:prstGeom>
        </p:spPr>
      </p:pic>
      <p:sp>
        <p:nvSpPr>
          <p:cNvPr id="15" name="Text 10"/>
          <p:cNvSpPr/>
          <p:nvPr/>
        </p:nvSpPr>
        <p:spPr>
          <a:xfrm>
            <a:off x="3831336" y="2962656"/>
            <a:ext cx="1389888" cy="384048"/>
          </a:xfrm>
          <a:prstGeom prst="rect">
            <a:avLst/>
          </a:prstGeom>
          <a:noFill/>
          <a:ln/>
        </p:spPr>
        <p:txBody>
          <a:bodyPr wrap="square" lIns="0" tIns="0" rIns="0" bIns="0" rtlCol="0" anchor="t"/>
          <a:lstStyle/>
          <a:p>
            <a:pPr algn="ctr" indent="0" marL="0">
              <a:lnSpc>
                <a:spcPts val="1400"/>
              </a:lnSpc>
              <a:buNone/>
            </a:pPr>
            <a:r>
              <a:rPr lang="en-US" sz="1150" b="1" dirty="0">
                <a:solidFill>
                  <a:srgbClr val="1D2433"/>
                </a:solidFill>
                <a:latin typeface="Calibri" pitchFamily="34" charset="0"/>
                <a:ea typeface="Calibri" pitchFamily="34" charset="-122"/>
                <a:cs typeface="Calibri" pitchFamily="34" charset="-120"/>
              </a:rPr>
              <a:t>Logement</a:t>
            </a:r>
            <a:endParaRPr lang="en-US" sz="1150" dirty="0"/>
          </a:p>
        </p:txBody>
      </p:sp>
      <p:sp>
        <p:nvSpPr>
          <p:cNvPr id="16" name="Shape 11"/>
          <p:cNvSpPr/>
          <p:nvPr/>
        </p:nvSpPr>
        <p:spPr>
          <a:xfrm>
            <a:off x="5349240" y="1783080"/>
            <a:ext cx="1481328" cy="1783080"/>
          </a:xfrm>
          <a:prstGeom prst="roundRect">
            <a:avLst>
              <a:gd name="adj" fmla="val 3704"/>
            </a:avLst>
          </a:prstGeom>
          <a:solidFill>
            <a:srgbClr val="F4F5FA"/>
          </a:solidFill>
          <a:ln/>
          <a:effectLst>
            <a:outerShdw sx="100000" sy="100000" kx="0" ky="0" algn="bl" rotWithShape="0" blurRad="127000" dist="25400" dir="5400000">
              <a:srgbClr val="1E2B4A">
                <a:alpha val="10000"/>
              </a:srgbClr>
            </a:outerShdw>
          </a:effectLst>
        </p:spPr>
      </p:sp>
      <p:sp>
        <p:nvSpPr>
          <p:cNvPr id="17" name="Shape 12"/>
          <p:cNvSpPr/>
          <p:nvPr/>
        </p:nvSpPr>
        <p:spPr>
          <a:xfrm>
            <a:off x="5678424" y="2011680"/>
            <a:ext cx="822960" cy="822960"/>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18" name="Image 3" descr="preencoded.png">    </p:cNvPr>
          <p:cNvPicPr>
            <a:picLocks noChangeAspect="1"/>
          </p:cNvPicPr>
          <p:nvPr/>
        </p:nvPicPr>
        <p:blipFill>
          <a:blip r:embed="rId4"/>
          <a:stretch>
            <a:fillRect/>
          </a:stretch>
        </p:blipFill>
        <p:spPr>
          <a:xfrm>
            <a:off x="5900623" y="2233879"/>
            <a:ext cx="378562" cy="378562"/>
          </a:xfrm>
          <a:prstGeom prst="rect">
            <a:avLst/>
          </a:prstGeom>
        </p:spPr>
      </p:pic>
      <p:sp>
        <p:nvSpPr>
          <p:cNvPr id="19" name="Text 13"/>
          <p:cNvSpPr/>
          <p:nvPr/>
        </p:nvSpPr>
        <p:spPr>
          <a:xfrm>
            <a:off x="5394960" y="2962656"/>
            <a:ext cx="1389888" cy="384048"/>
          </a:xfrm>
          <a:prstGeom prst="rect">
            <a:avLst/>
          </a:prstGeom>
          <a:noFill/>
          <a:ln/>
        </p:spPr>
        <p:txBody>
          <a:bodyPr wrap="square" lIns="0" tIns="0" rIns="0" bIns="0" rtlCol="0" anchor="t"/>
          <a:lstStyle/>
          <a:p>
            <a:pPr algn="ctr" indent="0" marL="0">
              <a:lnSpc>
                <a:spcPts val="1400"/>
              </a:lnSpc>
              <a:buNone/>
            </a:pPr>
            <a:r>
              <a:rPr lang="en-US" sz="1150" b="1" dirty="0">
                <a:solidFill>
                  <a:srgbClr val="1D2433"/>
                </a:solidFill>
                <a:latin typeface="Calibri" pitchFamily="34" charset="0"/>
                <a:ea typeface="Calibri" pitchFamily="34" charset="-122"/>
                <a:cs typeface="Calibri" pitchFamily="34" charset="-120"/>
              </a:rPr>
              <a:t>Nutrition</a:t>
            </a:r>
            <a:endParaRPr lang="en-US" sz="1150" dirty="0"/>
          </a:p>
        </p:txBody>
      </p:sp>
      <p:sp>
        <p:nvSpPr>
          <p:cNvPr id="20" name="Shape 14"/>
          <p:cNvSpPr/>
          <p:nvPr/>
        </p:nvSpPr>
        <p:spPr>
          <a:xfrm>
            <a:off x="6912864" y="1783080"/>
            <a:ext cx="1481328" cy="1783080"/>
          </a:xfrm>
          <a:prstGeom prst="roundRect">
            <a:avLst>
              <a:gd name="adj" fmla="val 3704"/>
            </a:avLst>
          </a:prstGeom>
          <a:solidFill>
            <a:srgbClr val="F4F5FA"/>
          </a:solidFill>
          <a:ln/>
          <a:effectLst>
            <a:outerShdw sx="100000" sy="100000" kx="0" ky="0" algn="bl" rotWithShape="0" blurRad="127000" dist="25400" dir="5400000">
              <a:srgbClr val="1E2B4A">
                <a:alpha val="10000"/>
              </a:srgbClr>
            </a:outerShdw>
          </a:effectLst>
        </p:spPr>
      </p:sp>
      <p:sp>
        <p:nvSpPr>
          <p:cNvPr id="21" name="Shape 15"/>
          <p:cNvSpPr/>
          <p:nvPr/>
        </p:nvSpPr>
        <p:spPr>
          <a:xfrm>
            <a:off x="7242048" y="2011680"/>
            <a:ext cx="822960" cy="822960"/>
          </a:xfrm>
          <a:prstGeom prst="ellipse">
            <a:avLst/>
          </a:prstGeom>
          <a:solidFill>
            <a:srgbClr val="F6ECDC"/>
          </a:solidFill>
          <a:ln w="15875">
            <a:solidFill>
              <a:srgbClr val="ECD5B0"/>
            </a:solidFill>
            <a:prstDash val="solid"/>
          </a:ln>
          <a:effectLst>
            <a:outerShdw sx="100000" sy="100000" kx="0" ky="0" algn="bl" rotWithShape="0" blurRad="127000" dist="25400" dir="5400000">
              <a:srgbClr val="1E2B4A">
                <a:alpha val="8000"/>
              </a:srgbClr>
            </a:outerShdw>
          </a:effectLst>
        </p:spPr>
      </p:sp>
      <p:pic>
        <p:nvPicPr>
          <p:cNvPr id="22" name="Image 4" descr="preencoded.png">    </p:cNvPr>
          <p:cNvPicPr>
            <a:picLocks noChangeAspect="1"/>
          </p:cNvPicPr>
          <p:nvPr/>
        </p:nvPicPr>
        <p:blipFill>
          <a:blip r:embed="rId5"/>
          <a:stretch>
            <a:fillRect/>
          </a:stretch>
        </p:blipFill>
        <p:spPr>
          <a:xfrm>
            <a:off x="7464247" y="2233879"/>
            <a:ext cx="378562" cy="378562"/>
          </a:xfrm>
          <a:prstGeom prst="rect">
            <a:avLst/>
          </a:prstGeom>
        </p:spPr>
      </p:pic>
      <p:sp>
        <p:nvSpPr>
          <p:cNvPr id="23" name="Text 16"/>
          <p:cNvSpPr/>
          <p:nvPr/>
        </p:nvSpPr>
        <p:spPr>
          <a:xfrm>
            <a:off x="6958584" y="2962656"/>
            <a:ext cx="1389888" cy="384048"/>
          </a:xfrm>
          <a:prstGeom prst="rect">
            <a:avLst/>
          </a:prstGeom>
          <a:noFill/>
          <a:ln/>
        </p:spPr>
        <p:txBody>
          <a:bodyPr wrap="square" lIns="0" tIns="0" rIns="0" bIns="0" rtlCol="0" anchor="t"/>
          <a:lstStyle/>
          <a:p>
            <a:pPr algn="ctr" indent="0" marL="0">
              <a:lnSpc>
                <a:spcPts val="1400"/>
              </a:lnSpc>
              <a:buNone/>
            </a:pPr>
            <a:r>
              <a:rPr lang="en-US" sz="1150" b="1" dirty="0">
                <a:solidFill>
                  <a:srgbClr val="1D2433"/>
                </a:solidFill>
                <a:latin typeface="Calibri" pitchFamily="34" charset="0"/>
                <a:ea typeface="Calibri" pitchFamily="34" charset="-122"/>
                <a:cs typeface="Calibri" pitchFamily="34" charset="-120"/>
              </a:rPr>
              <a:t>Santé</a:t>
            </a:r>
            <a:endParaRPr lang="en-US" sz="1150" dirty="0"/>
          </a:p>
        </p:txBody>
      </p:sp>
      <p:sp>
        <p:nvSpPr>
          <p:cNvPr id="24" name="Shape 17"/>
          <p:cNvSpPr/>
          <p:nvPr/>
        </p:nvSpPr>
        <p:spPr>
          <a:xfrm>
            <a:off x="8476488" y="1783080"/>
            <a:ext cx="1481328" cy="1783080"/>
          </a:xfrm>
          <a:prstGeom prst="roundRect">
            <a:avLst>
              <a:gd name="adj" fmla="val 3704"/>
            </a:avLst>
          </a:prstGeom>
          <a:solidFill>
            <a:srgbClr val="F4F5FA"/>
          </a:solidFill>
          <a:ln/>
          <a:effectLst>
            <a:outerShdw sx="100000" sy="100000" kx="0" ky="0" algn="bl" rotWithShape="0" blurRad="127000" dist="25400" dir="5400000">
              <a:srgbClr val="1E2B4A">
                <a:alpha val="10000"/>
              </a:srgbClr>
            </a:outerShdw>
          </a:effectLst>
        </p:spPr>
      </p:sp>
      <p:sp>
        <p:nvSpPr>
          <p:cNvPr id="25" name="Shape 18"/>
          <p:cNvSpPr/>
          <p:nvPr/>
        </p:nvSpPr>
        <p:spPr>
          <a:xfrm>
            <a:off x="8805672" y="2011680"/>
            <a:ext cx="822960" cy="822960"/>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26" name="Image 5" descr="preencoded.png">    </p:cNvPr>
          <p:cNvPicPr>
            <a:picLocks noChangeAspect="1"/>
          </p:cNvPicPr>
          <p:nvPr/>
        </p:nvPicPr>
        <p:blipFill>
          <a:blip r:embed="rId6"/>
          <a:stretch>
            <a:fillRect/>
          </a:stretch>
        </p:blipFill>
        <p:spPr>
          <a:xfrm>
            <a:off x="9027871" y="2233879"/>
            <a:ext cx="378562" cy="378562"/>
          </a:xfrm>
          <a:prstGeom prst="rect">
            <a:avLst/>
          </a:prstGeom>
        </p:spPr>
      </p:pic>
      <p:sp>
        <p:nvSpPr>
          <p:cNvPr id="27" name="Text 19"/>
          <p:cNvSpPr/>
          <p:nvPr/>
        </p:nvSpPr>
        <p:spPr>
          <a:xfrm>
            <a:off x="8522208" y="2962656"/>
            <a:ext cx="1389888" cy="384048"/>
          </a:xfrm>
          <a:prstGeom prst="rect">
            <a:avLst/>
          </a:prstGeom>
          <a:noFill/>
          <a:ln/>
        </p:spPr>
        <p:txBody>
          <a:bodyPr wrap="square" lIns="0" tIns="0" rIns="0" bIns="0" rtlCol="0" anchor="t"/>
          <a:lstStyle/>
          <a:p>
            <a:pPr algn="ctr" indent="0" marL="0">
              <a:lnSpc>
                <a:spcPts val="1400"/>
              </a:lnSpc>
              <a:buNone/>
            </a:pPr>
            <a:r>
              <a:rPr lang="en-US" sz="1150" b="1" dirty="0">
                <a:solidFill>
                  <a:srgbClr val="1D2433"/>
                </a:solidFill>
                <a:latin typeface="Calibri" pitchFamily="34" charset="0"/>
                <a:ea typeface="Calibri" pitchFamily="34" charset="-122"/>
                <a:cs typeface="Calibri" pitchFamily="34" charset="-120"/>
              </a:rPr>
              <a:t>Protection</a:t>
            </a:r>
            <a:endParaRPr lang="en-US" sz="1150" dirty="0"/>
          </a:p>
        </p:txBody>
      </p:sp>
      <p:sp>
        <p:nvSpPr>
          <p:cNvPr id="28" name="Shape 20"/>
          <p:cNvSpPr/>
          <p:nvPr/>
        </p:nvSpPr>
        <p:spPr>
          <a:xfrm>
            <a:off x="10040112" y="1783080"/>
            <a:ext cx="1481328" cy="1783080"/>
          </a:xfrm>
          <a:prstGeom prst="roundRect">
            <a:avLst>
              <a:gd name="adj" fmla="val 3704"/>
            </a:avLst>
          </a:prstGeom>
          <a:solidFill>
            <a:srgbClr val="F4F5FA"/>
          </a:solidFill>
          <a:ln/>
          <a:effectLst>
            <a:outerShdw sx="100000" sy="100000" kx="0" ky="0" algn="bl" rotWithShape="0" blurRad="127000" dist="25400" dir="5400000">
              <a:srgbClr val="1E2B4A">
                <a:alpha val="10000"/>
              </a:srgbClr>
            </a:outerShdw>
          </a:effectLst>
        </p:spPr>
      </p:sp>
      <p:sp>
        <p:nvSpPr>
          <p:cNvPr id="29" name="Shape 21"/>
          <p:cNvSpPr/>
          <p:nvPr/>
        </p:nvSpPr>
        <p:spPr>
          <a:xfrm>
            <a:off x="10369296" y="2011680"/>
            <a:ext cx="822960" cy="822960"/>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30" name="Image 6" descr="preencoded.png">    </p:cNvPr>
          <p:cNvPicPr>
            <a:picLocks noChangeAspect="1"/>
          </p:cNvPicPr>
          <p:nvPr/>
        </p:nvPicPr>
        <p:blipFill>
          <a:blip r:embed="rId7"/>
          <a:stretch>
            <a:fillRect/>
          </a:stretch>
        </p:blipFill>
        <p:spPr>
          <a:xfrm>
            <a:off x="10591495" y="2233879"/>
            <a:ext cx="378562" cy="378562"/>
          </a:xfrm>
          <a:prstGeom prst="rect">
            <a:avLst/>
          </a:prstGeom>
        </p:spPr>
      </p:pic>
      <p:sp>
        <p:nvSpPr>
          <p:cNvPr id="31" name="Text 22"/>
          <p:cNvSpPr/>
          <p:nvPr/>
        </p:nvSpPr>
        <p:spPr>
          <a:xfrm>
            <a:off x="10085832" y="2962656"/>
            <a:ext cx="1389888" cy="384048"/>
          </a:xfrm>
          <a:prstGeom prst="rect">
            <a:avLst/>
          </a:prstGeom>
          <a:noFill/>
          <a:ln/>
        </p:spPr>
        <p:txBody>
          <a:bodyPr wrap="square" lIns="0" tIns="0" rIns="0" bIns="0" rtlCol="0" anchor="t"/>
          <a:lstStyle/>
          <a:p>
            <a:pPr algn="ctr" indent="0" marL="0">
              <a:lnSpc>
                <a:spcPts val="1400"/>
              </a:lnSpc>
              <a:buNone/>
            </a:pPr>
            <a:r>
              <a:rPr lang="en-US" sz="1150" b="1" dirty="0">
                <a:solidFill>
                  <a:srgbClr val="1D2433"/>
                </a:solidFill>
                <a:latin typeface="Calibri" pitchFamily="34" charset="0"/>
                <a:ea typeface="Calibri" pitchFamily="34" charset="-122"/>
                <a:cs typeface="Calibri" pitchFamily="34" charset="-120"/>
              </a:rPr>
              <a:t>Éducation</a:t>
            </a:r>
            <a:endParaRPr lang="en-US" sz="1150" dirty="0"/>
          </a:p>
        </p:txBody>
      </p:sp>
      <p:sp>
        <p:nvSpPr>
          <p:cNvPr id="32" name="Shape 23"/>
          <p:cNvSpPr/>
          <p:nvPr/>
        </p:nvSpPr>
        <p:spPr>
          <a:xfrm>
            <a:off x="658368" y="3858768"/>
            <a:ext cx="5486400"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33" name="Text 24"/>
          <p:cNvSpPr/>
          <p:nvPr/>
        </p:nvSpPr>
        <p:spPr>
          <a:xfrm>
            <a:off x="960120" y="4069080"/>
            <a:ext cx="4937760" cy="310896"/>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Deux seuils, comme le veut l'approche</a:t>
            </a:r>
            <a:endParaRPr lang="en-US" sz="1450" dirty="0"/>
          </a:p>
        </p:txBody>
      </p:sp>
      <p:sp>
        <p:nvSpPr>
          <p:cNvPr id="34" name="Text 25"/>
          <p:cNvSpPr/>
          <p:nvPr/>
        </p:nvSpPr>
        <p:spPr>
          <a:xfrm>
            <a:off x="960120" y="4434840"/>
            <a:ext cx="4937760" cy="1005840"/>
          </a:xfrm>
          <a:prstGeom prst="rect">
            <a:avLst/>
          </a:prstGeom>
          <a:noFill/>
          <a:ln/>
        </p:spPr>
        <p:txBody>
          <a:bodyPr wrap="square" lIns="0" tIns="0" rIns="0" bIns="0" rtlCol="0" anchor="t"/>
          <a:lstStyle/>
          <a:p>
            <a:pPr indent="0" marL="0">
              <a:lnSpc>
                <a:spcPts val="1700"/>
              </a:lnSpc>
              <a:buNone/>
            </a:pPr>
            <a:r>
              <a:rPr lang="en-US" sz="1200" dirty="0">
                <a:solidFill>
                  <a:srgbClr val="4A5468"/>
                </a:solidFill>
                <a:latin typeface="Calibri" pitchFamily="34" charset="0"/>
                <a:ea typeface="Calibri" pitchFamily="34" charset="-122"/>
                <a:cs typeface="Calibri" pitchFamily="34" charset="-120"/>
              </a:rPr>
              <a:t>Intra-dimension, l'enfant est privé s'il l'est dans au moins un indicateur de la dimension.</a:t>
            </a:r>
            <a:endParaRPr lang="en-US" sz="1200" dirty="0"/>
          </a:p>
          <a:p>
            <a:pPr indent="0" marL="0">
              <a:lnSpc>
                <a:spcPts val="1700"/>
              </a:lnSpc>
              <a:buNone/>
            </a:pPr>
            <a:r>
              <a:rPr lang="en-US" sz="1200" dirty="0">
                <a:solidFill>
                  <a:srgbClr val="4A5468"/>
                </a:solidFill>
                <a:latin typeface="Calibri" pitchFamily="34" charset="0"/>
                <a:ea typeface="Calibri" pitchFamily="34" charset="-122"/>
                <a:cs typeface="Calibri" pitchFamily="34" charset="-120"/>
              </a:rPr>
              <a:t>Inter-dimensions, il est pauvre s'il cumule au moins quatre des sept dimensions.</a:t>
            </a:r>
            <a:endParaRPr lang="en-US" sz="1200" dirty="0"/>
          </a:p>
        </p:txBody>
      </p:sp>
      <p:sp>
        <p:nvSpPr>
          <p:cNvPr id="35" name="Shape 26"/>
          <p:cNvSpPr/>
          <p:nvPr/>
        </p:nvSpPr>
        <p:spPr>
          <a:xfrm>
            <a:off x="6355080" y="3858768"/>
            <a:ext cx="5193792"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36" name="Text 27"/>
          <p:cNvSpPr/>
          <p:nvPr/>
        </p:nvSpPr>
        <p:spPr>
          <a:xfrm>
            <a:off x="6656832" y="4069080"/>
            <a:ext cx="4617720" cy="310896"/>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Des indicateurs adaptés à l'âge</a:t>
            </a:r>
            <a:endParaRPr lang="en-US" sz="1450" dirty="0"/>
          </a:p>
        </p:txBody>
      </p:sp>
      <p:sp>
        <p:nvSpPr>
          <p:cNvPr id="37" name="Text 28"/>
          <p:cNvSpPr/>
          <p:nvPr/>
        </p:nvSpPr>
        <p:spPr>
          <a:xfrm>
            <a:off x="6656832" y="4480560"/>
            <a:ext cx="1463040" cy="274320"/>
          </a:xfrm>
          <a:prstGeom prst="rect">
            <a:avLst/>
          </a:prstGeom>
          <a:noFill/>
          <a:ln/>
        </p:spPr>
        <p:txBody>
          <a:bodyPr wrap="square" lIns="0" tIns="0" rIns="0" bIns="0" rtlCol="0" anchor="ctr"/>
          <a:lstStyle/>
          <a:p>
            <a:pPr algn="ctr" indent="0" marL="0">
              <a:buNone/>
            </a:pPr>
            <a:r>
              <a:rPr lang="en-US" sz="1250" b="1" dirty="0">
                <a:solidFill>
                  <a:srgbClr val="1D2433"/>
                </a:solidFill>
                <a:latin typeface="Calibri" pitchFamily="34" charset="0"/>
                <a:ea typeface="Calibri" pitchFamily="34" charset="-122"/>
                <a:cs typeface="Calibri" pitchFamily="34" charset="-120"/>
              </a:rPr>
              <a:t>0 à 4 ans</a:t>
            </a:r>
            <a:endParaRPr lang="en-US" sz="1250" dirty="0"/>
          </a:p>
        </p:txBody>
      </p:sp>
      <p:sp>
        <p:nvSpPr>
          <p:cNvPr id="38" name="Text 29"/>
          <p:cNvSpPr/>
          <p:nvPr/>
        </p:nvSpPr>
        <p:spPr>
          <a:xfrm>
            <a:off x="6656832" y="4773168"/>
            <a:ext cx="1463040" cy="274320"/>
          </a:xfrm>
          <a:prstGeom prst="rect">
            <a:avLst/>
          </a:prstGeom>
          <a:noFill/>
          <a:ln/>
        </p:spPr>
        <p:txBody>
          <a:bodyPr wrap="square" lIns="0" tIns="0" rIns="0" bIns="0" rtlCol="0" anchor="ctr"/>
          <a:lstStyle/>
          <a:p>
            <a:pPr algn="ctr" indent="0" marL="0">
              <a:buNone/>
            </a:pPr>
            <a:r>
              <a:rPr lang="en-US" sz="1150" dirty="0">
                <a:solidFill>
                  <a:srgbClr val="4A5468"/>
                </a:solidFill>
                <a:latin typeface="Calibri" pitchFamily="34" charset="0"/>
                <a:ea typeface="Calibri" pitchFamily="34" charset="-122"/>
                <a:cs typeface="Calibri" pitchFamily="34" charset="-120"/>
              </a:rPr>
              <a:t>11 indicateurs</a:t>
            </a:r>
            <a:endParaRPr lang="en-US" sz="1150" dirty="0"/>
          </a:p>
        </p:txBody>
      </p:sp>
      <p:sp>
        <p:nvSpPr>
          <p:cNvPr id="39" name="Text 30"/>
          <p:cNvSpPr/>
          <p:nvPr/>
        </p:nvSpPr>
        <p:spPr>
          <a:xfrm>
            <a:off x="8229600" y="4480560"/>
            <a:ext cx="1463040" cy="274320"/>
          </a:xfrm>
          <a:prstGeom prst="rect">
            <a:avLst/>
          </a:prstGeom>
          <a:noFill/>
          <a:ln/>
        </p:spPr>
        <p:txBody>
          <a:bodyPr wrap="square" lIns="0" tIns="0" rIns="0" bIns="0" rtlCol="0" anchor="ctr"/>
          <a:lstStyle/>
          <a:p>
            <a:pPr algn="ctr" indent="0" marL="0">
              <a:buNone/>
            </a:pPr>
            <a:r>
              <a:rPr lang="en-US" sz="1250" b="1" dirty="0">
                <a:solidFill>
                  <a:srgbClr val="1D2433"/>
                </a:solidFill>
                <a:latin typeface="Calibri" pitchFamily="34" charset="0"/>
                <a:ea typeface="Calibri" pitchFamily="34" charset="-122"/>
                <a:cs typeface="Calibri" pitchFamily="34" charset="-120"/>
              </a:rPr>
              <a:t>5 à 14 ans</a:t>
            </a:r>
            <a:endParaRPr lang="en-US" sz="1250" dirty="0"/>
          </a:p>
        </p:txBody>
      </p:sp>
      <p:sp>
        <p:nvSpPr>
          <p:cNvPr id="40" name="Text 31"/>
          <p:cNvSpPr/>
          <p:nvPr/>
        </p:nvSpPr>
        <p:spPr>
          <a:xfrm>
            <a:off x="8229600" y="4773168"/>
            <a:ext cx="1463040" cy="274320"/>
          </a:xfrm>
          <a:prstGeom prst="rect">
            <a:avLst/>
          </a:prstGeom>
          <a:noFill/>
          <a:ln/>
        </p:spPr>
        <p:txBody>
          <a:bodyPr wrap="square" lIns="0" tIns="0" rIns="0" bIns="0" rtlCol="0" anchor="ctr"/>
          <a:lstStyle/>
          <a:p>
            <a:pPr algn="ctr" indent="0" marL="0">
              <a:buNone/>
            </a:pPr>
            <a:r>
              <a:rPr lang="en-US" sz="1150" dirty="0">
                <a:solidFill>
                  <a:srgbClr val="4A5468"/>
                </a:solidFill>
                <a:latin typeface="Calibri" pitchFamily="34" charset="0"/>
                <a:ea typeface="Calibri" pitchFamily="34" charset="-122"/>
                <a:cs typeface="Calibri" pitchFamily="34" charset="-120"/>
              </a:rPr>
              <a:t>13 indicateurs</a:t>
            </a:r>
            <a:endParaRPr lang="en-US" sz="1150" dirty="0"/>
          </a:p>
        </p:txBody>
      </p:sp>
      <p:sp>
        <p:nvSpPr>
          <p:cNvPr id="41" name="Text 32"/>
          <p:cNvSpPr/>
          <p:nvPr/>
        </p:nvSpPr>
        <p:spPr>
          <a:xfrm>
            <a:off x="9802368" y="4480560"/>
            <a:ext cx="1463040" cy="274320"/>
          </a:xfrm>
          <a:prstGeom prst="rect">
            <a:avLst/>
          </a:prstGeom>
          <a:noFill/>
          <a:ln/>
        </p:spPr>
        <p:txBody>
          <a:bodyPr wrap="square" lIns="0" tIns="0" rIns="0" bIns="0" rtlCol="0" anchor="ctr"/>
          <a:lstStyle/>
          <a:p>
            <a:pPr algn="ctr" indent="0" marL="0">
              <a:buNone/>
            </a:pPr>
            <a:r>
              <a:rPr lang="en-US" sz="1250" b="1" dirty="0">
                <a:solidFill>
                  <a:srgbClr val="1D2433"/>
                </a:solidFill>
                <a:latin typeface="Calibri" pitchFamily="34" charset="0"/>
                <a:ea typeface="Calibri" pitchFamily="34" charset="-122"/>
                <a:cs typeface="Calibri" pitchFamily="34" charset="-120"/>
              </a:rPr>
              <a:t>15 à 17 ans</a:t>
            </a:r>
            <a:endParaRPr lang="en-US" sz="1250" dirty="0"/>
          </a:p>
        </p:txBody>
      </p:sp>
      <p:sp>
        <p:nvSpPr>
          <p:cNvPr id="42" name="Text 33"/>
          <p:cNvSpPr/>
          <p:nvPr/>
        </p:nvSpPr>
        <p:spPr>
          <a:xfrm>
            <a:off x="9802368" y="4773168"/>
            <a:ext cx="1463040" cy="274320"/>
          </a:xfrm>
          <a:prstGeom prst="rect">
            <a:avLst/>
          </a:prstGeom>
          <a:noFill/>
          <a:ln/>
        </p:spPr>
        <p:txBody>
          <a:bodyPr wrap="square" lIns="0" tIns="0" rIns="0" bIns="0" rtlCol="0" anchor="ctr"/>
          <a:lstStyle/>
          <a:p>
            <a:pPr algn="ctr" indent="0" marL="0">
              <a:buNone/>
            </a:pPr>
            <a:r>
              <a:rPr lang="en-US" sz="1150" dirty="0">
                <a:solidFill>
                  <a:srgbClr val="4A5468"/>
                </a:solidFill>
                <a:latin typeface="Calibri" pitchFamily="34" charset="0"/>
                <a:ea typeface="Calibri" pitchFamily="34" charset="-122"/>
                <a:cs typeface="Calibri" pitchFamily="34" charset="-120"/>
              </a:rPr>
              <a:t>11 indicateurs</a:t>
            </a:r>
            <a:endParaRPr lang="en-US" sz="1150" dirty="0"/>
          </a:p>
        </p:txBody>
      </p:sp>
      <p:sp>
        <p:nvSpPr>
          <p:cNvPr id="43" name="Text 34"/>
          <p:cNvSpPr/>
          <p:nvPr/>
        </p:nvSpPr>
        <p:spPr>
          <a:xfrm>
            <a:off x="6656832" y="5138928"/>
            <a:ext cx="4617720" cy="457200"/>
          </a:xfrm>
          <a:prstGeom prst="rect">
            <a:avLst/>
          </a:prstGeom>
          <a:noFill/>
          <a:ln/>
        </p:spPr>
        <p:txBody>
          <a:bodyPr wrap="square" lIns="0" tIns="0" rIns="0" bIns="0" rtlCol="0" anchor="t"/>
          <a:lstStyle/>
          <a:p>
            <a:pPr indent="0" marL="0">
              <a:lnSpc>
                <a:spcPts val="1500"/>
              </a:lnSpc>
              <a:buNone/>
            </a:pPr>
            <a:r>
              <a:rPr lang="en-US" sz="1100" dirty="0">
                <a:solidFill>
                  <a:srgbClr val="4A5468"/>
                </a:solidFill>
                <a:latin typeface="Calibri" pitchFamily="34" charset="0"/>
                <a:ea typeface="Calibri" pitchFamily="34" charset="-122"/>
                <a:cs typeface="Calibri" pitchFamily="34" charset="-120"/>
              </a:rPr>
              <a:t>L'illettrisme remplace chez les adolescents les indicateurs propres aux 0 à 4 ans.</a:t>
            </a:r>
            <a:endParaRPr lang="en-US" sz="1100" dirty="0"/>
          </a:p>
        </p:txBody>
      </p:sp>
      <p:sp>
        <p:nvSpPr>
          <p:cNvPr id="44" name="Text 35"/>
          <p:cNvSpPr/>
          <p:nvPr/>
        </p:nvSpPr>
        <p:spPr>
          <a:xfrm>
            <a:off x="548640" y="6455664"/>
            <a:ext cx="8229600" cy="237744"/>
          </a:xfrm>
          <a:prstGeom prst="rect">
            <a:avLst/>
          </a:prstGeom>
          <a:noFill/>
          <a:ln/>
        </p:spPr>
        <p:txBody>
          <a:bodyPr wrap="square" lIns="0" tIns="0" rIns="0" bIns="0" rtlCol="0" anchor="ctr"/>
          <a:lstStyle/>
          <a:p>
            <a:pPr indent="0" marL="0">
              <a:buNone/>
            </a:pPr>
            <a:r>
              <a:rPr lang="en-US" sz="900" dirty="0">
                <a:solidFill>
                  <a:srgbClr val="8A93A5"/>
                </a:solidFill>
                <a:latin typeface="Calibri" pitchFamily="34" charset="0"/>
                <a:ea typeface="Calibri" pitchFamily="34" charset="-122"/>
                <a:cs typeface="Calibri" pitchFamily="34" charset="-120"/>
              </a:rPr>
              <a:t>Matrice complète des indicateurs et des seuils en annexe du mémoire.</a:t>
            </a:r>
            <a:endParaRPr lang="en-US" sz="900" dirty="0"/>
          </a:p>
        </p:txBody>
      </p:sp>
      <p:sp>
        <p:nvSpPr>
          <p:cNvPr id="45" name="Text 36"/>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10</a:t>
            </a:r>
            <a:endParaRPr lang="en-US" sz="950" dirty="0"/>
          </a:p>
        </p:txBody>
      </p:sp>
      <p:pic>
        <p:nvPicPr>
          <p:cNvPr id="46" name="Image 7" descr="logos/logo_ensae_new.png">    </p:cNvPr>
          <p:cNvPicPr>
            <a:picLocks noChangeAspect="1"/>
          </p:cNvPicPr>
          <p:nvPr/>
        </p:nvPicPr>
        <p:blipFill>
          <a:blip r:embed="rId8"/>
          <a:stretch>
            <a:fillRect/>
          </a:stretch>
        </p:blipFill>
        <p:spPr>
          <a:xfrm>
            <a:off x="11384280" y="6355080"/>
            <a:ext cx="384048" cy="3840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Données et définition du traitement</a:t>
            </a:r>
            <a:endParaRPr lang="en-US" sz="2700" dirty="0"/>
          </a:p>
        </p:txBody>
      </p:sp>
      <p:sp>
        <p:nvSpPr>
          <p:cNvPr id="3" name="Text 1"/>
          <p:cNvSpPr/>
          <p:nvPr/>
        </p:nvSpPr>
        <p:spPr>
          <a:xfrm>
            <a:off x="548640" y="896112"/>
            <a:ext cx="11064240" cy="475488"/>
          </a:xfrm>
          <a:prstGeom prst="rect">
            <a:avLst/>
          </a:prstGeom>
          <a:noFill/>
          <a:ln/>
        </p:spPr>
        <p:txBody>
          <a:bodyPr wrap="square" lIns="0" tIns="0" rIns="0" bIns="0" rtlCol="0" anchor="t"/>
          <a:lstStyle/>
          <a:p>
            <a:pPr indent="0" marL="0">
              <a:lnSpc>
                <a:spcPts val="1700"/>
              </a:lnSpc>
              <a:buNone/>
            </a:pPr>
            <a:r>
              <a:rPr lang="en-US" sz="1300" dirty="0">
                <a:solidFill>
                  <a:srgbClr val="4A5468"/>
                </a:solidFill>
                <a:latin typeface="Calibri" pitchFamily="34" charset="0"/>
                <a:ea typeface="Calibri" pitchFamily="34" charset="-122"/>
                <a:cs typeface="Calibri" pitchFamily="34" charset="-120"/>
              </a:rPr>
              <a:t>Deux vagues de l'EHCVM, un panel d'enfants suivis individuellement d'une vague à l'autre.</a:t>
            </a:r>
            <a:endParaRPr lang="en-US" sz="1300" dirty="0"/>
          </a:p>
        </p:txBody>
      </p:sp>
      <p:sp>
        <p:nvSpPr>
          <p:cNvPr id="4" name="Shape 2"/>
          <p:cNvSpPr/>
          <p:nvPr/>
        </p:nvSpPr>
        <p:spPr>
          <a:xfrm>
            <a:off x="658368" y="1691640"/>
            <a:ext cx="2606040" cy="1600200"/>
          </a:xfrm>
          <a:prstGeom prst="roundRect">
            <a:avLst>
              <a:gd name="adj" fmla="val 3429"/>
            </a:avLst>
          </a:prstGeom>
          <a:solidFill>
            <a:srgbClr val="F4F5FA"/>
          </a:solidFill>
          <a:ln/>
          <a:effectLst>
            <a:outerShdw sx="100000" sy="100000" kx="0" ky="0" algn="bl" rotWithShape="0" blurRad="127000" dist="25400" dir="5400000">
              <a:srgbClr val="1E2B4A">
                <a:alpha val="10000"/>
              </a:srgbClr>
            </a:outerShdw>
          </a:effectLst>
        </p:spPr>
      </p:sp>
      <p:sp>
        <p:nvSpPr>
          <p:cNvPr id="5" name="Text 3"/>
          <p:cNvSpPr/>
          <p:nvPr/>
        </p:nvSpPr>
        <p:spPr>
          <a:xfrm>
            <a:off x="658368" y="1874520"/>
            <a:ext cx="2606040" cy="552704"/>
          </a:xfrm>
          <a:prstGeom prst="rect">
            <a:avLst/>
          </a:prstGeom>
          <a:noFill/>
          <a:ln/>
        </p:spPr>
        <p:txBody>
          <a:bodyPr wrap="square" lIns="0" tIns="0" rIns="0" bIns="0" rtlCol="0" anchor="ctr"/>
          <a:lstStyle/>
          <a:p>
            <a:pPr algn="ctr" indent="0" marL="0">
              <a:buNone/>
            </a:pPr>
            <a:r>
              <a:rPr lang="en-US" sz="3200" b="1" dirty="0">
                <a:solidFill>
                  <a:srgbClr val="1E2B4A"/>
                </a:solidFill>
                <a:latin typeface="Calibri" pitchFamily="34" charset="0"/>
                <a:ea typeface="Calibri" pitchFamily="34" charset="-122"/>
                <a:cs typeface="Calibri" pitchFamily="34" charset="-120"/>
              </a:rPr>
              <a:t>6 127</a:t>
            </a:r>
            <a:endParaRPr lang="en-US" sz="3200" dirty="0"/>
          </a:p>
        </p:txBody>
      </p:sp>
      <p:sp>
        <p:nvSpPr>
          <p:cNvPr id="6" name="Text 4"/>
          <p:cNvSpPr/>
          <p:nvPr/>
        </p:nvSpPr>
        <p:spPr>
          <a:xfrm>
            <a:off x="658368" y="2445512"/>
            <a:ext cx="260604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ménages enquêtés</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aux deux vagues</a:t>
            </a:r>
            <a:endParaRPr lang="en-US" sz="1050" dirty="0"/>
          </a:p>
        </p:txBody>
      </p:sp>
      <p:sp>
        <p:nvSpPr>
          <p:cNvPr id="7" name="Shape 5"/>
          <p:cNvSpPr/>
          <p:nvPr/>
        </p:nvSpPr>
        <p:spPr>
          <a:xfrm>
            <a:off x="3410712" y="1691640"/>
            <a:ext cx="2606040" cy="1600200"/>
          </a:xfrm>
          <a:prstGeom prst="roundRect">
            <a:avLst>
              <a:gd name="adj" fmla="val 3429"/>
            </a:avLst>
          </a:prstGeom>
          <a:solidFill>
            <a:srgbClr val="F4F5FA"/>
          </a:solidFill>
          <a:ln/>
          <a:effectLst>
            <a:outerShdw sx="100000" sy="100000" kx="0" ky="0" algn="bl" rotWithShape="0" blurRad="127000" dist="25400" dir="5400000">
              <a:srgbClr val="1E2B4A">
                <a:alpha val="10000"/>
              </a:srgbClr>
            </a:outerShdw>
          </a:effectLst>
        </p:spPr>
      </p:sp>
      <p:sp>
        <p:nvSpPr>
          <p:cNvPr id="8" name="Text 6"/>
          <p:cNvSpPr/>
          <p:nvPr/>
        </p:nvSpPr>
        <p:spPr>
          <a:xfrm>
            <a:off x="3410712" y="1874520"/>
            <a:ext cx="2606040" cy="552704"/>
          </a:xfrm>
          <a:prstGeom prst="rect">
            <a:avLst/>
          </a:prstGeom>
          <a:noFill/>
          <a:ln/>
        </p:spPr>
        <p:txBody>
          <a:bodyPr wrap="square" lIns="0" tIns="0" rIns="0" bIns="0" rtlCol="0" anchor="ctr"/>
          <a:lstStyle/>
          <a:p>
            <a:pPr algn="ctr" indent="0" marL="0">
              <a:buNone/>
            </a:pPr>
            <a:r>
              <a:rPr lang="en-US" sz="3200" b="1" dirty="0">
                <a:solidFill>
                  <a:srgbClr val="1E2B4A"/>
                </a:solidFill>
                <a:latin typeface="Calibri" pitchFamily="34" charset="0"/>
                <a:ea typeface="Calibri" pitchFamily="34" charset="-122"/>
                <a:cs typeface="Calibri" pitchFamily="34" charset="-120"/>
              </a:rPr>
              <a:t>17 786</a:t>
            </a:r>
            <a:endParaRPr lang="en-US" sz="3200" dirty="0"/>
          </a:p>
        </p:txBody>
      </p:sp>
      <p:sp>
        <p:nvSpPr>
          <p:cNvPr id="9" name="Text 7"/>
          <p:cNvSpPr/>
          <p:nvPr/>
        </p:nvSpPr>
        <p:spPr>
          <a:xfrm>
            <a:off x="3410712" y="2445512"/>
            <a:ext cx="260604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enfants suivis</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individuellement</a:t>
            </a:r>
            <a:endParaRPr lang="en-US" sz="1050" dirty="0"/>
          </a:p>
        </p:txBody>
      </p:sp>
      <p:sp>
        <p:nvSpPr>
          <p:cNvPr id="10" name="Shape 8"/>
          <p:cNvSpPr/>
          <p:nvPr/>
        </p:nvSpPr>
        <p:spPr>
          <a:xfrm>
            <a:off x="6163056" y="1691640"/>
            <a:ext cx="2606040" cy="1600200"/>
          </a:xfrm>
          <a:prstGeom prst="roundRect">
            <a:avLst>
              <a:gd name="adj" fmla="val 3429"/>
            </a:avLst>
          </a:prstGeom>
          <a:solidFill>
            <a:srgbClr val="F4F5FA"/>
          </a:solidFill>
          <a:ln/>
          <a:effectLst>
            <a:outerShdw sx="100000" sy="100000" kx="0" ky="0" algn="bl" rotWithShape="0" blurRad="127000" dist="25400" dir="5400000">
              <a:srgbClr val="1E2B4A">
                <a:alpha val="10000"/>
              </a:srgbClr>
            </a:outerShdw>
          </a:effectLst>
        </p:spPr>
      </p:sp>
      <p:sp>
        <p:nvSpPr>
          <p:cNvPr id="11" name="Text 9"/>
          <p:cNvSpPr/>
          <p:nvPr/>
        </p:nvSpPr>
        <p:spPr>
          <a:xfrm>
            <a:off x="6163056" y="1874520"/>
            <a:ext cx="2606040" cy="552704"/>
          </a:xfrm>
          <a:prstGeom prst="rect">
            <a:avLst/>
          </a:prstGeom>
          <a:noFill/>
          <a:ln/>
        </p:spPr>
        <p:txBody>
          <a:bodyPr wrap="square" lIns="0" tIns="0" rIns="0" bIns="0" rtlCol="0" anchor="ctr"/>
          <a:lstStyle/>
          <a:p>
            <a:pPr algn="ctr" indent="0" marL="0">
              <a:buNone/>
            </a:pPr>
            <a:r>
              <a:rPr lang="en-US" sz="3200" b="1" dirty="0">
                <a:solidFill>
                  <a:srgbClr val="1E2B4A"/>
                </a:solidFill>
                <a:latin typeface="Calibri" pitchFamily="34" charset="0"/>
                <a:ea typeface="Calibri" pitchFamily="34" charset="-122"/>
                <a:cs typeface="Calibri" pitchFamily="34" charset="-120"/>
              </a:rPr>
              <a:t>2 638</a:t>
            </a:r>
            <a:endParaRPr lang="en-US" sz="3200" dirty="0"/>
          </a:p>
        </p:txBody>
      </p:sp>
      <p:sp>
        <p:nvSpPr>
          <p:cNvPr id="12" name="Text 10"/>
          <p:cNvSpPr/>
          <p:nvPr/>
        </p:nvSpPr>
        <p:spPr>
          <a:xfrm>
            <a:off x="6163056" y="2445512"/>
            <a:ext cx="260604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enfants d'un ménage</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bénéficiaire en 2018</a:t>
            </a:r>
            <a:endParaRPr lang="en-US" sz="1050" dirty="0"/>
          </a:p>
        </p:txBody>
      </p:sp>
      <p:sp>
        <p:nvSpPr>
          <p:cNvPr id="13" name="Shape 11"/>
          <p:cNvSpPr/>
          <p:nvPr/>
        </p:nvSpPr>
        <p:spPr>
          <a:xfrm>
            <a:off x="8915400" y="1691640"/>
            <a:ext cx="2606040" cy="1600200"/>
          </a:xfrm>
          <a:prstGeom prst="roundRect">
            <a:avLst>
              <a:gd name="adj" fmla="val 3429"/>
            </a:avLst>
          </a:prstGeom>
          <a:solidFill>
            <a:srgbClr val="F4F5FA"/>
          </a:solidFill>
          <a:ln/>
          <a:effectLst>
            <a:outerShdw sx="100000" sy="100000" kx="0" ky="0" algn="bl" rotWithShape="0" blurRad="127000" dist="25400" dir="5400000">
              <a:srgbClr val="1E2B4A">
                <a:alpha val="10000"/>
              </a:srgbClr>
            </a:outerShdw>
          </a:effectLst>
        </p:spPr>
      </p:sp>
      <p:sp>
        <p:nvSpPr>
          <p:cNvPr id="14" name="Text 12"/>
          <p:cNvSpPr/>
          <p:nvPr/>
        </p:nvSpPr>
        <p:spPr>
          <a:xfrm>
            <a:off x="8915400" y="1874520"/>
            <a:ext cx="2606040" cy="552704"/>
          </a:xfrm>
          <a:prstGeom prst="rect">
            <a:avLst/>
          </a:prstGeom>
          <a:noFill/>
          <a:ln/>
        </p:spPr>
        <p:txBody>
          <a:bodyPr wrap="square" lIns="0" tIns="0" rIns="0" bIns="0" rtlCol="0" anchor="ctr"/>
          <a:lstStyle/>
          <a:p>
            <a:pPr algn="ctr" indent="0" marL="0">
              <a:buNone/>
            </a:pPr>
            <a:r>
              <a:rPr lang="en-US" sz="3200" b="1" dirty="0">
                <a:solidFill>
                  <a:srgbClr val="1E2B4A"/>
                </a:solidFill>
                <a:latin typeface="Calibri" pitchFamily="34" charset="0"/>
                <a:ea typeface="Calibri" pitchFamily="34" charset="-122"/>
                <a:cs typeface="Calibri" pitchFamily="34" charset="-120"/>
              </a:rPr>
              <a:t>14,8 %</a:t>
            </a:r>
            <a:endParaRPr lang="en-US" sz="3200" dirty="0"/>
          </a:p>
        </p:txBody>
      </p:sp>
      <p:sp>
        <p:nvSpPr>
          <p:cNvPr id="15" name="Text 13"/>
          <p:cNvSpPr/>
          <p:nvPr/>
        </p:nvSpPr>
        <p:spPr>
          <a:xfrm>
            <a:off x="8915400" y="2445512"/>
            <a:ext cx="260604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part des enfants</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traités</a:t>
            </a:r>
            <a:endParaRPr lang="en-US" sz="1050" dirty="0"/>
          </a:p>
        </p:txBody>
      </p:sp>
      <p:sp>
        <p:nvSpPr>
          <p:cNvPr id="16" name="Shape 14"/>
          <p:cNvSpPr/>
          <p:nvPr/>
        </p:nvSpPr>
        <p:spPr>
          <a:xfrm>
            <a:off x="658368" y="3520440"/>
            <a:ext cx="5394960" cy="2286000"/>
          </a:xfrm>
          <a:prstGeom prst="roundRect">
            <a:avLst>
              <a:gd name="adj" fmla="val 2400"/>
            </a:avLst>
          </a:prstGeom>
          <a:solidFill>
            <a:srgbClr val="F4F5FA"/>
          </a:solidFill>
          <a:ln/>
          <a:effectLst>
            <a:outerShdw sx="100000" sy="100000" kx="0" ky="0" algn="bl" rotWithShape="0" blurRad="127000" dist="25400" dir="5400000">
              <a:srgbClr val="1E2B4A">
                <a:alpha val="10000"/>
              </a:srgbClr>
            </a:outerShdw>
          </a:effectLst>
        </p:spPr>
      </p:sp>
      <p:sp>
        <p:nvSpPr>
          <p:cNvPr id="17" name="Shape 15"/>
          <p:cNvSpPr/>
          <p:nvPr/>
        </p:nvSpPr>
        <p:spPr>
          <a:xfrm>
            <a:off x="960120" y="3794760"/>
            <a:ext cx="777240" cy="777240"/>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8" name="Image 0" descr="preencoded.png">    </p:cNvPr>
          <p:cNvPicPr>
            <a:picLocks noChangeAspect="1"/>
          </p:cNvPicPr>
          <p:nvPr/>
        </p:nvPicPr>
        <p:blipFill>
          <a:blip r:embed="rId1"/>
          <a:stretch>
            <a:fillRect/>
          </a:stretch>
        </p:blipFill>
        <p:spPr>
          <a:xfrm>
            <a:off x="1169975" y="4004615"/>
            <a:ext cx="357530" cy="357530"/>
          </a:xfrm>
          <a:prstGeom prst="rect">
            <a:avLst/>
          </a:prstGeom>
        </p:spPr>
      </p:pic>
      <p:sp>
        <p:nvSpPr>
          <p:cNvPr id="19" name="Text 16"/>
          <p:cNvSpPr/>
          <p:nvPr/>
        </p:nvSpPr>
        <p:spPr>
          <a:xfrm>
            <a:off x="1920240" y="3840480"/>
            <a:ext cx="3931920" cy="365760"/>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Qui est traité ?</a:t>
            </a:r>
            <a:endParaRPr lang="en-US" sz="1500" dirty="0"/>
          </a:p>
        </p:txBody>
      </p:sp>
      <p:sp>
        <p:nvSpPr>
          <p:cNvPr id="20" name="Text 17"/>
          <p:cNvSpPr/>
          <p:nvPr/>
        </p:nvSpPr>
        <p:spPr>
          <a:xfrm>
            <a:off x="960120" y="4709160"/>
            <a:ext cx="4800600" cy="96012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L'enfant dont le ménage a reçu, en 2018, un transfert d'un expéditeur résidant hors du Sénégal et ayant déjà vécu dans le ménage. Le statut est figé à la période de base : il ne peut pas être affecté par l'évolution ultérieure des privations.</a:t>
            </a:r>
            <a:endParaRPr lang="en-US" sz="1200" dirty="0"/>
          </a:p>
        </p:txBody>
      </p:sp>
      <p:sp>
        <p:nvSpPr>
          <p:cNvPr id="21" name="Shape 18"/>
          <p:cNvSpPr/>
          <p:nvPr/>
        </p:nvSpPr>
        <p:spPr>
          <a:xfrm>
            <a:off x="6263640" y="3520440"/>
            <a:ext cx="5285232" cy="2286000"/>
          </a:xfrm>
          <a:prstGeom prst="roundRect">
            <a:avLst>
              <a:gd name="adj" fmla="val 2400"/>
            </a:avLst>
          </a:prstGeom>
          <a:solidFill>
            <a:srgbClr val="F4F5FA"/>
          </a:solidFill>
          <a:ln/>
          <a:effectLst>
            <a:outerShdw sx="100000" sy="100000" kx="0" ky="0" algn="bl" rotWithShape="0" blurRad="127000" dist="25400" dir="5400000">
              <a:srgbClr val="1E2B4A">
                <a:alpha val="10000"/>
              </a:srgbClr>
            </a:outerShdw>
          </a:effectLst>
        </p:spPr>
      </p:sp>
      <p:sp>
        <p:nvSpPr>
          <p:cNvPr id="22" name="Shape 19"/>
          <p:cNvSpPr/>
          <p:nvPr/>
        </p:nvSpPr>
        <p:spPr>
          <a:xfrm>
            <a:off x="6565392" y="3794760"/>
            <a:ext cx="777240" cy="777240"/>
          </a:xfrm>
          <a:prstGeom prst="ellipse">
            <a:avLst/>
          </a:prstGeom>
          <a:solidFill>
            <a:srgbClr val="F6ECDC"/>
          </a:solidFill>
          <a:ln w="15875">
            <a:solidFill>
              <a:srgbClr val="ECD5B0"/>
            </a:solidFill>
            <a:prstDash val="solid"/>
          </a:ln>
          <a:effectLst>
            <a:outerShdw sx="100000" sy="100000" kx="0" ky="0" algn="bl" rotWithShape="0" blurRad="127000" dist="25400" dir="5400000">
              <a:srgbClr val="1E2B4A">
                <a:alpha val="8000"/>
              </a:srgbClr>
            </a:outerShdw>
          </a:effectLst>
        </p:spPr>
      </p:sp>
      <p:pic>
        <p:nvPicPr>
          <p:cNvPr id="23" name="Image 1" descr="preencoded.png">    </p:cNvPr>
          <p:cNvPicPr>
            <a:picLocks noChangeAspect="1"/>
          </p:cNvPicPr>
          <p:nvPr/>
        </p:nvPicPr>
        <p:blipFill>
          <a:blip r:embed="rId2"/>
          <a:stretch>
            <a:fillRect/>
          </a:stretch>
        </p:blipFill>
        <p:spPr>
          <a:xfrm>
            <a:off x="6775247" y="4004615"/>
            <a:ext cx="357530" cy="357530"/>
          </a:xfrm>
          <a:prstGeom prst="rect">
            <a:avLst/>
          </a:prstGeom>
        </p:spPr>
      </p:pic>
      <p:sp>
        <p:nvSpPr>
          <p:cNvPr id="24" name="Text 20"/>
          <p:cNvSpPr/>
          <p:nvPr/>
        </p:nvSpPr>
        <p:spPr>
          <a:xfrm>
            <a:off x="7525512" y="3840480"/>
            <a:ext cx="3794760" cy="365760"/>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À quoi servent les fonds reçus ?</a:t>
            </a:r>
            <a:endParaRPr lang="en-US" sz="1500" dirty="0"/>
          </a:p>
        </p:txBody>
      </p:sp>
      <p:sp>
        <p:nvSpPr>
          <p:cNvPr id="25" name="Text 21"/>
          <p:cNvSpPr/>
          <p:nvPr/>
        </p:nvSpPr>
        <p:spPr>
          <a:xfrm>
            <a:off x="6565392" y="4690872"/>
            <a:ext cx="1691640" cy="237744"/>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Soutien courant</a:t>
            </a:r>
            <a:endParaRPr lang="en-US" sz="1100" dirty="0"/>
          </a:p>
        </p:txBody>
      </p:sp>
      <p:sp>
        <p:nvSpPr>
          <p:cNvPr id="26" name="Shape 22"/>
          <p:cNvSpPr/>
          <p:nvPr/>
        </p:nvSpPr>
        <p:spPr>
          <a:xfrm>
            <a:off x="8339328" y="4736592"/>
            <a:ext cx="2331720" cy="146304"/>
          </a:xfrm>
          <a:prstGeom prst="roundRect">
            <a:avLst>
              <a:gd name="adj" fmla="val 12500"/>
            </a:avLst>
          </a:prstGeom>
          <a:solidFill>
            <a:srgbClr val="C98A24"/>
          </a:solidFill>
          <a:ln/>
        </p:spPr>
      </p:sp>
      <p:sp>
        <p:nvSpPr>
          <p:cNvPr id="27" name="Text 23"/>
          <p:cNvSpPr/>
          <p:nvPr/>
        </p:nvSpPr>
        <p:spPr>
          <a:xfrm>
            <a:off x="10771632" y="4690872"/>
            <a:ext cx="566928" cy="237744"/>
          </a:xfrm>
          <a:prstGeom prst="rect">
            <a:avLst/>
          </a:prstGeom>
          <a:noFill/>
          <a:ln/>
        </p:spPr>
        <p:txBody>
          <a:bodyPr wrap="square" lIns="0" tIns="0" rIns="0" bIns="0" rtlCol="0" anchor="ctr"/>
          <a:lstStyle/>
          <a:p>
            <a:pPr algn="r" indent="0" marL="0">
              <a:buNone/>
            </a:pPr>
            <a:r>
              <a:rPr lang="en-US" sz="1100" b="1" dirty="0">
                <a:solidFill>
                  <a:srgbClr val="1D2433"/>
                </a:solidFill>
                <a:latin typeface="Calibri" pitchFamily="34" charset="0"/>
                <a:ea typeface="Calibri" pitchFamily="34" charset="-122"/>
                <a:cs typeface="Calibri" pitchFamily="34" charset="-120"/>
              </a:rPr>
              <a:t>68,5 %</a:t>
            </a:r>
            <a:endParaRPr lang="en-US" sz="1100" dirty="0"/>
          </a:p>
        </p:txBody>
      </p:sp>
      <p:sp>
        <p:nvSpPr>
          <p:cNvPr id="28" name="Text 24"/>
          <p:cNvSpPr/>
          <p:nvPr/>
        </p:nvSpPr>
        <p:spPr>
          <a:xfrm>
            <a:off x="6565392" y="4965192"/>
            <a:ext cx="1691640" cy="237744"/>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Fêtes et évènements</a:t>
            </a:r>
            <a:endParaRPr lang="en-US" sz="1100" dirty="0"/>
          </a:p>
        </p:txBody>
      </p:sp>
      <p:sp>
        <p:nvSpPr>
          <p:cNvPr id="29" name="Shape 25"/>
          <p:cNvSpPr/>
          <p:nvPr/>
        </p:nvSpPr>
        <p:spPr>
          <a:xfrm>
            <a:off x="8339328" y="5010912"/>
            <a:ext cx="316569" cy="146304"/>
          </a:xfrm>
          <a:prstGeom prst="roundRect">
            <a:avLst>
              <a:gd name="adj" fmla="val 12500"/>
            </a:avLst>
          </a:prstGeom>
          <a:solidFill>
            <a:srgbClr val="E3E7EE"/>
          </a:solidFill>
          <a:ln/>
        </p:spPr>
      </p:sp>
      <p:sp>
        <p:nvSpPr>
          <p:cNvPr id="30" name="Text 26"/>
          <p:cNvSpPr/>
          <p:nvPr/>
        </p:nvSpPr>
        <p:spPr>
          <a:xfrm>
            <a:off x="10771632" y="4965192"/>
            <a:ext cx="566928" cy="237744"/>
          </a:xfrm>
          <a:prstGeom prst="rect">
            <a:avLst/>
          </a:prstGeom>
          <a:noFill/>
          <a:ln/>
        </p:spPr>
        <p:txBody>
          <a:bodyPr wrap="square" lIns="0" tIns="0" rIns="0" bIns="0" rtlCol="0" anchor="ctr"/>
          <a:lstStyle/>
          <a:p>
            <a:pPr algn="r" indent="0" marL="0">
              <a:buNone/>
            </a:pPr>
            <a:r>
              <a:rPr lang="en-US" sz="1100" b="1" dirty="0">
                <a:solidFill>
                  <a:srgbClr val="1D2433"/>
                </a:solidFill>
                <a:latin typeface="Calibri" pitchFamily="34" charset="0"/>
                <a:ea typeface="Calibri" pitchFamily="34" charset="-122"/>
                <a:cs typeface="Calibri" pitchFamily="34" charset="-120"/>
              </a:rPr>
              <a:t>9,3 %</a:t>
            </a:r>
            <a:endParaRPr lang="en-US" sz="1100" dirty="0"/>
          </a:p>
        </p:txBody>
      </p:sp>
      <p:sp>
        <p:nvSpPr>
          <p:cNvPr id="31" name="Text 27"/>
          <p:cNvSpPr/>
          <p:nvPr/>
        </p:nvSpPr>
        <p:spPr>
          <a:xfrm>
            <a:off x="6565392" y="5239512"/>
            <a:ext cx="1691640" cy="237744"/>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Santé</a:t>
            </a:r>
            <a:endParaRPr lang="en-US" sz="1100" dirty="0"/>
          </a:p>
        </p:txBody>
      </p:sp>
      <p:sp>
        <p:nvSpPr>
          <p:cNvPr id="32" name="Shape 28"/>
          <p:cNvSpPr/>
          <p:nvPr/>
        </p:nvSpPr>
        <p:spPr>
          <a:xfrm>
            <a:off x="8339328" y="5285232"/>
            <a:ext cx="221258" cy="146304"/>
          </a:xfrm>
          <a:prstGeom prst="roundRect">
            <a:avLst>
              <a:gd name="adj" fmla="val 12500"/>
            </a:avLst>
          </a:prstGeom>
          <a:solidFill>
            <a:srgbClr val="E3E7EE"/>
          </a:solidFill>
          <a:ln/>
        </p:spPr>
      </p:sp>
      <p:sp>
        <p:nvSpPr>
          <p:cNvPr id="33" name="Text 29"/>
          <p:cNvSpPr/>
          <p:nvPr/>
        </p:nvSpPr>
        <p:spPr>
          <a:xfrm>
            <a:off x="10771632" y="5239512"/>
            <a:ext cx="566928" cy="237744"/>
          </a:xfrm>
          <a:prstGeom prst="rect">
            <a:avLst/>
          </a:prstGeom>
          <a:noFill/>
          <a:ln/>
        </p:spPr>
        <p:txBody>
          <a:bodyPr wrap="square" lIns="0" tIns="0" rIns="0" bIns="0" rtlCol="0" anchor="ctr"/>
          <a:lstStyle/>
          <a:p>
            <a:pPr algn="r" indent="0" marL="0">
              <a:buNone/>
            </a:pPr>
            <a:r>
              <a:rPr lang="en-US" sz="1100" b="1" dirty="0">
                <a:solidFill>
                  <a:srgbClr val="1D2433"/>
                </a:solidFill>
                <a:latin typeface="Calibri" pitchFamily="34" charset="0"/>
                <a:ea typeface="Calibri" pitchFamily="34" charset="-122"/>
                <a:cs typeface="Calibri" pitchFamily="34" charset="-120"/>
              </a:rPr>
              <a:t>6,5 %</a:t>
            </a:r>
            <a:endParaRPr lang="en-US" sz="1100" dirty="0"/>
          </a:p>
        </p:txBody>
      </p:sp>
      <p:sp>
        <p:nvSpPr>
          <p:cNvPr id="34" name="Text 30"/>
          <p:cNvSpPr/>
          <p:nvPr/>
        </p:nvSpPr>
        <p:spPr>
          <a:xfrm>
            <a:off x="6565392" y="5513832"/>
            <a:ext cx="1691640" cy="237744"/>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Scolarité</a:t>
            </a:r>
            <a:endParaRPr lang="en-US" sz="1100" dirty="0"/>
          </a:p>
        </p:txBody>
      </p:sp>
      <p:sp>
        <p:nvSpPr>
          <p:cNvPr id="35" name="Shape 31"/>
          <p:cNvSpPr/>
          <p:nvPr/>
        </p:nvSpPr>
        <p:spPr>
          <a:xfrm>
            <a:off x="8339328" y="5559552"/>
            <a:ext cx="125947" cy="146304"/>
          </a:xfrm>
          <a:prstGeom prst="roundRect">
            <a:avLst>
              <a:gd name="adj" fmla="val 14520"/>
            </a:avLst>
          </a:prstGeom>
          <a:solidFill>
            <a:srgbClr val="E3E7EE"/>
          </a:solidFill>
          <a:ln/>
        </p:spPr>
      </p:sp>
      <p:sp>
        <p:nvSpPr>
          <p:cNvPr id="36" name="Text 32"/>
          <p:cNvSpPr/>
          <p:nvPr/>
        </p:nvSpPr>
        <p:spPr>
          <a:xfrm>
            <a:off x="10771632" y="5513832"/>
            <a:ext cx="566928" cy="237744"/>
          </a:xfrm>
          <a:prstGeom prst="rect">
            <a:avLst/>
          </a:prstGeom>
          <a:noFill/>
          <a:ln/>
        </p:spPr>
        <p:txBody>
          <a:bodyPr wrap="square" lIns="0" tIns="0" rIns="0" bIns="0" rtlCol="0" anchor="ctr"/>
          <a:lstStyle/>
          <a:p>
            <a:pPr algn="r" indent="0" marL="0">
              <a:buNone/>
            </a:pPr>
            <a:r>
              <a:rPr lang="en-US" sz="1100" b="1" dirty="0">
                <a:solidFill>
                  <a:srgbClr val="1D2433"/>
                </a:solidFill>
                <a:latin typeface="Calibri" pitchFamily="34" charset="0"/>
                <a:ea typeface="Calibri" pitchFamily="34" charset="-122"/>
                <a:cs typeface="Calibri" pitchFamily="34" charset="-120"/>
              </a:rPr>
              <a:t>3,7 %</a:t>
            </a:r>
            <a:endParaRPr lang="en-US" sz="1100" dirty="0"/>
          </a:p>
        </p:txBody>
      </p:sp>
      <p:sp>
        <p:nvSpPr>
          <p:cNvPr id="37" name="Text 33"/>
          <p:cNvSpPr/>
          <p:nvPr/>
        </p:nvSpPr>
        <p:spPr>
          <a:xfrm>
            <a:off x="548640" y="6455664"/>
            <a:ext cx="8229600" cy="237744"/>
          </a:xfrm>
          <a:prstGeom prst="rect">
            <a:avLst/>
          </a:prstGeom>
          <a:noFill/>
          <a:ln/>
        </p:spPr>
        <p:txBody>
          <a:bodyPr wrap="square" lIns="0" tIns="0" rIns="0" bIns="0" rtlCol="0" anchor="ctr"/>
          <a:lstStyle/>
          <a:p>
            <a:pPr indent="0" marL="0">
              <a:buNone/>
            </a:pPr>
            <a:r>
              <a:rPr lang="en-US" sz="900" dirty="0">
                <a:solidFill>
                  <a:srgbClr val="8A93A5"/>
                </a:solidFill>
                <a:latin typeface="Calibri" pitchFamily="34" charset="0"/>
                <a:ea typeface="Calibri" pitchFamily="34" charset="-122"/>
                <a:cs typeface="Calibri" pitchFamily="34" charset="-120"/>
              </a:rPr>
              <a:t>Source : calcul de l'auteur, EHCVM I (2018-2019) et EHCVM II (2021-2022).</a:t>
            </a:r>
            <a:endParaRPr lang="en-US" sz="900" dirty="0"/>
          </a:p>
        </p:txBody>
      </p:sp>
      <p:sp>
        <p:nvSpPr>
          <p:cNvPr id="38" name="Text 34"/>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11</a:t>
            </a:r>
            <a:endParaRPr lang="en-US" sz="950" dirty="0"/>
          </a:p>
        </p:txBody>
      </p:sp>
      <p:pic>
        <p:nvPicPr>
          <p:cNvPr id="39" name="Image 2" descr="logos/logo_ensae_new.png">    </p:cNvPr>
          <p:cNvPicPr>
            <a:picLocks noChangeAspect="1"/>
          </p:cNvPicPr>
          <p:nvPr/>
        </p:nvPicPr>
        <p:blipFill>
          <a:blip r:embed="rId3"/>
          <a:stretch>
            <a:fillRect/>
          </a:stretch>
        </p:blipFill>
        <p:spPr>
          <a:xfrm>
            <a:off x="11384280" y="6355080"/>
            <a:ext cx="384048" cy="3840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Stratégie d'identification</a:t>
            </a:r>
            <a:endParaRPr lang="en-US" sz="2700" dirty="0"/>
          </a:p>
        </p:txBody>
      </p:sp>
      <p:sp>
        <p:nvSpPr>
          <p:cNvPr id="3" name="Text 1"/>
          <p:cNvSpPr/>
          <p:nvPr/>
        </p:nvSpPr>
        <p:spPr>
          <a:xfrm>
            <a:off x="548640" y="896112"/>
            <a:ext cx="11064240" cy="475488"/>
          </a:xfrm>
          <a:prstGeom prst="rect">
            <a:avLst/>
          </a:prstGeom>
          <a:noFill/>
          <a:ln/>
        </p:spPr>
        <p:txBody>
          <a:bodyPr wrap="square" lIns="0" tIns="0" rIns="0" bIns="0" rtlCol="0" anchor="t"/>
          <a:lstStyle/>
          <a:p>
            <a:pPr indent="0" marL="0">
              <a:lnSpc>
                <a:spcPts val="1700"/>
              </a:lnSpc>
              <a:buNone/>
            </a:pPr>
            <a:r>
              <a:rPr lang="en-US" sz="1300" dirty="0">
                <a:solidFill>
                  <a:srgbClr val="4A5468"/>
                </a:solidFill>
                <a:latin typeface="Calibri" pitchFamily="34" charset="0"/>
                <a:ea typeface="Calibri" pitchFamily="34" charset="-122"/>
                <a:cs typeface="Calibri" pitchFamily="34" charset="-120"/>
              </a:rPr>
              <a:t>Les ménages bénéficiaires diffèrent des autres : une comparaison directe attribuerait aux transferts des écarts préexistants.</a:t>
            </a:r>
            <a:endParaRPr lang="en-US" sz="1300" dirty="0"/>
          </a:p>
        </p:txBody>
      </p:sp>
      <p:sp>
        <p:nvSpPr>
          <p:cNvPr id="4" name="Shape 2"/>
          <p:cNvSpPr/>
          <p:nvPr/>
        </p:nvSpPr>
        <p:spPr>
          <a:xfrm>
            <a:off x="658368" y="1691640"/>
            <a:ext cx="3456432" cy="3108960"/>
          </a:xfrm>
          <a:prstGeom prst="roundRect">
            <a:avLst>
              <a:gd name="adj" fmla="val 1765"/>
            </a:avLst>
          </a:prstGeom>
          <a:solidFill>
            <a:srgbClr val="F4F5FA"/>
          </a:solidFill>
          <a:ln/>
          <a:effectLst>
            <a:outerShdw sx="100000" sy="100000" kx="0" ky="0" algn="bl" rotWithShape="0" blurRad="127000" dist="25400" dir="5400000">
              <a:srgbClr val="1E2B4A">
                <a:alpha val="10000"/>
              </a:srgbClr>
            </a:outerShdw>
          </a:effectLst>
        </p:spPr>
      </p:sp>
      <p:sp>
        <p:nvSpPr>
          <p:cNvPr id="5" name="Shape 3"/>
          <p:cNvSpPr/>
          <p:nvPr/>
        </p:nvSpPr>
        <p:spPr>
          <a:xfrm>
            <a:off x="932688" y="1965960"/>
            <a:ext cx="804672" cy="804672"/>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6" name="Image 0" descr="preencoded.png">    </p:cNvPr>
          <p:cNvPicPr>
            <a:picLocks noChangeAspect="1"/>
          </p:cNvPicPr>
          <p:nvPr/>
        </p:nvPicPr>
        <p:blipFill>
          <a:blip r:embed="rId1"/>
          <a:stretch>
            <a:fillRect/>
          </a:stretch>
        </p:blipFill>
        <p:spPr>
          <a:xfrm>
            <a:off x="1149949" y="2183221"/>
            <a:ext cx="370149" cy="370149"/>
          </a:xfrm>
          <a:prstGeom prst="rect">
            <a:avLst/>
          </a:prstGeom>
        </p:spPr>
      </p:pic>
      <p:sp>
        <p:nvSpPr>
          <p:cNvPr id="7" name="Text 4"/>
          <p:cNvSpPr/>
          <p:nvPr/>
        </p:nvSpPr>
        <p:spPr>
          <a:xfrm>
            <a:off x="3264408" y="1865376"/>
            <a:ext cx="594360" cy="585216"/>
          </a:xfrm>
          <a:prstGeom prst="rect">
            <a:avLst/>
          </a:prstGeom>
          <a:noFill/>
          <a:ln/>
        </p:spPr>
        <p:txBody>
          <a:bodyPr wrap="square" lIns="0" tIns="0" rIns="0" bIns="0" rtlCol="0" anchor="ctr"/>
          <a:lstStyle/>
          <a:p>
            <a:pPr algn="r" indent="0" marL="0">
              <a:buNone/>
            </a:pPr>
            <a:r>
              <a:rPr lang="en-US" sz="3400" b="1" dirty="0">
                <a:solidFill>
                  <a:srgbClr val="E3E7EE"/>
                </a:solidFill>
                <a:latin typeface="Calibri" pitchFamily="34" charset="0"/>
                <a:ea typeface="Calibri" pitchFamily="34" charset="-122"/>
                <a:cs typeface="Calibri" pitchFamily="34" charset="-120"/>
              </a:rPr>
              <a:t>1</a:t>
            </a:r>
            <a:endParaRPr lang="en-US" sz="3400" dirty="0"/>
          </a:p>
        </p:txBody>
      </p:sp>
      <p:sp>
        <p:nvSpPr>
          <p:cNvPr id="8" name="Text 5"/>
          <p:cNvSpPr/>
          <p:nvPr/>
        </p:nvSpPr>
        <p:spPr>
          <a:xfrm>
            <a:off x="932688" y="2907792"/>
            <a:ext cx="2926080" cy="310896"/>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Score de propension</a:t>
            </a:r>
            <a:endParaRPr lang="en-US" sz="1500" dirty="0"/>
          </a:p>
        </p:txBody>
      </p:sp>
      <p:sp>
        <p:nvSpPr>
          <p:cNvPr id="9" name="Text 6"/>
          <p:cNvSpPr/>
          <p:nvPr/>
        </p:nvSpPr>
        <p:spPr>
          <a:xfrm>
            <a:off x="932688" y="3255264"/>
            <a:ext cx="2926080" cy="1371600"/>
          </a:xfrm>
          <a:prstGeom prst="rect">
            <a:avLst/>
          </a:prstGeom>
          <a:noFill/>
          <a:ln/>
        </p:spPr>
        <p:txBody>
          <a:bodyPr wrap="square" lIns="0" tIns="0" rIns="0" bIns="0" rtlCol="0" anchor="t"/>
          <a:lstStyle/>
          <a:p>
            <a:pPr indent="0" marL="0">
              <a:lnSpc>
                <a:spcPts val="1600"/>
              </a:lnSpc>
              <a:buNone/>
            </a:pPr>
            <a:r>
              <a:rPr lang="en-US" sz="1150" dirty="0">
                <a:solidFill>
                  <a:srgbClr val="4A5468"/>
                </a:solidFill>
                <a:latin typeface="Calibri" pitchFamily="34" charset="0"/>
                <a:ea typeface="Calibri" pitchFamily="34" charset="-122"/>
                <a:cs typeface="Calibri" pitchFamily="34" charset="-120"/>
              </a:rPr>
              <a:t>Un logit estime, pour chaque enfant, la probabilité de vivre dans un ménage bénéficiaire, à partir des caractéristiques du ménage à la période de base.</a:t>
            </a:r>
            <a:endParaRPr lang="en-US" sz="1150" dirty="0"/>
          </a:p>
        </p:txBody>
      </p:sp>
      <p:sp>
        <p:nvSpPr>
          <p:cNvPr id="10" name="Shape 7"/>
          <p:cNvSpPr/>
          <p:nvPr/>
        </p:nvSpPr>
        <p:spPr>
          <a:xfrm>
            <a:off x="4453128" y="1691640"/>
            <a:ext cx="3456432" cy="3108960"/>
          </a:xfrm>
          <a:prstGeom prst="roundRect">
            <a:avLst>
              <a:gd name="adj" fmla="val 1765"/>
            </a:avLst>
          </a:prstGeom>
          <a:solidFill>
            <a:srgbClr val="F4F5FA"/>
          </a:solidFill>
          <a:ln/>
          <a:effectLst>
            <a:outerShdw sx="100000" sy="100000" kx="0" ky="0" algn="bl" rotWithShape="0" blurRad="127000" dist="25400" dir="5400000">
              <a:srgbClr val="1E2B4A">
                <a:alpha val="10000"/>
              </a:srgbClr>
            </a:outerShdw>
          </a:effectLst>
        </p:spPr>
      </p:sp>
      <p:sp>
        <p:nvSpPr>
          <p:cNvPr id="11" name="Shape 8"/>
          <p:cNvSpPr/>
          <p:nvPr/>
        </p:nvSpPr>
        <p:spPr>
          <a:xfrm>
            <a:off x="4727448" y="1965960"/>
            <a:ext cx="804672" cy="804672"/>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2" name="Image 1" descr="preencoded.png">    </p:cNvPr>
          <p:cNvPicPr>
            <a:picLocks noChangeAspect="1"/>
          </p:cNvPicPr>
          <p:nvPr/>
        </p:nvPicPr>
        <p:blipFill>
          <a:blip r:embed="rId2"/>
          <a:stretch>
            <a:fillRect/>
          </a:stretch>
        </p:blipFill>
        <p:spPr>
          <a:xfrm>
            <a:off x="4944709" y="2183221"/>
            <a:ext cx="370149" cy="370149"/>
          </a:xfrm>
          <a:prstGeom prst="rect">
            <a:avLst/>
          </a:prstGeom>
        </p:spPr>
      </p:pic>
      <p:sp>
        <p:nvSpPr>
          <p:cNvPr id="13" name="Text 9"/>
          <p:cNvSpPr/>
          <p:nvPr/>
        </p:nvSpPr>
        <p:spPr>
          <a:xfrm>
            <a:off x="7059168" y="1865376"/>
            <a:ext cx="594360" cy="585216"/>
          </a:xfrm>
          <a:prstGeom prst="rect">
            <a:avLst/>
          </a:prstGeom>
          <a:noFill/>
          <a:ln/>
        </p:spPr>
        <p:txBody>
          <a:bodyPr wrap="square" lIns="0" tIns="0" rIns="0" bIns="0" rtlCol="0" anchor="ctr"/>
          <a:lstStyle/>
          <a:p>
            <a:pPr algn="r" indent="0" marL="0">
              <a:buNone/>
            </a:pPr>
            <a:r>
              <a:rPr lang="en-US" sz="3400" b="1" dirty="0">
                <a:solidFill>
                  <a:srgbClr val="E3E7EE"/>
                </a:solidFill>
                <a:latin typeface="Calibri" pitchFamily="34" charset="0"/>
                <a:ea typeface="Calibri" pitchFamily="34" charset="-122"/>
                <a:cs typeface="Calibri" pitchFamily="34" charset="-120"/>
              </a:rPr>
              <a:t>2</a:t>
            </a:r>
            <a:endParaRPr lang="en-US" sz="3400" dirty="0"/>
          </a:p>
        </p:txBody>
      </p:sp>
      <p:sp>
        <p:nvSpPr>
          <p:cNvPr id="14" name="Text 10"/>
          <p:cNvSpPr/>
          <p:nvPr/>
        </p:nvSpPr>
        <p:spPr>
          <a:xfrm>
            <a:off x="4727448" y="2907792"/>
            <a:ext cx="2926080" cy="310896"/>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Appariement</a:t>
            </a:r>
            <a:endParaRPr lang="en-US" sz="1500" dirty="0"/>
          </a:p>
        </p:txBody>
      </p:sp>
      <p:sp>
        <p:nvSpPr>
          <p:cNvPr id="15" name="Text 11"/>
          <p:cNvSpPr/>
          <p:nvPr/>
        </p:nvSpPr>
        <p:spPr>
          <a:xfrm>
            <a:off x="4727448" y="3255264"/>
            <a:ext cx="2926080" cy="1371600"/>
          </a:xfrm>
          <a:prstGeom prst="rect">
            <a:avLst/>
          </a:prstGeom>
          <a:noFill/>
          <a:ln/>
        </p:spPr>
        <p:txBody>
          <a:bodyPr wrap="square" lIns="0" tIns="0" rIns="0" bIns="0" rtlCol="0" anchor="t"/>
          <a:lstStyle/>
          <a:p>
            <a:pPr indent="0" marL="0">
              <a:lnSpc>
                <a:spcPts val="1600"/>
              </a:lnSpc>
              <a:buNone/>
            </a:pPr>
            <a:r>
              <a:rPr lang="en-US" sz="1150" dirty="0">
                <a:solidFill>
                  <a:srgbClr val="4A5468"/>
                </a:solidFill>
                <a:latin typeface="Calibri" pitchFamily="34" charset="0"/>
                <a:ea typeface="Calibri" pitchFamily="34" charset="-122"/>
                <a:cs typeface="Calibri" pitchFamily="34" charset="-120"/>
              </a:rPr>
              <a:t>Chaque enfant traité est comparé à des enfants témoins de score voisin, donc de genre, d'âge et de profil de ménage comparables.</a:t>
            </a:r>
            <a:endParaRPr lang="en-US" sz="1150" dirty="0"/>
          </a:p>
        </p:txBody>
      </p:sp>
      <p:sp>
        <p:nvSpPr>
          <p:cNvPr id="16" name="Shape 12"/>
          <p:cNvSpPr/>
          <p:nvPr/>
        </p:nvSpPr>
        <p:spPr>
          <a:xfrm>
            <a:off x="8247888" y="1691640"/>
            <a:ext cx="3456432" cy="3108960"/>
          </a:xfrm>
          <a:prstGeom prst="roundRect">
            <a:avLst>
              <a:gd name="adj" fmla="val 1765"/>
            </a:avLst>
          </a:prstGeom>
          <a:solidFill>
            <a:srgbClr val="F4F5FA"/>
          </a:solidFill>
          <a:ln/>
          <a:effectLst>
            <a:outerShdw sx="100000" sy="100000" kx="0" ky="0" algn="bl" rotWithShape="0" blurRad="127000" dist="25400" dir="5400000">
              <a:srgbClr val="1E2B4A">
                <a:alpha val="10000"/>
              </a:srgbClr>
            </a:outerShdw>
          </a:effectLst>
        </p:spPr>
      </p:sp>
      <p:sp>
        <p:nvSpPr>
          <p:cNvPr id="17" name="Shape 13"/>
          <p:cNvSpPr/>
          <p:nvPr/>
        </p:nvSpPr>
        <p:spPr>
          <a:xfrm>
            <a:off x="8522208" y="1965960"/>
            <a:ext cx="804672" cy="804672"/>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18" name="Image 2" descr="preencoded.png">    </p:cNvPr>
          <p:cNvPicPr>
            <a:picLocks noChangeAspect="1"/>
          </p:cNvPicPr>
          <p:nvPr/>
        </p:nvPicPr>
        <p:blipFill>
          <a:blip r:embed="rId3"/>
          <a:stretch>
            <a:fillRect/>
          </a:stretch>
        </p:blipFill>
        <p:spPr>
          <a:xfrm>
            <a:off x="8739469" y="2183221"/>
            <a:ext cx="370149" cy="370149"/>
          </a:xfrm>
          <a:prstGeom prst="rect">
            <a:avLst/>
          </a:prstGeom>
        </p:spPr>
      </p:pic>
      <p:sp>
        <p:nvSpPr>
          <p:cNvPr id="19" name="Text 14"/>
          <p:cNvSpPr/>
          <p:nvPr/>
        </p:nvSpPr>
        <p:spPr>
          <a:xfrm>
            <a:off x="10853928" y="1865376"/>
            <a:ext cx="594360" cy="585216"/>
          </a:xfrm>
          <a:prstGeom prst="rect">
            <a:avLst/>
          </a:prstGeom>
          <a:noFill/>
          <a:ln/>
        </p:spPr>
        <p:txBody>
          <a:bodyPr wrap="square" lIns="0" tIns="0" rIns="0" bIns="0" rtlCol="0" anchor="ctr"/>
          <a:lstStyle/>
          <a:p>
            <a:pPr algn="r" indent="0" marL="0">
              <a:buNone/>
            </a:pPr>
            <a:r>
              <a:rPr lang="en-US" sz="3400" b="1" dirty="0">
                <a:solidFill>
                  <a:srgbClr val="E3E7EE"/>
                </a:solidFill>
                <a:latin typeface="Calibri" pitchFamily="34" charset="0"/>
                <a:ea typeface="Calibri" pitchFamily="34" charset="-122"/>
                <a:cs typeface="Calibri" pitchFamily="34" charset="-120"/>
              </a:rPr>
              <a:t>3</a:t>
            </a:r>
            <a:endParaRPr lang="en-US" sz="3400" dirty="0"/>
          </a:p>
        </p:txBody>
      </p:sp>
      <p:sp>
        <p:nvSpPr>
          <p:cNvPr id="20" name="Text 15"/>
          <p:cNvSpPr/>
          <p:nvPr/>
        </p:nvSpPr>
        <p:spPr>
          <a:xfrm>
            <a:off x="8522208" y="2907792"/>
            <a:ext cx="2926080" cy="310896"/>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Double différence</a:t>
            </a:r>
            <a:endParaRPr lang="en-US" sz="1500" dirty="0"/>
          </a:p>
        </p:txBody>
      </p:sp>
      <p:sp>
        <p:nvSpPr>
          <p:cNvPr id="21" name="Text 16"/>
          <p:cNvSpPr/>
          <p:nvPr/>
        </p:nvSpPr>
        <p:spPr>
          <a:xfrm>
            <a:off x="8522208" y="3255264"/>
            <a:ext cx="2926080" cy="1371600"/>
          </a:xfrm>
          <a:prstGeom prst="rect">
            <a:avLst/>
          </a:prstGeom>
          <a:noFill/>
          <a:ln/>
        </p:spPr>
        <p:txBody>
          <a:bodyPr wrap="square" lIns="0" tIns="0" rIns="0" bIns="0" rtlCol="0" anchor="t"/>
          <a:lstStyle/>
          <a:p>
            <a:pPr indent="0" marL="0">
              <a:lnSpc>
                <a:spcPts val="1600"/>
              </a:lnSpc>
              <a:buNone/>
            </a:pPr>
            <a:r>
              <a:rPr lang="en-US" sz="1150" dirty="0">
                <a:solidFill>
                  <a:srgbClr val="4A5468"/>
                </a:solidFill>
                <a:latin typeface="Calibri" pitchFamily="34" charset="0"/>
                <a:ea typeface="Calibri" pitchFamily="34" charset="-122"/>
                <a:cs typeface="Calibri" pitchFamily="34" charset="-120"/>
              </a:rPr>
              <a:t>L'écart de trajectoire entre 2018 et 2021 élimine ce qui, dans les différences restantes, est inobservable mais stable dans le temps.</a:t>
            </a:r>
            <a:endParaRPr lang="en-US" sz="1150" dirty="0"/>
          </a:p>
        </p:txBody>
      </p:sp>
      <p:sp>
        <p:nvSpPr>
          <p:cNvPr id="22" name="Shape 17"/>
          <p:cNvSpPr/>
          <p:nvPr/>
        </p:nvSpPr>
        <p:spPr>
          <a:xfrm>
            <a:off x="658368" y="5010912"/>
            <a:ext cx="10890504" cy="868680"/>
          </a:xfrm>
          <a:prstGeom prst="roundRect">
            <a:avLst>
              <a:gd name="adj" fmla="val 6316"/>
            </a:avLst>
          </a:prstGeom>
          <a:solidFill>
            <a:srgbClr val="1E2B4A"/>
          </a:solidFill>
          <a:ln/>
          <a:effectLst>
            <a:outerShdw sx="100000" sy="100000" kx="0" ky="0" algn="bl" rotWithShape="0" blurRad="127000" dist="25400" dir="5400000">
              <a:srgbClr val="1E2B4A">
                <a:alpha val="10000"/>
              </a:srgbClr>
            </a:outerShdw>
          </a:effectLst>
        </p:spPr>
      </p:sp>
      <p:sp>
        <p:nvSpPr>
          <p:cNvPr id="23" name="Text 18"/>
          <p:cNvSpPr/>
          <p:nvPr/>
        </p:nvSpPr>
        <p:spPr>
          <a:xfrm>
            <a:off x="1005840" y="5120640"/>
            <a:ext cx="10195560" cy="658368"/>
          </a:xfrm>
          <a:prstGeom prst="rect">
            <a:avLst/>
          </a:prstGeom>
          <a:noFill/>
          <a:ln/>
        </p:spPr>
        <p:txBody>
          <a:bodyPr wrap="square" lIns="0" tIns="0" rIns="0" bIns="0" rtlCol="0" anchor="ctr"/>
          <a:lstStyle/>
          <a:p>
            <a:pPr algn="ctr" indent="0" marL="0">
              <a:lnSpc>
                <a:spcPts val="1800"/>
              </a:lnSpc>
              <a:buNone/>
            </a:pPr>
            <a:r>
              <a:rPr lang="en-US" sz="1300" dirty="0">
                <a:solidFill>
                  <a:srgbClr val="FFFFFF"/>
                </a:solidFill>
                <a:latin typeface="Calibri" pitchFamily="34" charset="0"/>
                <a:ea typeface="Calibri" pitchFamily="34" charset="-122"/>
                <a:cs typeface="Calibri" pitchFamily="34" charset="-120"/>
              </a:rPr>
              <a:t>L'estimateur retenu, PSM-double différence (Heckman et al., 1997, 1998), corrige simultanément la sélection sur les caractéristiques observables et les effets fixes inobservables.</a:t>
            </a:r>
            <a:endParaRPr lang="en-US" sz="1300" dirty="0"/>
          </a:p>
        </p:txBody>
      </p:sp>
      <p:sp>
        <p:nvSpPr>
          <p:cNvPr id="24" name="Text 19"/>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12</a:t>
            </a:r>
            <a:endParaRPr lang="en-US" sz="950" dirty="0"/>
          </a:p>
        </p:txBody>
      </p:sp>
      <p:pic>
        <p:nvPicPr>
          <p:cNvPr id="25" name="Image 3" descr="logos/logo_ensae_new.png">    </p:cNvPr>
          <p:cNvPicPr>
            <a:picLocks noChangeAspect="1"/>
          </p:cNvPicPr>
          <p:nvPr/>
        </p:nvPicPr>
        <p:blipFill>
          <a:blip r:embed="rId4"/>
          <a:stretch>
            <a:fillRect/>
          </a:stretch>
        </p:blipFill>
        <p:spPr>
          <a:xfrm>
            <a:off x="11384280" y="6355080"/>
            <a:ext cx="384048" cy="3840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13D"/>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24365E"/>
          </a:solidFill>
          <a:ln/>
        </p:spPr>
      </p:sp>
      <p:sp>
        <p:nvSpPr>
          <p:cNvPr id="3" name="Shape 1"/>
          <p:cNvSpPr/>
          <p:nvPr/>
        </p:nvSpPr>
        <p:spPr>
          <a:xfrm>
            <a:off x="-1463040" y="4389120"/>
            <a:ext cx="4023360" cy="4023360"/>
          </a:xfrm>
          <a:prstGeom prst="ellipse">
            <a:avLst/>
          </a:prstGeom>
          <a:solidFill>
            <a:srgbClr val="24365E"/>
          </a:solidFill>
          <a:ln/>
        </p:spPr>
      </p:sp>
      <p:sp>
        <p:nvSpPr>
          <p:cNvPr id="4" name="Text 2"/>
          <p:cNvSpPr/>
          <p:nvPr/>
        </p:nvSpPr>
        <p:spPr>
          <a:xfrm>
            <a:off x="1005840" y="2231136"/>
            <a:ext cx="1280160" cy="1207008"/>
          </a:xfrm>
          <a:prstGeom prst="rect">
            <a:avLst/>
          </a:prstGeom>
          <a:noFill/>
          <a:ln/>
        </p:spPr>
        <p:txBody>
          <a:bodyPr wrap="square" lIns="0" tIns="0" rIns="0" bIns="0" rtlCol="0" anchor="ctr"/>
          <a:lstStyle/>
          <a:p>
            <a:pPr algn="l" indent="0" marL="0">
              <a:buNone/>
            </a:pPr>
            <a:r>
              <a:rPr lang="en-US" sz="7200" b="1" dirty="0">
                <a:solidFill>
                  <a:srgbClr val="D96F2B"/>
                </a:solidFill>
                <a:latin typeface="Calibri" pitchFamily="34" charset="0"/>
                <a:ea typeface="Calibri" pitchFamily="34" charset="-122"/>
                <a:cs typeface="Calibri" pitchFamily="34" charset="-120"/>
              </a:rPr>
              <a:t>04</a:t>
            </a:r>
            <a:endParaRPr lang="en-US" sz="7200" dirty="0"/>
          </a:p>
        </p:txBody>
      </p:sp>
      <p:sp>
        <p:nvSpPr>
          <p:cNvPr id="5" name="Text 3"/>
          <p:cNvSpPr/>
          <p:nvPr/>
        </p:nvSpPr>
        <p:spPr>
          <a:xfrm>
            <a:off x="2377440" y="2395728"/>
            <a:ext cx="86868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Résultats empiriques</a:t>
            </a:r>
            <a:endParaRPr lang="en-US" sz="3400" dirty="0"/>
          </a:p>
        </p:txBody>
      </p:sp>
      <p:sp>
        <p:nvSpPr>
          <p:cNvPr id="6" name="Text 4"/>
          <p:cNvSpPr/>
          <p:nvPr/>
        </p:nvSpPr>
        <p:spPr>
          <a:xfrm>
            <a:off x="2423160" y="3273552"/>
            <a:ext cx="8229600" cy="457200"/>
          </a:xfrm>
          <a:prstGeom prst="rect">
            <a:avLst/>
          </a:prstGeom>
          <a:noFill/>
          <a:ln/>
        </p:spPr>
        <p:txBody>
          <a:bodyPr wrap="square" lIns="0" tIns="0" rIns="0" bIns="0" rtlCol="0" anchor="t"/>
          <a:lstStyle/>
          <a:p>
            <a:pPr indent="0" marL="0">
              <a:lnSpc>
                <a:spcPts val="1800"/>
              </a:lnSpc>
              <a:buNone/>
            </a:pPr>
            <a:r>
              <a:rPr lang="en-US" sz="1400" dirty="0">
                <a:solidFill>
                  <a:srgbClr val="AFC0DA"/>
                </a:solidFill>
                <a:latin typeface="Calibri" pitchFamily="34" charset="0"/>
                <a:ea typeface="Calibri" pitchFamily="34" charset="-122"/>
                <a:cs typeface="Calibri" pitchFamily="34" charset="-120"/>
              </a:rPr>
              <a:t>Un effet qui ne va pas dans le sens attendu, et qui se localise précisément.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État de la pauvreté multidimensionnelle des enfants</a:t>
            </a:r>
            <a:endParaRPr lang="en-US" sz="2700" dirty="0"/>
          </a:p>
        </p:txBody>
      </p:sp>
      <p:sp>
        <p:nvSpPr>
          <p:cNvPr id="3" name="Text 1"/>
          <p:cNvSpPr/>
          <p:nvPr/>
        </p:nvSpPr>
        <p:spPr>
          <a:xfrm>
            <a:off x="548640" y="896112"/>
            <a:ext cx="11064240" cy="475488"/>
          </a:xfrm>
          <a:prstGeom prst="rect">
            <a:avLst/>
          </a:prstGeom>
          <a:noFill/>
          <a:ln/>
        </p:spPr>
        <p:txBody>
          <a:bodyPr wrap="square" lIns="0" tIns="0" rIns="0" bIns="0" rtlCol="0" anchor="t"/>
          <a:lstStyle/>
          <a:p>
            <a:pPr indent="0" marL="0">
              <a:lnSpc>
                <a:spcPts val="1700"/>
              </a:lnSpc>
              <a:buNone/>
            </a:pPr>
            <a:r>
              <a:rPr lang="en-US" sz="1300" dirty="0">
                <a:solidFill>
                  <a:srgbClr val="4A5468"/>
                </a:solidFill>
                <a:latin typeface="Calibri" pitchFamily="34" charset="0"/>
                <a:ea typeface="Calibri" pitchFamily="34" charset="-122"/>
                <a:cs typeface="Calibri" pitchFamily="34" charset="-120"/>
              </a:rPr>
              <a:t>L'incidence recule entre les deux vagues, mais l'intensité reste stable : les enfants pauvres cumulent toujours près de cinq privations sur sept.</a:t>
            </a:r>
            <a:endParaRPr lang="en-US" sz="1300" dirty="0"/>
          </a:p>
        </p:txBody>
      </p:sp>
      <p:sp>
        <p:nvSpPr>
          <p:cNvPr id="4" name="Shape 2"/>
          <p:cNvSpPr/>
          <p:nvPr/>
        </p:nvSpPr>
        <p:spPr>
          <a:xfrm>
            <a:off x="658368" y="1783080"/>
            <a:ext cx="5394960" cy="4023360"/>
          </a:xfrm>
          <a:prstGeom prst="roundRect">
            <a:avLst>
              <a:gd name="adj" fmla="val 1364"/>
            </a:avLst>
          </a:prstGeom>
          <a:solidFill>
            <a:srgbClr val="F4F5FA"/>
          </a:solidFill>
          <a:ln/>
          <a:effectLst>
            <a:outerShdw sx="100000" sy="100000" kx="0" ky="0" algn="bl" rotWithShape="0" blurRad="127000" dist="25400" dir="5400000">
              <a:srgbClr val="1E2B4A">
                <a:alpha val="10000"/>
              </a:srgbClr>
            </a:outerShdw>
          </a:effectLst>
        </p:spPr>
      </p:sp>
      <p:sp>
        <p:nvSpPr>
          <p:cNvPr id="5" name="Text 3"/>
          <p:cNvSpPr/>
          <p:nvPr/>
        </p:nvSpPr>
        <p:spPr>
          <a:xfrm>
            <a:off x="960120" y="2011680"/>
            <a:ext cx="4800600" cy="329184"/>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Indice MODA aux deux vagues</a:t>
            </a:r>
            <a:endParaRPr lang="en-US" sz="1500" dirty="0"/>
          </a:p>
        </p:txBody>
      </p:sp>
      <p:sp>
        <p:nvSpPr>
          <p:cNvPr id="6" name="Text 4"/>
          <p:cNvSpPr/>
          <p:nvPr/>
        </p:nvSpPr>
        <p:spPr>
          <a:xfrm>
            <a:off x="960120" y="2487168"/>
            <a:ext cx="1691640" cy="274320"/>
          </a:xfrm>
          <a:prstGeom prst="rect">
            <a:avLst/>
          </a:prstGeom>
          <a:noFill/>
          <a:ln/>
        </p:spPr>
        <p:txBody>
          <a:bodyPr wrap="square" lIns="0" tIns="0" rIns="0" bIns="0" rtlCol="0" anchor="ctr"/>
          <a:lstStyle/>
          <a:p>
            <a:pPr algn="l" indent="0" marL="0">
              <a:buNone/>
            </a:pPr>
            <a:endParaRPr lang="en-US" sz="1100" dirty="0"/>
          </a:p>
        </p:txBody>
      </p:sp>
      <p:sp>
        <p:nvSpPr>
          <p:cNvPr id="7" name="Text 5"/>
          <p:cNvSpPr/>
          <p:nvPr/>
        </p:nvSpPr>
        <p:spPr>
          <a:xfrm>
            <a:off x="2697480" y="2487168"/>
            <a:ext cx="1097280" cy="274320"/>
          </a:xfrm>
          <a:prstGeom prst="rect">
            <a:avLst/>
          </a:prstGeom>
          <a:noFill/>
          <a:ln/>
        </p:spPr>
        <p:txBody>
          <a:bodyPr wrap="square" lIns="0" tIns="0" rIns="0" bIns="0" rtlCol="0" anchor="ctr"/>
          <a:lstStyle/>
          <a:p>
            <a:pPr algn="ctr" indent="0" marL="0">
              <a:buNone/>
            </a:pPr>
            <a:r>
              <a:rPr lang="en-US" sz="1100" b="1" dirty="0">
                <a:solidFill>
                  <a:srgbClr val="8A93A5"/>
                </a:solidFill>
                <a:latin typeface="Calibri" pitchFamily="34" charset="0"/>
                <a:ea typeface="Calibri" pitchFamily="34" charset="-122"/>
                <a:cs typeface="Calibri" pitchFamily="34" charset="-120"/>
              </a:rPr>
              <a:t>2018-19</a:t>
            </a:r>
            <a:endParaRPr lang="en-US" sz="1100" dirty="0"/>
          </a:p>
        </p:txBody>
      </p:sp>
      <p:sp>
        <p:nvSpPr>
          <p:cNvPr id="8" name="Text 6"/>
          <p:cNvSpPr/>
          <p:nvPr/>
        </p:nvSpPr>
        <p:spPr>
          <a:xfrm>
            <a:off x="3840480" y="2487168"/>
            <a:ext cx="1097280" cy="274320"/>
          </a:xfrm>
          <a:prstGeom prst="rect">
            <a:avLst/>
          </a:prstGeom>
          <a:noFill/>
          <a:ln/>
        </p:spPr>
        <p:txBody>
          <a:bodyPr wrap="square" lIns="0" tIns="0" rIns="0" bIns="0" rtlCol="0" anchor="ctr"/>
          <a:lstStyle/>
          <a:p>
            <a:pPr algn="ctr" indent="0" marL="0">
              <a:buNone/>
            </a:pPr>
            <a:r>
              <a:rPr lang="en-US" sz="1100" b="1" dirty="0">
                <a:solidFill>
                  <a:srgbClr val="8A93A5"/>
                </a:solidFill>
                <a:latin typeface="Calibri" pitchFamily="34" charset="0"/>
                <a:ea typeface="Calibri" pitchFamily="34" charset="-122"/>
                <a:cs typeface="Calibri" pitchFamily="34" charset="-120"/>
              </a:rPr>
              <a:t>2021-22</a:t>
            </a:r>
            <a:endParaRPr lang="en-US" sz="1100" dirty="0"/>
          </a:p>
        </p:txBody>
      </p:sp>
      <p:sp>
        <p:nvSpPr>
          <p:cNvPr id="9" name="Text 7"/>
          <p:cNvSpPr/>
          <p:nvPr/>
        </p:nvSpPr>
        <p:spPr>
          <a:xfrm>
            <a:off x="4983480" y="2487168"/>
            <a:ext cx="1097280" cy="274320"/>
          </a:xfrm>
          <a:prstGeom prst="rect">
            <a:avLst/>
          </a:prstGeom>
          <a:noFill/>
          <a:ln/>
        </p:spPr>
        <p:txBody>
          <a:bodyPr wrap="square" lIns="0" tIns="0" rIns="0" bIns="0" rtlCol="0" anchor="ctr"/>
          <a:lstStyle/>
          <a:p>
            <a:pPr algn="ctr" indent="0" marL="0">
              <a:buNone/>
            </a:pPr>
            <a:r>
              <a:rPr lang="en-US" sz="1100" b="1" dirty="0">
                <a:solidFill>
                  <a:srgbClr val="8A93A5"/>
                </a:solidFill>
                <a:latin typeface="Calibri" pitchFamily="34" charset="0"/>
                <a:ea typeface="Calibri" pitchFamily="34" charset="-122"/>
                <a:cs typeface="Calibri" pitchFamily="34" charset="-120"/>
              </a:rPr>
              <a:t>Écart</a:t>
            </a:r>
            <a:endParaRPr lang="en-US" sz="1100" dirty="0"/>
          </a:p>
        </p:txBody>
      </p:sp>
      <p:sp>
        <p:nvSpPr>
          <p:cNvPr id="10" name="Shape 8"/>
          <p:cNvSpPr/>
          <p:nvPr/>
        </p:nvSpPr>
        <p:spPr>
          <a:xfrm>
            <a:off x="960120" y="3310128"/>
            <a:ext cx="4800600" cy="10973"/>
          </a:xfrm>
          <a:prstGeom prst="rect">
            <a:avLst/>
          </a:prstGeom>
          <a:solidFill>
            <a:srgbClr val="E3E7EE"/>
          </a:solidFill>
          <a:ln/>
        </p:spPr>
      </p:sp>
      <p:sp>
        <p:nvSpPr>
          <p:cNvPr id="11" name="Text 9"/>
          <p:cNvSpPr/>
          <p:nvPr/>
        </p:nvSpPr>
        <p:spPr>
          <a:xfrm>
            <a:off x="960120" y="2852928"/>
            <a:ext cx="1691640" cy="384048"/>
          </a:xfrm>
          <a:prstGeom prst="rect">
            <a:avLst/>
          </a:prstGeom>
          <a:noFill/>
          <a:ln/>
        </p:spPr>
        <p:txBody>
          <a:bodyPr wrap="square" lIns="0" tIns="0" rIns="0" bIns="0" rtlCol="0" anchor="ctr"/>
          <a:lstStyle/>
          <a:p>
            <a:pPr algn="l" indent="0" marL="0">
              <a:buNone/>
            </a:pPr>
            <a:r>
              <a:rPr lang="en-US" sz="1250" dirty="0">
                <a:solidFill>
                  <a:srgbClr val="4A5468"/>
                </a:solidFill>
                <a:latin typeface="Calibri" pitchFamily="34" charset="0"/>
                <a:ea typeface="Calibri" pitchFamily="34" charset="-122"/>
                <a:cs typeface="Calibri" pitchFamily="34" charset="-120"/>
              </a:rPr>
              <a:t>Incidence</a:t>
            </a:r>
            <a:endParaRPr lang="en-US" sz="1250" dirty="0"/>
          </a:p>
        </p:txBody>
      </p:sp>
      <p:sp>
        <p:nvSpPr>
          <p:cNvPr id="12" name="Text 10"/>
          <p:cNvSpPr/>
          <p:nvPr/>
        </p:nvSpPr>
        <p:spPr>
          <a:xfrm>
            <a:off x="2697480" y="2852928"/>
            <a:ext cx="1097280" cy="384048"/>
          </a:xfrm>
          <a:prstGeom prst="rect">
            <a:avLst/>
          </a:prstGeom>
          <a:noFill/>
          <a:ln/>
        </p:spPr>
        <p:txBody>
          <a:bodyPr wrap="square" lIns="0" tIns="0" rIns="0" bIns="0" rtlCol="0" anchor="ctr"/>
          <a:lstStyle/>
          <a:p>
            <a:pPr algn="ctr" indent="0" marL="0">
              <a:buNone/>
            </a:pPr>
            <a:r>
              <a:rPr lang="en-US" sz="1500" b="1" dirty="0">
                <a:solidFill>
                  <a:srgbClr val="1E2B4A"/>
                </a:solidFill>
                <a:latin typeface="Calibri" pitchFamily="34" charset="0"/>
                <a:ea typeface="Calibri" pitchFamily="34" charset="-122"/>
                <a:cs typeface="Calibri" pitchFamily="34" charset="-120"/>
              </a:rPr>
              <a:t>63,5 %</a:t>
            </a:r>
            <a:endParaRPr lang="en-US" sz="1500" dirty="0"/>
          </a:p>
        </p:txBody>
      </p:sp>
      <p:sp>
        <p:nvSpPr>
          <p:cNvPr id="13" name="Text 11"/>
          <p:cNvSpPr/>
          <p:nvPr/>
        </p:nvSpPr>
        <p:spPr>
          <a:xfrm>
            <a:off x="3840480" y="2852928"/>
            <a:ext cx="1097280" cy="384048"/>
          </a:xfrm>
          <a:prstGeom prst="rect">
            <a:avLst/>
          </a:prstGeom>
          <a:noFill/>
          <a:ln/>
        </p:spPr>
        <p:txBody>
          <a:bodyPr wrap="square" lIns="0" tIns="0" rIns="0" bIns="0" rtlCol="0" anchor="ctr"/>
          <a:lstStyle/>
          <a:p>
            <a:pPr algn="ctr" indent="0" marL="0">
              <a:buNone/>
            </a:pPr>
            <a:r>
              <a:rPr lang="en-US" sz="1500" b="1" dirty="0">
                <a:solidFill>
                  <a:srgbClr val="1E2B4A"/>
                </a:solidFill>
                <a:latin typeface="Calibri" pitchFamily="34" charset="0"/>
                <a:ea typeface="Calibri" pitchFamily="34" charset="-122"/>
                <a:cs typeface="Calibri" pitchFamily="34" charset="-120"/>
              </a:rPr>
              <a:t>57,8 %</a:t>
            </a:r>
            <a:endParaRPr lang="en-US" sz="1500" dirty="0"/>
          </a:p>
        </p:txBody>
      </p:sp>
      <p:sp>
        <p:nvSpPr>
          <p:cNvPr id="14" name="Text 12"/>
          <p:cNvSpPr/>
          <p:nvPr/>
        </p:nvSpPr>
        <p:spPr>
          <a:xfrm>
            <a:off x="4983480" y="2852928"/>
            <a:ext cx="1097280" cy="384048"/>
          </a:xfrm>
          <a:prstGeom prst="rect">
            <a:avLst/>
          </a:prstGeom>
          <a:noFill/>
          <a:ln/>
        </p:spPr>
        <p:txBody>
          <a:bodyPr wrap="square" lIns="0" tIns="0" rIns="0" bIns="0" rtlCol="0" anchor="ctr"/>
          <a:lstStyle/>
          <a:p>
            <a:pPr algn="ctr" indent="0" marL="0">
              <a:buNone/>
            </a:pPr>
            <a:r>
              <a:rPr lang="en-US" sz="1500" b="1" dirty="0">
                <a:solidFill>
                  <a:srgbClr val="D96F2B"/>
                </a:solidFill>
                <a:latin typeface="Calibri" pitchFamily="34" charset="0"/>
                <a:ea typeface="Calibri" pitchFamily="34" charset="-122"/>
                <a:cs typeface="Calibri" pitchFamily="34" charset="-120"/>
              </a:rPr>
              <a:t>-5,7 pts</a:t>
            </a:r>
            <a:endParaRPr lang="en-US" sz="1500" dirty="0"/>
          </a:p>
        </p:txBody>
      </p:sp>
      <p:sp>
        <p:nvSpPr>
          <p:cNvPr id="15" name="Shape 13"/>
          <p:cNvSpPr/>
          <p:nvPr/>
        </p:nvSpPr>
        <p:spPr>
          <a:xfrm>
            <a:off x="960120" y="3968496"/>
            <a:ext cx="4800600" cy="10973"/>
          </a:xfrm>
          <a:prstGeom prst="rect">
            <a:avLst/>
          </a:prstGeom>
          <a:solidFill>
            <a:srgbClr val="E3E7EE"/>
          </a:solidFill>
          <a:ln/>
        </p:spPr>
      </p:sp>
      <p:sp>
        <p:nvSpPr>
          <p:cNvPr id="16" name="Text 14"/>
          <p:cNvSpPr/>
          <p:nvPr/>
        </p:nvSpPr>
        <p:spPr>
          <a:xfrm>
            <a:off x="960120" y="3511296"/>
            <a:ext cx="1691640" cy="384048"/>
          </a:xfrm>
          <a:prstGeom prst="rect">
            <a:avLst/>
          </a:prstGeom>
          <a:noFill/>
          <a:ln/>
        </p:spPr>
        <p:txBody>
          <a:bodyPr wrap="square" lIns="0" tIns="0" rIns="0" bIns="0" rtlCol="0" anchor="ctr"/>
          <a:lstStyle/>
          <a:p>
            <a:pPr algn="l" indent="0" marL="0">
              <a:buNone/>
            </a:pPr>
            <a:r>
              <a:rPr lang="en-US" sz="1250" dirty="0">
                <a:solidFill>
                  <a:srgbClr val="4A5468"/>
                </a:solidFill>
                <a:latin typeface="Calibri" pitchFamily="34" charset="0"/>
                <a:ea typeface="Calibri" pitchFamily="34" charset="-122"/>
                <a:cs typeface="Calibri" pitchFamily="34" charset="-120"/>
              </a:rPr>
              <a:t>Intensité</a:t>
            </a:r>
            <a:endParaRPr lang="en-US" sz="1250" dirty="0"/>
          </a:p>
        </p:txBody>
      </p:sp>
      <p:sp>
        <p:nvSpPr>
          <p:cNvPr id="17" name="Text 15"/>
          <p:cNvSpPr/>
          <p:nvPr/>
        </p:nvSpPr>
        <p:spPr>
          <a:xfrm>
            <a:off x="2697480" y="3511296"/>
            <a:ext cx="1097280" cy="384048"/>
          </a:xfrm>
          <a:prstGeom prst="rect">
            <a:avLst/>
          </a:prstGeom>
          <a:noFill/>
          <a:ln/>
        </p:spPr>
        <p:txBody>
          <a:bodyPr wrap="square" lIns="0" tIns="0" rIns="0" bIns="0" rtlCol="0" anchor="ctr"/>
          <a:lstStyle/>
          <a:p>
            <a:pPr algn="ctr" indent="0" marL="0">
              <a:buNone/>
            </a:pPr>
            <a:r>
              <a:rPr lang="en-US" sz="1500" b="1" dirty="0">
                <a:solidFill>
                  <a:srgbClr val="1E2B4A"/>
                </a:solidFill>
                <a:latin typeface="Calibri" pitchFamily="34" charset="0"/>
                <a:ea typeface="Calibri" pitchFamily="34" charset="-122"/>
                <a:cs typeface="Calibri" pitchFamily="34" charset="-120"/>
              </a:rPr>
              <a:t>70,7 %</a:t>
            </a:r>
            <a:endParaRPr lang="en-US" sz="1500" dirty="0"/>
          </a:p>
        </p:txBody>
      </p:sp>
      <p:sp>
        <p:nvSpPr>
          <p:cNvPr id="18" name="Text 16"/>
          <p:cNvSpPr/>
          <p:nvPr/>
        </p:nvSpPr>
        <p:spPr>
          <a:xfrm>
            <a:off x="3840480" y="3511296"/>
            <a:ext cx="1097280" cy="384048"/>
          </a:xfrm>
          <a:prstGeom prst="rect">
            <a:avLst/>
          </a:prstGeom>
          <a:noFill/>
          <a:ln/>
        </p:spPr>
        <p:txBody>
          <a:bodyPr wrap="square" lIns="0" tIns="0" rIns="0" bIns="0" rtlCol="0" anchor="ctr"/>
          <a:lstStyle/>
          <a:p>
            <a:pPr algn="ctr" indent="0" marL="0">
              <a:buNone/>
            </a:pPr>
            <a:r>
              <a:rPr lang="en-US" sz="1500" b="1" dirty="0">
                <a:solidFill>
                  <a:srgbClr val="1E2B4A"/>
                </a:solidFill>
                <a:latin typeface="Calibri" pitchFamily="34" charset="0"/>
                <a:ea typeface="Calibri" pitchFamily="34" charset="-122"/>
                <a:cs typeface="Calibri" pitchFamily="34" charset="-120"/>
              </a:rPr>
              <a:t>70,3 %</a:t>
            </a:r>
            <a:endParaRPr lang="en-US" sz="1500" dirty="0"/>
          </a:p>
        </p:txBody>
      </p:sp>
      <p:sp>
        <p:nvSpPr>
          <p:cNvPr id="19" name="Text 17"/>
          <p:cNvSpPr/>
          <p:nvPr/>
        </p:nvSpPr>
        <p:spPr>
          <a:xfrm>
            <a:off x="4983480" y="3511296"/>
            <a:ext cx="1097280" cy="384048"/>
          </a:xfrm>
          <a:prstGeom prst="rect">
            <a:avLst/>
          </a:prstGeom>
          <a:noFill/>
          <a:ln/>
        </p:spPr>
        <p:txBody>
          <a:bodyPr wrap="square" lIns="0" tIns="0" rIns="0" bIns="0" rtlCol="0" anchor="ctr"/>
          <a:lstStyle/>
          <a:p>
            <a:pPr algn="ctr" indent="0" marL="0">
              <a:buNone/>
            </a:pPr>
            <a:r>
              <a:rPr lang="en-US" sz="1500" b="1" dirty="0">
                <a:solidFill>
                  <a:srgbClr val="D96F2B"/>
                </a:solidFill>
                <a:latin typeface="Calibri" pitchFamily="34" charset="0"/>
                <a:ea typeface="Calibri" pitchFamily="34" charset="-122"/>
                <a:cs typeface="Calibri" pitchFamily="34" charset="-120"/>
              </a:rPr>
              <a:t>-0,4 pt</a:t>
            </a:r>
            <a:endParaRPr lang="en-US" sz="1500" dirty="0"/>
          </a:p>
        </p:txBody>
      </p:sp>
      <p:sp>
        <p:nvSpPr>
          <p:cNvPr id="20" name="Shape 18"/>
          <p:cNvSpPr/>
          <p:nvPr/>
        </p:nvSpPr>
        <p:spPr>
          <a:xfrm>
            <a:off x="960120" y="4626864"/>
            <a:ext cx="4800600" cy="10973"/>
          </a:xfrm>
          <a:prstGeom prst="rect">
            <a:avLst/>
          </a:prstGeom>
          <a:solidFill>
            <a:srgbClr val="E3E7EE"/>
          </a:solidFill>
          <a:ln/>
        </p:spPr>
      </p:sp>
      <p:sp>
        <p:nvSpPr>
          <p:cNvPr id="21" name="Text 19"/>
          <p:cNvSpPr/>
          <p:nvPr/>
        </p:nvSpPr>
        <p:spPr>
          <a:xfrm>
            <a:off x="960120" y="4169664"/>
            <a:ext cx="1691640" cy="384048"/>
          </a:xfrm>
          <a:prstGeom prst="rect">
            <a:avLst/>
          </a:prstGeom>
          <a:noFill/>
          <a:ln/>
        </p:spPr>
        <p:txBody>
          <a:bodyPr wrap="square" lIns="0" tIns="0" rIns="0" bIns="0" rtlCol="0" anchor="ctr"/>
          <a:lstStyle/>
          <a:p>
            <a:pPr algn="l" indent="0" marL="0">
              <a:buNone/>
            </a:pPr>
            <a:r>
              <a:rPr lang="en-US" sz="1250" dirty="0">
                <a:solidFill>
                  <a:srgbClr val="4A5468"/>
                </a:solidFill>
                <a:latin typeface="Calibri" pitchFamily="34" charset="0"/>
                <a:ea typeface="Calibri" pitchFamily="34" charset="-122"/>
                <a:cs typeface="Calibri" pitchFamily="34" charset="-120"/>
              </a:rPr>
              <a:t>Indice ajusté</a:t>
            </a:r>
            <a:endParaRPr lang="en-US" sz="1250" dirty="0"/>
          </a:p>
        </p:txBody>
      </p:sp>
      <p:sp>
        <p:nvSpPr>
          <p:cNvPr id="22" name="Text 20"/>
          <p:cNvSpPr/>
          <p:nvPr/>
        </p:nvSpPr>
        <p:spPr>
          <a:xfrm>
            <a:off x="2697480" y="4169664"/>
            <a:ext cx="1097280" cy="384048"/>
          </a:xfrm>
          <a:prstGeom prst="rect">
            <a:avLst/>
          </a:prstGeom>
          <a:noFill/>
          <a:ln/>
        </p:spPr>
        <p:txBody>
          <a:bodyPr wrap="square" lIns="0" tIns="0" rIns="0" bIns="0" rtlCol="0" anchor="ctr"/>
          <a:lstStyle/>
          <a:p>
            <a:pPr algn="ctr" indent="0" marL="0">
              <a:buNone/>
            </a:pPr>
            <a:r>
              <a:rPr lang="en-US" sz="1500" b="1" dirty="0">
                <a:solidFill>
                  <a:srgbClr val="1E2B4A"/>
                </a:solidFill>
                <a:latin typeface="Calibri" pitchFamily="34" charset="0"/>
                <a:ea typeface="Calibri" pitchFamily="34" charset="-122"/>
                <a:cs typeface="Calibri" pitchFamily="34" charset="-120"/>
              </a:rPr>
              <a:t>0,449</a:t>
            </a:r>
            <a:endParaRPr lang="en-US" sz="1500" dirty="0"/>
          </a:p>
        </p:txBody>
      </p:sp>
      <p:sp>
        <p:nvSpPr>
          <p:cNvPr id="23" name="Text 21"/>
          <p:cNvSpPr/>
          <p:nvPr/>
        </p:nvSpPr>
        <p:spPr>
          <a:xfrm>
            <a:off x="3840480" y="4169664"/>
            <a:ext cx="1097280" cy="384048"/>
          </a:xfrm>
          <a:prstGeom prst="rect">
            <a:avLst/>
          </a:prstGeom>
          <a:noFill/>
          <a:ln/>
        </p:spPr>
        <p:txBody>
          <a:bodyPr wrap="square" lIns="0" tIns="0" rIns="0" bIns="0" rtlCol="0" anchor="ctr"/>
          <a:lstStyle/>
          <a:p>
            <a:pPr algn="ctr" indent="0" marL="0">
              <a:buNone/>
            </a:pPr>
            <a:r>
              <a:rPr lang="en-US" sz="1500" b="1" dirty="0">
                <a:solidFill>
                  <a:srgbClr val="1E2B4A"/>
                </a:solidFill>
                <a:latin typeface="Calibri" pitchFamily="34" charset="0"/>
                <a:ea typeface="Calibri" pitchFamily="34" charset="-122"/>
                <a:cs typeface="Calibri" pitchFamily="34" charset="-120"/>
              </a:rPr>
              <a:t>0,406</a:t>
            </a:r>
            <a:endParaRPr lang="en-US" sz="1500" dirty="0"/>
          </a:p>
        </p:txBody>
      </p:sp>
      <p:sp>
        <p:nvSpPr>
          <p:cNvPr id="24" name="Text 22"/>
          <p:cNvSpPr/>
          <p:nvPr/>
        </p:nvSpPr>
        <p:spPr>
          <a:xfrm>
            <a:off x="4983480" y="4169664"/>
            <a:ext cx="1097280" cy="384048"/>
          </a:xfrm>
          <a:prstGeom prst="rect">
            <a:avLst/>
          </a:prstGeom>
          <a:noFill/>
          <a:ln/>
        </p:spPr>
        <p:txBody>
          <a:bodyPr wrap="square" lIns="0" tIns="0" rIns="0" bIns="0" rtlCol="0" anchor="ctr"/>
          <a:lstStyle/>
          <a:p>
            <a:pPr algn="ctr" indent="0" marL="0">
              <a:buNone/>
            </a:pPr>
            <a:r>
              <a:rPr lang="en-US" sz="1500" b="1" dirty="0">
                <a:solidFill>
                  <a:srgbClr val="D96F2B"/>
                </a:solidFill>
                <a:latin typeface="Calibri" pitchFamily="34" charset="0"/>
                <a:ea typeface="Calibri" pitchFamily="34" charset="-122"/>
                <a:cs typeface="Calibri" pitchFamily="34" charset="-120"/>
              </a:rPr>
              <a:t>-0,043</a:t>
            </a:r>
            <a:endParaRPr lang="en-US" sz="1500" dirty="0"/>
          </a:p>
        </p:txBody>
      </p:sp>
      <p:sp>
        <p:nvSpPr>
          <p:cNvPr id="25" name="Text 23"/>
          <p:cNvSpPr/>
          <p:nvPr/>
        </p:nvSpPr>
        <p:spPr>
          <a:xfrm>
            <a:off x="960120" y="5074920"/>
            <a:ext cx="4800600" cy="457200"/>
          </a:xfrm>
          <a:prstGeom prst="rect">
            <a:avLst/>
          </a:prstGeom>
          <a:noFill/>
          <a:ln/>
        </p:spPr>
        <p:txBody>
          <a:bodyPr wrap="square" lIns="0" tIns="0" rIns="0" bIns="0" rtlCol="0" anchor="t"/>
          <a:lstStyle/>
          <a:p>
            <a:pPr indent="0" marL="0">
              <a:lnSpc>
                <a:spcPts val="1500"/>
              </a:lnSpc>
              <a:buNone/>
            </a:pPr>
            <a:r>
              <a:rPr lang="en-US" sz="1100" dirty="0">
                <a:solidFill>
                  <a:srgbClr val="4A5468"/>
                </a:solidFill>
                <a:latin typeface="Calibri" pitchFamily="34" charset="0"/>
                <a:ea typeface="Calibri" pitchFamily="34" charset="-122"/>
                <a:cs typeface="Calibri" pitchFamily="34" charset="-120"/>
              </a:rPr>
              <a:t>Enfants de 0 à 17 ans suivis aux deux vagues, seuil de quatre dimensions.</a:t>
            </a:r>
            <a:endParaRPr lang="en-US" sz="1100" dirty="0"/>
          </a:p>
        </p:txBody>
      </p:sp>
      <p:sp>
        <p:nvSpPr>
          <p:cNvPr id="26" name="Shape 24"/>
          <p:cNvSpPr/>
          <p:nvPr/>
        </p:nvSpPr>
        <p:spPr>
          <a:xfrm>
            <a:off x="6263640" y="1783080"/>
            <a:ext cx="5285232" cy="4023360"/>
          </a:xfrm>
          <a:prstGeom prst="roundRect">
            <a:avLst>
              <a:gd name="adj" fmla="val 1364"/>
            </a:avLst>
          </a:prstGeom>
          <a:solidFill>
            <a:srgbClr val="F4F5FA"/>
          </a:solidFill>
          <a:ln/>
          <a:effectLst>
            <a:outerShdw sx="100000" sy="100000" kx="0" ky="0" algn="bl" rotWithShape="0" blurRad="127000" dist="25400" dir="5400000">
              <a:srgbClr val="1E2B4A">
                <a:alpha val="10000"/>
              </a:srgbClr>
            </a:outerShdw>
          </a:effectLst>
        </p:spPr>
      </p:sp>
      <p:sp>
        <p:nvSpPr>
          <p:cNvPr id="27" name="Text 25"/>
          <p:cNvSpPr/>
          <p:nvPr/>
        </p:nvSpPr>
        <p:spPr>
          <a:xfrm>
            <a:off x="6565392" y="2011680"/>
            <a:ext cx="4709160" cy="329184"/>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Incidence selon le statut du ménage</a:t>
            </a:r>
            <a:endParaRPr lang="en-US" sz="1500" dirty="0"/>
          </a:p>
        </p:txBody>
      </p:sp>
      <p:sp>
        <p:nvSpPr>
          <p:cNvPr id="28" name="Text 26"/>
          <p:cNvSpPr/>
          <p:nvPr/>
        </p:nvSpPr>
        <p:spPr>
          <a:xfrm>
            <a:off x="6565392" y="2606040"/>
            <a:ext cx="2286000" cy="274320"/>
          </a:xfrm>
          <a:prstGeom prst="rect">
            <a:avLst/>
          </a:prstGeom>
          <a:noFill/>
          <a:ln/>
        </p:spPr>
        <p:txBody>
          <a:bodyPr wrap="square" lIns="0" tIns="0" rIns="0" bIns="0" rtlCol="0" anchor="ctr"/>
          <a:lstStyle/>
          <a:p>
            <a:pPr indent="0" marL="0">
              <a:buNone/>
            </a:pPr>
            <a:r>
              <a:rPr lang="en-US" sz="1250" b="1" dirty="0">
                <a:solidFill>
                  <a:srgbClr val="1D2433"/>
                </a:solidFill>
                <a:latin typeface="Calibri" pitchFamily="34" charset="0"/>
                <a:ea typeface="Calibri" pitchFamily="34" charset="-122"/>
                <a:cs typeface="Calibri" pitchFamily="34" charset="-120"/>
              </a:rPr>
              <a:t>Non-bénéficiaires</a:t>
            </a:r>
            <a:endParaRPr lang="en-US" sz="1250" dirty="0"/>
          </a:p>
        </p:txBody>
      </p:sp>
      <p:sp>
        <p:nvSpPr>
          <p:cNvPr id="29" name="Text 27"/>
          <p:cNvSpPr/>
          <p:nvPr/>
        </p:nvSpPr>
        <p:spPr>
          <a:xfrm>
            <a:off x="6565392" y="2953512"/>
            <a:ext cx="868680" cy="256032"/>
          </a:xfrm>
          <a:prstGeom prst="rect">
            <a:avLst/>
          </a:prstGeom>
          <a:noFill/>
          <a:ln/>
        </p:spPr>
        <p:txBody>
          <a:bodyPr wrap="square" lIns="0" tIns="0" rIns="0" bIns="0" rtlCol="0" anchor="ctr"/>
          <a:lstStyle/>
          <a:p>
            <a:pPr indent="0" marL="0">
              <a:buNone/>
            </a:pPr>
            <a:r>
              <a:rPr lang="en-US" sz="1050" dirty="0">
                <a:solidFill>
                  <a:srgbClr val="8A93A5"/>
                </a:solidFill>
                <a:latin typeface="Calibri" pitchFamily="34" charset="0"/>
                <a:ea typeface="Calibri" pitchFamily="34" charset="-122"/>
                <a:cs typeface="Calibri" pitchFamily="34" charset="-120"/>
              </a:rPr>
              <a:t>2018-19</a:t>
            </a:r>
            <a:endParaRPr lang="en-US" sz="1050" dirty="0"/>
          </a:p>
        </p:txBody>
      </p:sp>
      <p:sp>
        <p:nvSpPr>
          <p:cNvPr id="30" name="Shape 28"/>
          <p:cNvSpPr/>
          <p:nvPr/>
        </p:nvSpPr>
        <p:spPr>
          <a:xfrm>
            <a:off x="7498080" y="2999232"/>
            <a:ext cx="2696957" cy="182880"/>
          </a:xfrm>
          <a:prstGeom prst="roundRect">
            <a:avLst>
              <a:gd name="adj" fmla="val 10000"/>
            </a:avLst>
          </a:prstGeom>
          <a:solidFill>
            <a:srgbClr val="41639E"/>
          </a:solidFill>
          <a:ln/>
        </p:spPr>
      </p:sp>
      <p:sp>
        <p:nvSpPr>
          <p:cNvPr id="31" name="Text 29"/>
          <p:cNvSpPr/>
          <p:nvPr/>
        </p:nvSpPr>
        <p:spPr>
          <a:xfrm>
            <a:off x="10625328" y="2953512"/>
            <a:ext cx="713232" cy="256032"/>
          </a:xfrm>
          <a:prstGeom prst="rect">
            <a:avLst/>
          </a:prstGeom>
          <a:noFill/>
          <a:ln/>
        </p:spPr>
        <p:txBody>
          <a:bodyPr wrap="square" lIns="0" tIns="0" rIns="0" bIns="0" rtlCol="0" anchor="ctr"/>
          <a:lstStyle/>
          <a:p>
            <a:pPr algn="r" indent="0" marL="0">
              <a:buNone/>
            </a:pPr>
            <a:r>
              <a:rPr lang="en-US" sz="1150" b="1" dirty="0">
                <a:solidFill>
                  <a:srgbClr val="1D2433"/>
                </a:solidFill>
                <a:latin typeface="Calibri" pitchFamily="34" charset="0"/>
                <a:ea typeface="Calibri" pitchFamily="34" charset="-122"/>
                <a:cs typeface="Calibri" pitchFamily="34" charset="-120"/>
              </a:rPr>
              <a:t>66,6 %</a:t>
            </a:r>
            <a:endParaRPr lang="en-US" sz="1150" dirty="0"/>
          </a:p>
        </p:txBody>
      </p:sp>
      <p:sp>
        <p:nvSpPr>
          <p:cNvPr id="32" name="Text 30"/>
          <p:cNvSpPr/>
          <p:nvPr/>
        </p:nvSpPr>
        <p:spPr>
          <a:xfrm>
            <a:off x="6565392" y="3337560"/>
            <a:ext cx="868680" cy="256032"/>
          </a:xfrm>
          <a:prstGeom prst="rect">
            <a:avLst/>
          </a:prstGeom>
          <a:noFill/>
          <a:ln/>
        </p:spPr>
        <p:txBody>
          <a:bodyPr wrap="square" lIns="0" tIns="0" rIns="0" bIns="0" rtlCol="0" anchor="ctr"/>
          <a:lstStyle/>
          <a:p>
            <a:pPr indent="0" marL="0">
              <a:buNone/>
            </a:pPr>
            <a:r>
              <a:rPr lang="en-US" sz="1050" dirty="0">
                <a:solidFill>
                  <a:srgbClr val="8A93A5"/>
                </a:solidFill>
                <a:latin typeface="Calibri" pitchFamily="34" charset="0"/>
                <a:ea typeface="Calibri" pitchFamily="34" charset="-122"/>
                <a:cs typeface="Calibri" pitchFamily="34" charset="-120"/>
              </a:rPr>
              <a:t>2021-22</a:t>
            </a:r>
            <a:endParaRPr lang="en-US" sz="1050" dirty="0"/>
          </a:p>
        </p:txBody>
      </p:sp>
      <p:sp>
        <p:nvSpPr>
          <p:cNvPr id="33" name="Shape 31"/>
          <p:cNvSpPr/>
          <p:nvPr/>
        </p:nvSpPr>
        <p:spPr>
          <a:xfrm>
            <a:off x="7498080" y="3383280"/>
            <a:ext cx="2449939" cy="182880"/>
          </a:xfrm>
          <a:prstGeom prst="roundRect">
            <a:avLst>
              <a:gd name="adj" fmla="val 10000"/>
            </a:avLst>
          </a:prstGeom>
          <a:solidFill>
            <a:srgbClr val="41639E"/>
          </a:solidFill>
          <a:ln/>
        </p:spPr>
      </p:sp>
      <p:sp>
        <p:nvSpPr>
          <p:cNvPr id="34" name="Text 32"/>
          <p:cNvSpPr/>
          <p:nvPr/>
        </p:nvSpPr>
        <p:spPr>
          <a:xfrm>
            <a:off x="10625328" y="3337560"/>
            <a:ext cx="713232" cy="256032"/>
          </a:xfrm>
          <a:prstGeom prst="rect">
            <a:avLst/>
          </a:prstGeom>
          <a:noFill/>
          <a:ln/>
        </p:spPr>
        <p:txBody>
          <a:bodyPr wrap="square" lIns="0" tIns="0" rIns="0" bIns="0" rtlCol="0" anchor="ctr"/>
          <a:lstStyle/>
          <a:p>
            <a:pPr algn="r" indent="0" marL="0">
              <a:buNone/>
            </a:pPr>
            <a:r>
              <a:rPr lang="en-US" sz="1150" b="1" dirty="0">
                <a:solidFill>
                  <a:srgbClr val="1D2433"/>
                </a:solidFill>
                <a:latin typeface="Calibri" pitchFamily="34" charset="0"/>
                <a:ea typeface="Calibri" pitchFamily="34" charset="-122"/>
                <a:cs typeface="Calibri" pitchFamily="34" charset="-120"/>
              </a:rPr>
              <a:t>60,5 %</a:t>
            </a:r>
            <a:endParaRPr lang="en-US" sz="1150" dirty="0"/>
          </a:p>
        </p:txBody>
      </p:sp>
      <p:sp>
        <p:nvSpPr>
          <p:cNvPr id="35" name="Text 33"/>
          <p:cNvSpPr/>
          <p:nvPr/>
        </p:nvSpPr>
        <p:spPr>
          <a:xfrm>
            <a:off x="6565392" y="4023360"/>
            <a:ext cx="2286000" cy="274320"/>
          </a:xfrm>
          <a:prstGeom prst="rect">
            <a:avLst/>
          </a:prstGeom>
          <a:noFill/>
          <a:ln/>
        </p:spPr>
        <p:txBody>
          <a:bodyPr wrap="square" lIns="0" tIns="0" rIns="0" bIns="0" rtlCol="0" anchor="ctr"/>
          <a:lstStyle/>
          <a:p>
            <a:pPr indent="0" marL="0">
              <a:buNone/>
            </a:pPr>
            <a:r>
              <a:rPr lang="en-US" sz="1250" b="1" dirty="0">
                <a:solidFill>
                  <a:srgbClr val="1D2433"/>
                </a:solidFill>
                <a:latin typeface="Calibri" pitchFamily="34" charset="0"/>
                <a:ea typeface="Calibri" pitchFamily="34" charset="-122"/>
                <a:cs typeface="Calibri" pitchFamily="34" charset="-120"/>
              </a:rPr>
              <a:t>Bénéficiaires</a:t>
            </a:r>
            <a:endParaRPr lang="en-US" sz="1250" dirty="0"/>
          </a:p>
        </p:txBody>
      </p:sp>
      <p:sp>
        <p:nvSpPr>
          <p:cNvPr id="36" name="Text 34"/>
          <p:cNvSpPr/>
          <p:nvPr/>
        </p:nvSpPr>
        <p:spPr>
          <a:xfrm>
            <a:off x="6565392" y="4370832"/>
            <a:ext cx="868680" cy="256032"/>
          </a:xfrm>
          <a:prstGeom prst="rect">
            <a:avLst/>
          </a:prstGeom>
          <a:noFill/>
          <a:ln/>
        </p:spPr>
        <p:txBody>
          <a:bodyPr wrap="square" lIns="0" tIns="0" rIns="0" bIns="0" rtlCol="0" anchor="ctr"/>
          <a:lstStyle/>
          <a:p>
            <a:pPr indent="0" marL="0">
              <a:buNone/>
            </a:pPr>
            <a:r>
              <a:rPr lang="en-US" sz="1050" dirty="0">
                <a:solidFill>
                  <a:srgbClr val="8A93A5"/>
                </a:solidFill>
                <a:latin typeface="Calibri" pitchFamily="34" charset="0"/>
                <a:ea typeface="Calibri" pitchFamily="34" charset="-122"/>
                <a:cs typeface="Calibri" pitchFamily="34" charset="-120"/>
              </a:rPr>
              <a:t>2018-19</a:t>
            </a:r>
            <a:endParaRPr lang="en-US" sz="1050" dirty="0"/>
          </a:p>
        </p:txBody>
      </p:sp>
      <p:sp>
        <p:nvSpPr>
          <p:cNvPr id="37" name="Shape 35"/>
          <p:cNvSpPr/>
          <p:nvPr/>
        </p:nvSpPr>
        <p:spPr>
          <a:xfrm>
            <a:off x="7498080" y="4416552"/>
            <a:ext cx="1870862" cy="182880"/>
          </a:xfrm>
          <a:prstGeom prst="roundRect">
            <a:avLst>
              <a:gd name="adj" fmla="val 10000"/>
            </a:avLst>
          </a:prstGeom>
          <a:solidFill>
            <a:srgbClr val="D96F2B"/>
          </a:solidFill>
          <a:ln/>
        </p:spPr>
      </p:sp>
      <p:sp>
        <p:nvSpPr>
          <p:cNvPr id="38" name="Text 36"/>
          <p:cNvSpPr/>
          <p:nvPr/>
        </p:nvSpPr>
        <p:spPr>
          <a:xfrm>
            <a:off x="10625328" y="4370832"/>
            <a:ext cx="713232" cy="256032"/>
          </a:xfrm>
          <a:prstGeom prst="rect">
            <a:avLst/>
          </a:prstGeom>
          <a:noFill/>
          <a:ln/>
        </p:spPr>
        <p:txBody>
          <a:bodyPr wrap="square" lIns="0" tIns="0" rIns="0" bIns="0" rtlCol="0" anchor="ctr"/>
          <a:lstStyle/>
          <a:p>
            <a:pPr algn="r" indent="0" marL="0">
              <a:buNone/>
            </a:pPr>
            <a:r>
              <a:rPr lang="en-US" sz="1150" b="1" dirty="0">
                <a:solidFill>
                  <a:srgbClr val="1D2433"/>
                </a:solidFill>
                <a:latin typeface="Calibri" pitchFamily="34" charset="0"/>
                <a:ea typeface="Calibri" pitchFamily="34" charset="-122"/>
                <a:cs typeface="Calibri" pitchFamily="34" charset="-120"/>
              </a:rPr>
              <a:t>46,2 %</a:t>
            </a:r>
            <a:endParaRPr lang="en-US" sz="1150" dirty="0"/>
          </a:p>
        </p:txBody>
      </p:sp>
      <p:sp>
        <p:nvSpPr>
          <p:cNvPr id="39" name="Text 37"/>
          <p:cNvSpPr/>
          <p:nvPr/>
        </p:nvSpPr>
        <p:spPr>
          <a:xfrm>
            <a:off x="6565392" y="4754880"/>
            <a:ext cx="868680" cy="256032"/>
          </a:xfrm>
          <a:prstGeom prst="rect">
            <a:avLst/>
          </a:prstGeom>
          <a:noFill/>
          <a:ln/>
        </p:spPr>
        <p:txBody>
          <a:bodyPr wrap="square" lIns="0" tIns="0" rIns="0" bIns="0" rtlCol="0" anchor="ctr"/>
          <a:lstStyle/>
          <a:p>
            <a:pPr indent="0" marL="0">
              <a:buNone/>
            </a:pPr>
            <a:r>
              <a:rPr lang="en-US" sz="1050" dirty="0">
                <a:solidFill>
                  <a:srgbClr val="8A93A5"/>
                </a:solidFill>
                <a:latin typeface="Calibri" pitchFamily="34" charset="0"/>
                <a:ea typeface="Calibri" pitchFamily="34" charset="-122"/>
                <a:cs typeface="Calibri" pitchFamily="34" charset="-120"/>
              </a:rPr>
              <a:t>2021-22</a:t>
            </a:r>
            <a:endParaRPr lang="en-US" sz="1050" dirty="0"/>
          </a:p>
        </p:txBody>
      </p:sp>
      <p:sp>
        <p:nvSpPr>
          <p:cNvPr id="40" name="Shape 38"/>
          <p:cNvSpPr/>
          <p:nvPr/>
        </p:nvSpPr>
        <p:spPr>
          <a:xfrm>
            <a:off x="7498080" y="4800600"/>
            <a:ext cx="1721031" cy="182880"/>
          </a:xfrm>
          <a:prstGeom prst="roundRect">
            <a:avLst>
              <a:gd name="adj" fmla="val 10000"/>
            </a:avLst>
          </a:prstGeom>
          <a:solidFill>
            <a:srgbClr val="D96F2B"/>
          </a:solidFill>
          <a:ln/>
        </p:spPr>
      </p:sp>
      <p:sp>
        <p:nvSpPr>
          <p:cNvPr id="41" name="Text 39"/>
          <p:cNvSpPr/>
          <p:nvPr/>
        </p:nvSpPr>
        <p:spPr>
          <a:xfrm>
            <a:off x="10625328" y="4754880"/>
            <a:ext cx="713232" cy="256032"/>
          </a:xfrm>
          <a:prstGeom prst="rect">
            <a:avLst/>
          </a:prstGeom>
          <a:noFill/>
          <a:ln/>
        </p:spPr>
        <p:txBody>
          <a:bodyPr wrap="square" lIns="0" tIns="0" rIns="0" bIns="0" rtlCol="0" anchor="ctr"/>
          <a:lstStyle/>
          <a:p>
            <a:pPr algn="r" indent="0" marL="0">
              <a:buNone/>
            </a:pPr>
            <a:r>
              <a:rPr lang="en-US" sz="1150" b="1" dirty="0">
                <a:solidFill>
                  <a:srgbClr val="1D2433"/>
                </a:solidFill>
                <a:latin typeface="Calibri" pitchFamily="34" charset="0"/>
                <a:ea typeface="Calibri" pitchFamily="34" charset="-122"/>
                <a:cs typeface="Calibri" pitchFamily="34" charset="-120"/>
              </a:rPr>
              <a:t>42,5 %</a:t>
            </a:r>
            <a:endParaRPr lang="en-US" sz="1150" dirty="0"/>
          </a:p>
        </p:txBody>
      </p:sp>
      <p:sp>
        <p:nvSpPr>
          <p:cNvPr id="42" name="Text 40"/>
          <p:cNvSpPr/>
          <p:nvPr/>
        </p:nvSpPr>
        <p:spPr>
          <a:xfrm>
            <a:off x="6565392" y="5029200"/>
            <a:ext cx="4709160" cy="548640"/>
          </a:xfrm>
          <a:prstGeom prst="rect">
            <a:avLst/>
          </a:prstGeom>
          <a:noFill/>
          <a:ln/>
        </p:spPr>
        <p:txBody>
          <a:bodyPr wrap="square" lIns="0" tIns="0" rIns="0" bIns="0" rtlCol="0" anchor="t"/>
          <a:lstStyle/>
          <a:p>
            <a:pPr indent="0" marL="0">
              <a:lnSpc>
                <a:spcPts val="1500"/>
              </a:lnSpc>
              <a:buNone/>
            </a:pPr>
            <a:r>
              <a:rPr lang="en-US" sz="1100" dirty="0">
                <a:solidFill>
                  <a:srgbClr val="4A5468"/>
                </a:solidFill>
                <a:latin typeface="Calibri" pitchFamily="34" charset="0"/>
                <a:ea typeface="Calibri" pitchFamily="34" charset="-122"/>
                <a:cs typeface="Calibri" pitchFamily="34" charset="-120"/>
              </a:rPr>
              <a:t>Les enfants de ménages bénéficiaires partent d'un niveau plus favorable : cet avantage précède le traitement.</a:t>
            </a:r>
            <a:endParaRPr lang="en-US" sz="1100" dirty="0"/>
          </a:p>
        </p:txBody>
      </p:sp>
      <p:sp>
        <p:nvSpPr>
          <p:cNvPr id="43" name="Text 41"/>
          <p:cNvSpPr/>
          <p:nvPr/>
        </p:nvSpPr>
        <p:spPr>
          <a:xfrm>
            <a:off x="548640" y="6455664"/>
            <a:ext cx="8229600" cy="237744"/>
          </a:xfrm>
          <a:prstGeom prst="rect">
            <a:avLst/>
          </a:prstGeom>
          <a:noFill/>
          <a:ln/>
        </p:spPr>
        <p:txBody>
          <a:bodyPr wrap="square" lIns="0" tIns="0" rIns="0" bIns="0" rtlCol="0" anchor="ctr"/>
          <a:lstStyle/>
          <a:p>
            <a:pPr indent="0" marL="0">
              <a:buNone/>
            </a:pPr>
            <a:r>
              <a:rPr lang="en-US" sz="900" dirty="0">
                <a:solidFill>
                  <a:srgbClr val="8A93A5"/>
                </a:solidFill>
                <a:latin typeface="Calibri" pitchFamily="34" charset="0"/>
                <a:ea typeface="Calibri" pitchFamily="34" charset="-122"/>
                <a:cs typeface="Calibri" pitchFamily="34" charset="-120"/>
              </a:rPr>
              <a:t>Source : calcul de l'auteur, EHCVM I (2018-2019) et EHCVM II (2021-2022).</a:t>
            </a:r>
            <a:endParaRPr lang="en-US" sz="900" dirty="0"/>
          </a:p>
        </p:txBody>
      </p:sp>
      <p:sp>
        <p:nvSpPr>
          <p:cNvPr id="44" name="Text 42"/>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14</a:t>
            </a:r>
            <a:endParaRPr lang="en-US" sz="950" dirty="0"/>
          </a:p>
        </p:txBody>
      </p:sp>
      <p:pic>
        <p:nvPicPr>
          <p:cNvPr id="45" name="Image 0" descr="logos/logo_ensae_new.png">    </p:cNvPr>
          <p:cNvPicPr>
            <a:picLocks noChangeAspect="1"/>
          </p:cNvPicPr>
          <p:nvPr/>
        </p:nvPicPr>
        <p:blipFill>
          <a:blip r:embed="rId1"/>
          <a:stretch>
            <a:fillRect/>
          </a:stretch>
        </p:blipFill>
        <p:spPr>
          <a:xfrm>
            <a:off x="11384280" y="6355080"/>
            <a:ext cx="384048" cy="3840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Qualité de l'appariement</a:t>
            </a:r>
            <a:endParaRPr lang="en-US" sz="2700" dirty="0"/>
          </a:p>
        </p:txBody>
      </p:sp>
      <p:sp>
        <p:nvSpPr>
          <p:cNvPr id="3" name="Text 1"/>
          <p:cNvSpPr/>
          <p:nvPr/>
        </p:nvSpPr>
        <p:spPr>
          <a:xfrm>
            <a:off x="548640" y="896112"/>
            <a:ext cx="11064240" cy="475488"/>
          </a:xfrm>
          <a:prstGeom prst="rect">
            <a:avLst/>
          </a:prstGeom>
          <a:noFill/>
          <a:ln/>
        </p:spPr>
        <p:txBody>
          <a:bodyPr wrap="square" lIns="0" tIns="0" rIns="0" bIns="0" rtlCol="0" anchor="t"/>
          <a:lstStyle/>
          <a:p>
            <a:pPr indent="0" marL="0">
              <a:lnSpc>
                <a:spcPts val="1700"/>
              </a:lnSpc>
              <a:buNone/>
            </a:pPr>
            <a:r>
              <a:rPr lang="en-US" sz="1300" dirty="0">
                <a:solidFill>
                  <a:srgbClr val="4A5468"/>
                </a:solidFill>
                <a:latin typeface="Calibri" pitchFamily="34" charset="0"/>
                <a:ea typeface="Calibri" pitchFamily="34" charset="-122"/>
                <a:cs typeface="Calibri" pitchFamily="34" charset="-120"/>
              </a:rPr>
              <a:t>Après appariement, les enfants traités et leurs témoins ne se distinguent plus sur les caractéristiques observables.</a:t>
            </a:r>
            <a:endParaRPr lang="en-US" sz="1300" dirty="0"/>
          </a:p>
        </p:txBody>
      </p:sp>
      <p:sp>
        <p:nvSpPr>
          <p:cNvPr id="4" name="Shape 2"/>
          <p:cNvSpPr/>
          <p:nvPr/>
        </p:nvSpPr>
        <p:spPr>
          <a:xfrm>
            <a:off x="658368" y="1737360"/>
            <a:ext cx="2606040" cy="1645920"/>
          </a:xfrm>
          <a:prstGeom prst="roundRect">
            <a:avLst>
              <a:gd name="adj" fmla="val 3333"/>
            </a:avLst>
          </a:prstGeom>
          <a:solidFill>
            <a:srgbClr val="F4F5FA"/>
          </a:solidFill>
          <a:ln/>
          <a:effectLst>
            <a:outerShdw sx="100000" sy="100000" kx="0" ky="0" algn="bl" rotWithShape="0" blurRad="127000" dist="25400" dir="5400000">
              <a:srgbClr val="1E2B4A">
                <a:alpha val="10000"/>
              </a:srgbClr>
            </a:outerShdw>
          </a:effectLst>
        </p:spPr>
      </p:sp>
      <p:sp>
        <p:nvSpPr>
          <p:cNvPr id="5" name="Text 3"/>
          <p:cNvSpPr/>
          <p:nvPr/>
        </p:nvSpPr>
        <p:spPr>
          <a:xfrm>
            <a:off x="658368" y="1938528"/>
            <a:ext cx="2606040" cy="527304"/>
          </a:xfrm>
          <a:prstGeom prst="rect">
            <a:avLst/>
          </a:prstGeom>
          <a:noFill/>
          <a:ln/>
        </p:spPr>
        <p:txBody>
          <a:bodyPr wrap="square" lIns="0" tIns="0" rIns="0" bIns="0" rtlCol="0" anchor="ctr"/>
          <a:lstStyle/>
          <a:p>
            <a:pPr algn="ctr" indent="0" marL="0">
              <a:buNone/>
            </a:pPr>
            <a:r>
              <a:rPr lang="en-US" sz="3000" b="1" dirty="0">
                <a:solidFill>
                  <a:srgbClr val="1E2B4A"/>
                </a:solidFill>
                <a:latin typeface="Calibri" pitchFamily="34" charset="0"/>
                <a:ea typeface="Calibri" pitchFamily="34" charset="-122"/>
                <a:cs typeface="Calibri" pitchFamily="34" charset="-120"/>
              </a:rPr>
              <a:t>11,4 %</a:t>
            </a:r>
            <a:endParaRPr lang="en-US" sz="3000" dirty="0"/>
          </a:p>
        </p:txBody>
      </p:sp>
      <p:sp>
        <p:nvSpPr>
          <p:cNvPr id="6" name="Text 4"/>
          <p:cNvSpPr/>
          <p:nvPr/>
        </p:nvSpPr>
        <p:spPr>
          <a:xfrm>
            <a:off x="658368" y="2484120"/>
            <a:ext cx="260604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différence standardisée</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moyenne avant appariement</a:t>
            </a:r>
            <a:endParaRPr lang="en-US" sz="1050" dirty="0"/>
          </a:p>
        </p:txBody>
      </p:sp>
      <p:sp>
        <p:nvSpPr>
          <p:cNvPr id="7" name="Shape 5"/>
          <p:cNvSpPr/>
          <p:nvPr/>
        </p:nvSpPr>
        <p:spPr>
          <a:xfrm>
            <a:off x="3410712" y="1737360"/>
            <a:ext cx="2606040" cy="1645920"/>
          </a:xfrm>
          <a:prstGeom prst="roundRect">
            <a:avLst>
              <a:gd name="adj" fmla="val 3333"/>
            </a:avLst>
          </a:prstGeom>
          <a:solidFill>
            <a:srgbClr val="F4F5FA"/>
          </a:solidFill>
          <a:ln/>
          <a:effectLst>
            <a:outerShdw sx="100000" sy="100000" kx="0" ky="0" algn="bl" rotWithShape="0" blurRad="127000" dist="25400" dir="5400000">
              <a:srgbClr val="1E2B4A">
                <a:alpha val="10000"/>
              </a:srgbClr>
            </a:outerShdw>
          </a:effectLst>
        </p:spPr>
      </p:sp>
      <p:sp>
        <p:nvSpPr>
          <p:cNvPr id="8" name="Text 6"/>
          <p:cNvSpPr/>
          <p:nvPr/>
        </p:nvSpPr>
        <p:spPr>
          <a:xfrm>
            <a:off x="3410712" y="1938528"/>
            <a:ext cx="2606040" cy="527304"/>
          </a:xfrm>
          <a:prstGeom prst="rect">
            <a:avLst/>
          </a:prstGeom>
          <a:noFill/>
          <a:ln/>
        </p:spPr>
        <p:txBody>
          <a:bodyPr wrap="square" lIns="0" tIns="0" rIns="0" bIns="0" rtlCol="0" anchor="ctr"/>
          <a:lstStyle/>
          <a:p>
            <a:pPr algn="ctr" indent="0" marL="0">
              <a:buNone/>
            </a:pPr>
            <a:r>
              <a:rPr lang="en-US" sz="3000" b="1" dirty="0">
                <a:solidFill>
                  <a:srgbClr val="1E2B4A"/>
                </a:solidFill>
                <a:latin typeface="Calibri" pitchFamily="34" charset="0"/>
                <a:ea typeface="Calibri" pitchFamily="34" charset="-122"/>
                <a:cs typeface="Calibri" pitchFamily="34" charset="-120"/>
              </a:rPr>
              <a:t>2,4 %</a:t>
            </a:r>
            <a:endParaRPr lang="en-US" sz="3000" dirty="0"/>
          </a:p>
        </p:txBody>
      </p:sp>
      <p:sp>
        <p:nvSpPr>
          <p:cNvPr id="9" name="Text 7"/>
          <p:cNvSpPr/>
          <p:nvPr/>
        </p:nvSpPr>
        <p:spPr>
          <a:xfrm>
            <a:off x="3410712" y="2484120"/>
            <a:ext cx="260604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après appariement,</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bien sous le seuil de 10 %</a:t>
            </a:r>
            <a:endParaRPr lang="en-US" sz="1050" dirty="0"/>
          </a:p>
        </p:txBody>
      </p:sp>
      <p:sp>
        <p:nvSpPr>
          <p:cNvPr id="10" name="Shape 8"/>
          <p:cNvSpPr/>
          <p:nvPr/>
        </p:nvSpPr>
        <p:spPr>
          <a:xfrm>
            <a:off x="6163056" y="1737360"/>
            <a:ext cx="2606040" cy="1645920"/>
          </a:xfrm>
          <a:prstGeom prst="roundRect">
            <a:avLst>
              <a:gd name="adj" fmla="val 3333"/>
            </a:avLst>
          </a:prstGeom>
          <a:solidFill>
            <a:srgbClr val="F4F5FA"/>
          </a:solidFill>
          <a:ln/>
          <a:effectLst>
            <a:outerShdw sx="100000" sy="100000" kx="0" ky="0" algn="bl" rotWithShape="0" blurRad="127000" dist="25400" dir="5400000">
              <a:srgbClr val="1E2B4A">
                <a:alpha val="10000"/>
              </a:srgbClr>
            </a:outerShdw>
          </a:effectLst>
        </p:spPr>
      </p:sp>
      <p:sp>
        <p:nvSpPr>
          <p:cNvPr id="11" name="Text 9"/>
          <p:cNvSpPr/>
          <p:nvPr/>
        </p:nvSpPr>
        <p:spPr>
          <a:xfrm>
            <a:off x="6163056" y="1938528"/>
            <a:ext cx="2606040" cy="527304"/>
          </a:xfrm>
          <a:prstGeom prst="rect">
            <a:avLst/>
          </a:prstGeom>
          <a:noFill/>
          <a:ln/>
        </p:spPr>
        <p:txBody>
          <a:bodyPr wrap="square" lIns="0" tIns="0" rIns="0" bIns="0" rtlCol="0" anchor="ctr"/>
          <a:lstStyle/>
          <a:p>
            <a:pPr algn="ctr" indent="0" marL="0">
              <a:buNone/>
            </a:pPr>
            <a:r>
              <a:rPr lang="en-US" sz="3000" b="1" dirty="0">
                <a:solidFill>
                  <a:srgbClr val="1E2B4A"/>
                </a:solidFill>
                <a:latin typeface="Calibri" pitchFamily="34" charset="0"/>
                <a:ea typeface="Calibri" pitchFamily="34" charset="-122"/>
                <a:cs typeface="Calibri" pitchFamily="34" charset="-120"/>
              </a:rPr>
              <a:t>16 210</a:t>
            </a:r>
            <a:endParaRPr lang="en-US" sz="3000" dirty="0"/>
          </a:p>
        </p:txBody>
      </p:sp>
      <p:sp>
        <p:nvSpPr>
          <p:cNvPr id="12" name="Text 10"/>
          <p:cNvSpPr/>
          <p:nvPr/>
        </p:nvSpPr>
        <p:spPr>
          <a:xfrm>
            <a:off x="6163056" y="2484120"/>
            <a:ext cx="260604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observations-enfants</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sur le support commun</a:t>
            </a:r>
            <a:endParaRPr lang="en-US" sz="1050" dirty="0"/>
          </a:p>
        </p:txBody>
      </p:sp>
      <p:sp>
        <p:nvSpPr>
          <p:cNvPr id="13" name="Shape 11"/>
          <p:cNvSpPr/>
          <p:nvPr/>
        </p:nvSpPr>
        <p:spPr>
          <a:xfrm>
            <a:off x="8915400" y="1737360"/>
            <a:ext cx="2606040" cy="1645920"/>
          </a:xfrm>
          <a:prstGeom prst="roundRect">
            <a:avLst>
              <a:gd name="adj" fmla="val 3333"/>
            </a:avLst>
          </a:prstGeom>
          <a:solidFill>
            <a:srgbClr val="F4F5FA"/>
          </a:solidFill>
          <a:ln/>
          <a:effectLst>
            <a:outerShdw sx="100000" sy="100000" kx="0" ky="0" algn="bl" rotWithShape="0" blurRad="127000" dist="25400" dir="5400000">
              <a:srgbClr val="1E2B4A">
                <a:alpha val="10000"/>
              </a:srgbClr>
            </a:outerShdw>
          </a:effectLst>
        </p:spPr>
      </p:sp>
      <p:sp>
        <p:nvSpPr>
          <p:cNvPr id="14" name="Text 12"/>
          <p:cNvSpPr/>
          <p:nvPr/>
        </p:nvSpPr>
        <p:spPr>
          <a:xfrm>
            <a:off x="8915400" y="1938528"/>
            <a:ext cx="2606040" cy="527304"/>
          </a:xfrm>
          <a:prstGeom prst="rect">
            <a:avLst/>
          </a:prstGeom>
          <a:noFill/>
          <a:ln/>
        </p:spPr>
        <p:txBody>
          <a:bodyPr wrap="square" lIns="0" tIns="0" rIns="0" bIns="0" rtlCol="0" anchor="ctr"/>
          <a:lstStyle/>
          <a:p>
            <a:pPr algn="ctr" indent="0" marL="0">
              <a:buNone/>
            </a:pPr>
            <a:r>
              <a:rPr lang="en-US" sz="3000" b="1" dirty="0">
                <a:solidFill>
                  <a:srgbClr val="1E2B4A"/>
                </a:solidFill>
                <a:latin typeface="Calibri" pitchFamily="34" charset="0"/>
                <a:ea typeface="Calibri" pitchFamily="34" charset="-122"/>
                <a:cs typeface="Calibri" pitchFamily="34" charset="-120"/>
              </a:rPr>
              <a:t>0,150</a:t>
            </a:r>
            <a:endParaRPr lang="en-US" sz="3000" dirty="0"/>
          </a:p>
        </p:txBody>
      </p:sp>
      <p:sp>
        <p:nvSpPr>
          <p:cNvPr id="15" name="Text 13"/>
          <p:cNvSpPr/>
          <p:nvPr/>
        </p:nvSpPr>
        <p:spPr>
          <a:xfrm>
            <a:off x="8915400" y="2484120"/>
            <a:ext cx="2606040" cy="384048"/>
          </a:xfrm>
          <a:prstGeom prst="rect">
            <a:avLst/>
          </a:prstGeom>
          <a:noFill/>
          <a:ln/>
        </p:spPr>
        <p:txBody>
          <a:bodyPr wrap="square" lIns="0" tIns="0" rIns="0" bIns="0" rtlCol="0" anchor="ctr"/>
          <a:lstStyle/>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pseudo-R² du logit,</a:t>
            </a:r>
            <a:endParaRPr lang="en-US" sz="1050" dirty="0"/>
          </a:p>
          <a:p>
            <a:pPr algn="ctr" indent="0" marL="0">
              <a:lnSpc>
                <a:spcPts val="1350"/>
              </a:lnSpc>
              <a:buNone/>
            </a:pPr>
            <a:r>
              <a:rPr lang="en-US" sz="1050" dirty="0">
                <a:solidFill>
                  <a:srgbClr val="4A5468"/>
                </a:solidFill>
                <a:latin typeface="Calibri" pitchFamily="34" charset="0"/>
                <a:ea typeface="Calibri" pitchFamily="34" charset="-122"/>
                <a:cs typeface="Calibri" pitchFamily="34" charset="-120"/>
              </a:rPr>
              <a:t>sur 17 735 enfants</a:t>
            </a:r>
            <a:endParaRPr lang="en-US" sz="1050" dirty="0"/>
          </a:p>
        </p:txBody>
      </p:sp>
      <p:sp>
        <p:nvSpPr>
          <p:cNvPr id="16" name="Shape 14"/>
          <p:cNvSpPr/>
          <p:nvPr/>
        </p:nvSpPr>
        <p:spPr>
          <a:xfrm>
            <a:off x="658368" y="3611880"/>
            <a:ext cx="10890504" cy="2194560"/>
          </a:xfrm>
          <a:prstGeom prst="roundRect">
            <a:avLst>
              <a:gd name="adj" fmla="val 2500"/>
            </a:avLst>
          </a:prstGeom>
          <a:solidFill>
            <a:srgbClr val="F4F5FA"/>
          </a:solidFill>
          <a:ln/>
          <a:effectLst>
            <a:outerShdw sx="100000" sy="100000" kx="0" ky="0" algn="bl" rotWithShape="0" blurRad="127000" dist="25400" dir="5400000">
              <a:srgbClr val="1E2B4A">
                <a:alpha val="10000"/>
              </a:srgbClr>
            </a:outerShdw>
          </a:effectLst>
        </p:spPr>
      </p:sp>
      <p:sp>
        <p:nvSpPr>
          <p:cNvPr id="17" name="Text 15"/>
          <p:cNvSpPr/>
          <p:nvPr/>
        </p:nvSpPr>
        <p:spPr>
          <a:xfrm>
            <a:off x="960120" y="3822192"/>
            <a:ext cx="10287000" cy="310896"/>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Équilibre des principales covariables, différence standardisée en %</a:t>
            </a:r>
            <a:endParaRPr lang="en-US" sz="1400" dirty="0"/>
          </a:p>
        </p:txBody>
      </p:sp>
      <p:sp>
        <p:nvSpPr>
          <p:cNvPr id="18" name="Text 16"/>
          <p:cNvSpPr/>
          <p:nvPr/>
        </p:nvSpPr>
        <p:spPr>
          <a:xfrm>
            <a:off x="960120" y="4279392"/>
            <a:ext cx="1600200" cy="256032"/>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Taille du ménage</a:t>
            </a:r>
            <a:endParaRPr lang="en-US" sz="1100" dirty="0"/>
          </a:p>
        </p:txBody>
      </p:sp>
      <p:sp>
        <p:nvSpPr>
          <p:cNvPr id="19" name="Shape 17"/>
          <p:cNvSpPr/>
          <p:nvPr/>
        </p:nvSpPr>
        <p:spPr>
          <a:xfrm>
            <a:off x="960120" y="4553712"/>
            <a:ext cx="1408816" cy="128016"/>
          </a:xfrm>
          <a:prstGeom prst="roundRect">
            <a:avLst>
              <a:gd name="adj" fmla="val 14286"/>
            </a:avLst>
          </a:prstGeom>
          <a:solidFill>
            <a:srgbClr val="E3E7EE"/>
          </a:solidFill>
          <a:ln/>
        </p:spPr>
      </p:sp>
      <p:sp>
        <p:nvSpPr>
          <p:cNvPr id="20" name="Shape 18"/>
          <p:cNvSpPr/>
          <p:nvPr/>
        </p:nvSpPr>
        <p:spPr>
          <a:xfrm>
            <a:off x="960120" y="4718304"/>
            <a:ext cx="549920" cy="128016"/>
          </a:xfrm>
          <a:prstGeom prst="roundRect">
            <a:avLst>
              <a:gd name="adj" fmla="val 14286"/>
            </a:avLst>
          </a:prstGeom>
          <a:solidFill>
            <a:srgbClr val="3E8C9A"/>
          </a:solidFill>
          <a:ln/>
        </p:spPr>
      </p:sp>
      <p:sp>
        <p:nvSpPr>
          <p:cNvPr id="21" name="Text 19"/>
          <p:cNvSpPr/>
          <p:nvPr/>
        </p:nvSpPr>
        <p:spPr>
          <a:xfrm>
            <a:off x="2606040" y="4535424"/>
            <a:ext cx="1371600" cy="329184"/>
          </a:xfrm>
          <a:prstGeom prst="rect">
            <a:avLst/>
          </a:prstGeom>
          <a:noFill/>
          <a:ln/>
        </p:spPr>
        <p:txBody>
          <a:bodyPr wrap="square" lIns="0" tIns="0" rIns="0" bIns="0" rtlCol="0" anchor="ctr"/>
          <a:lstStyle/>
          <a:p>
            <a:pPr indent="0" marL="0">
              <a:buNone/>
            </a:pPr>
            <a:r>
              <a:rPr lang="en-US" sz="1100" b="1" dirty="0">
                <a:solidFill>
                  <a:srgbClr val="1D2433"/>
                </a:solidFill>
                <a:latin typeface="Calibri" pitchFamily="34" charset="0"/>
                <a:ea typeface="Calibri" pitchFamily="34" charset="-122"/>
                <a:cs typeface="Calibri" pitchFamily="34" charset="-120"/>
              </a:rPr>
              <a:t>49,7  →  19,4</a:t>
            </a:r>
            <a:endParaRPr lang="en-US" sz="1100" dirty="0"/>
          </a:p>
        </p:txBody>
      </p:sp>
      <p:sp>
        <p:nvSpPr>
          <p:cNvPr id="22" name="Text 20"/>
          <p:cNvSpPr/>
          <p:nvPr/>
        </p:nvSpPr>
        <p:spPr>
          <a:xfrm>
            <a:off x="4434840" y="4279392"/>
            <a:ext cx="1600200" cy="256032"/>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Dépense par tête</a:t>
            </a:r>
            <a:endParaRPr lang="en-US" sz="1100" dirty="0"/>
          </a:p>
        </p:txBody>
      </p:sp>
      <p:sp>
        <p:nvSpPr>
          <p:cNvPr id="23" name="Shape 21"/>
          <p:cNvSpPr/>
          <p:nvPr/>
        </p:nvSpPr>
        <p:spPr>
          <a:xfrm>
            <a:off x="4434840" y="4553712"/>
            <a:ext cx="830550" cy="128016"/>
          </a:xfrm>
          <a:prstGeom prst="roundRect">
            <a:avLst>
              <a:gd name="adj" fmla="val 14286"/>
            </a:avLst>
          </a:prstGeom>
          <a:solidFill>
            <a:srgbClr val="E3E7EE"/>
          </a:solidFill>
          <a:ln/>
        </p:spPr>
      </p:sp>
      <p:sp>
        <p:nvSpPr>
          <p:cNvPr id="24" name="Shape 22"/>
          <p:cNvSpPr/>
          <p:nvPr/>
        </p:nvSpPr>
        <p:spPr>
          <a:xfrm>
            <a:off x="4434840" y="4718304"/>
            <a:ext cx="572597" cy="128016"/>
          </a:xfrm>
          <a:prstGeom prst="roundRect">
            <a:avLst>
              <a:gd name="adj" fmla="val 14286"/>
            </a:avLst>
          </a:prstGeom>
          <a:solidFill>
            <a:srgbClr val="3E8C9A"/>
          </a:solidFill>
          <a:ln/>
        </p:spPr>
      </p:sp>
      <p:sp>
        <p:nvSpPr>
          <p:cNvPr id="25" name="Text 23"/>
          <p:cNvSpPr/>
          <p:nvPr/>
        </p:nvSpPr>
        <p:spPr>
          <a:xfrm>
            <a:off x="6080760" y="4535424"/>
            <a:ext cx="1371600" cy="329184"/>
          </a:xfrm>
          <a:prstGeom prst="rect">
            <a:avLst/>
          </a:prstGeom>
          <a:noFill/>
          <a:ln/>
        </p:spPr>
        <p:txBody>
          <a:bodyPr wrap="square" lIns="0" tIns="0" rIns="0" bIns="0" rtlCol="0" anchor="ctr"/>
          <a:lstStyle/>
          <a:p>
            <a:pPr indent="0" marL="0">
              <a:buNone/>
            </a:pPr>
            <a:r>
              <a:rPr lang="en-US" sz="1100" b="1" dirty="0">
                <a:solidFill>
                  <a:srgbClr val="1D2433"/>
                </a:solidFill>
                <a:latin typeface="Calibri" pitchFamily="34" charset="0"/>
                <a:ea typeface="Calibri" pitchFamily="34" charset="-122"/>
                <a:cs typeface="Calibri" pitchFamily="34" charset="-120"/>
              </a:rPr>
              <a:t>29,3  →  20,2</a:t>
            </a:r>
            <a:endParaRPr lang="en-US" sz="1100" dirty="0"/>
          </a:p>
        </p:txBody>
      </p:sp>
      <p:sp>
        <p:nvSpPr>
          <p:cNvPr id="26" name="Text 24"/>
          <p:cNvSpPr/>
          <p:nvPr/>
        </p:nvSpPr>
        <p:spPr>
          <a:xfrm>
            <a:off x="7909560" y="4279392"/>
            <a:ext cx="1600200" cy="256032"/>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Milieu rural</a:t>
            </a:r>
            <a:endParaRPr lang="en-US" sz="1100" dirty="0"/>
          </a:p>
        </p:txBody>
      </p:sp>
      <p:sp>
        <p:nvSpPr>
          <p:cNvPr id="27" name="Shape 25"/>
          <p:cNvSpPr/>
          <p:nvPr/>
        </p:nvSpPr>
        <p:spPr>
          <a:xfrm>
            <a:off x="7909560" y="4553712"/>
            <a:ext cx="629290" cy="128016"/>
          </a:xfrm>
          <a:prstGeom prst="roundRect">
            <a:avLst>
              <a:gd name="adj" fmla="val 14286"/>
            </a:avLst>
          </a:prstGeom>
          <a:solidFill>
            <a:srgbClr val="E3E7EE"/>
          </a:solidFill>
          <a:ln/>
        </p:spPr>
      </p:sp>
      <p:sp>
        <p:nvSpPr>
          <p:cNvPr id="28" name="Shape 26"/>
          <p:cNvSpPr/>
          <p:nvPr/>
        </p:nvSpPr>
        <p:spPr>
          <a:xfrm>
            <a:off x="7909560" y="4718304"/>
            <a:ext cx="252283" cy="128016"/>
          </a:xfrm>
          <a:prstGeom prst="roundRect">
            <a:avLst>
              <a:gd name="adj" fmla="val 14286"/>
            </a:avLst>
          </a:prstGeom>
          <a:solidFill>
            <a:srgbClr val="3E8C9A"/>
          </a:solidFill>
          <a:ln/>
        </p:spPr>
      </p:sp>
      <p:sp>
        <p:nvSpPr>
          <p:cNvPr id="29" name="Text 27"/>
          <p:cNvSpPr/>
          <p:nvPr/>
        </p:nvSpPr>
        <p:spPr>
          <a:xfrm>
            <a:off x="9555480" y="4535424"/>
            <a:ext cx="1371600" cy="329184"/>
          </a:xfrm>
          <a:prstGeom prst="rect">
            <a:avLst/>
          </a:prstGeom>
          <a:noFill/>
          <a:ln/>
        </p:spPr>
        <p:txBody>
          <a:bodyPr wrap="square" lIns="0" tIns="0" rIns="0" bIns="0" rtlCol="0" anchor="ctr"/>
          <a:lstStyle/>
          <a:p>
            <a:pPr indent="0" marL="0">
              <a:buNone/>
            </a:pPr>
            <a:r>
              <a:rPr lang="en-US" sz="1100" b="1" dirty="0">
                <a:solidFill>
                  <a:srgbClr val="1D2433"/>
                </a:solidFill>
                <a:latin typeface="Calibri" pitchFamily="34" charset="0"/>
                <a:ea typeface="Calibri" pitchFamily="34" charset="-122"/>
                <a:cs typeface="Calibri" pitchFamily="34" charset="-120"/>
              </a:rPr>
              <a:t>22,2  →  8,9</a:t>
            </a:r>
            <a:endParaRPr lang="en-US" sz="1100" dirty="0"/>
          </a:p>
        </p:txBody>
      </p:sp>
      <p:sp>
        <p:nvSpPr>
          <p:cNvPr id="30" name="Text 28"/>
          <p:cNvSpPr/>
          <p:nvPr/>
        </p:nvSpPr>
        <p:spPr>
          <a:xfrm>
            <a:off x="960120" y="4992624"/>
            <a:ext cx="1600200" cy="256032"/>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Genre du chef</a:t>
            </a:r>
            <a:endParaRPr lang="en-US" sz="1100" dirty="0"/>
          </a:p>
        </p:txBody>
      </p:sp>
      <p:sp>
        <p:nvSpPr>
          <p:cNvPr id="31" name="Shape 29"/>
          <p:cNvSpPr/>
          <p:nvPr/>
        </p:nvSpPr>
        <p:spPr>
          <a:xfrm>
            <a:off x="960120" y="5266944"/>
            <a:ext cx="779526" cy="128016"/>
          </a:xfrm>
          <a:prstGeom prst="roundRect">
            <a:avLst>
              <a:gd name="adj" fmla="val 14286"/>
            </a:avLst>
          </a:prstGeom>
          <a:solidFill>
            <a:srgbClr val="E3E7EE"/>
          </a:solidFill>
          <a:ln/>
        </p:spPr>
      </p:sp>
      <p:sp>
        <p:nvSpPr>
          <p:cNvPr id="32" name="Shape 30"/>
          <p:cNvSpPr/>
          <p:nvPr/>
        </p:nvSpPr>
        <p:spPr>
          <a:xfrm>
            <a:off x="960120" y="5431536"/>
            <a:ext cx="255118" cy="128016"/>
          </a:xfrm>
          <a:prstGeom prst="roundRect">
            <a:avLst>
              <a:gd name="adj" fmla="val 14286"/>
            </a:avLst>
          </a:prstGeom>
          <a:solidFill>
            <a:srgbClr val="3E8C9A"/>
          </a:solidFill>
          <a:ln/>
        </p:spPr>
      </p:sp>
      <p:sp>
        <p:nvSpPr>
          <p:cNvPr id="33" name="Text 31"/>
          <p:cNvSpPr/>
          <p:nvPr/>
        </p:nvSpPr>
        <p:spPr>
          <a:xfrm>
            <a:off x="2606040" y="5248656"/>
            <a:ext cx="1371600" cy="329184"/>
          </a:xfrm>
          <a:prstGeom prst="rect">
            <a:avLst/>
          </a:prstGeom>
          <a:noFill/>
          <a:ln/>
        </p:spPr>
        <p:txBody>
          <a:bodyPr wrap="square" lIns="0" tIns="0" rIns="0" bIns="0" rtlCol="0" anchor="ctr"/>
          <a:lstStyle/>
          <a:p>
            <a:pPr indent="0" marL="0">
              <a:buNone/>
            </a:pPr>
            <a:r>
              <a:rPr lang="en-US" sz="1100" b="1" dirty="0">
                <a:solidFill>
                  <a:srgbClr val="1D2433"/>
                </a:solidFill>
                <a:latin typeface="Calibri" pitchFamily="34" charset="0"/>
                <a:ea typeface="Calibri" pitchFamily="34" charset="-122"/>
                <a:cs typeface="Calibri" pitchFamily="34" charset="-120"/>
              </a:rPr>
              <a:t>27,5  →  9,0</a:t>
            </a:r>
            <a:endParaRPr lang="en-US" sz="1100" dirty="0"/>
          </a:p>
        </p:txBody>
      </p:sp>
      <p:sp>
        <p:nvSpPr>
          <p:cNvPr id="34" name="Text 32"/>
          <p:cNvSpPr/>
          <p:nvPr/>
        </p:nvSpPr>
        <p:spPr>
          <a:xfrm>
            <a:off x="4434840" y="4992624"/>
            <a:ext cx="1600200" cy="256032"/>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Genre de l'enfant</a:t>
            </a:r>
            <a:endParaRPr lang="en-US" sz="1100" dirty="0"/>
          </a:p>
        </p:txBody>
      </p:sp>
      <p:sp>
        <p:nvSpPr>
          <p:cNvPr id="35" name="Shape 33"/>
          <p:cNvSpPr/>
          <p:nvPr/>
        </p:nvSpPr>
        <p:spPr>
          <a:xfrm>
            <a:off x="4434840" y="5266944"/>
            <a:ext cx="36576" cy="128016"/>
          </a:xfrm>
          <a:prstGeom prst="roundRect">
            <a:avLst>
              <a:gd name="adj" fmla="val 50000"/>
            </a:avLst>
          </a:prstGeom>
          <a:solidFill>
            <a:srgbClr val="E3E7EE"/>
          </a:solidFill>
          <a:ln/>
        </p:spPr>
      </p:sp>
      <p:sp>
        <p:nvSpPr>
          <p:cNvPr id="36" name="Shape 34"/>
          <p:cNvSpPr/>
          <p:nvPr/>
        </p:nvSpPr>
        <p:spPr>
          <a:xfrm>
            <a:off x="4434840" y="5431536"/>
            <a:ext cx="76535" cy="128016"/>
          </a:xfrm>
          <a:prstGeom prst="roundRect">
            <a:avLst>
              <a:gd name="adj" fmla="val 23895"/>
            </a:avLst>
          </a:prstGeom>
          <a:solidFill>
            <a:srgbClr val="3E8C9A"/>
          </a:solidFill>
          <a:ln/>
        </p:spPr>
      </p:sp>
      <p:sp>
        <p:nvSpPr>
          <p:cNvPr id="37" name="Text 35"/>
          <p:cNvSpPr/>
          <p:nvPr/>
        </p:nvSpPr>
        <p:spPr>
          <a:xfrm>
            <a:off x="6080760" y="5248656"/>
            <a:ext cx="1371600" cy="329184"/>
          </a:xfrm>
          <a:prstGeom prst="rect">
            <a:avLst/>
          </a:prstGeom>
          <a:noFill/>
          <a:ln/>
        </p:spPr>
        <p:txBody>
          <a:bodyPr wrap="square" lIns="0" tIns="0" rIns="0" bIns="0" rtlCol="0" anchor="ctr"/>
          <a:lstStyle/>
          <a:p>
            <a:pPr indent="0" marL="0">
              <a:buNone/>
            </a:pPr>
            <a:r>
              <a:rPr lang="en-US" sz="1100" b="1" dirty="0">
                <a:solidFill>
                  <a:srgbClr val="1D2433"/>
                </a:solidFill>
                <a:latin typeface="Calibri" pitchFamily="34" charset="0"/>
                <a:ea typeface="Calibri" pitchFamily="34" charset="-122"/>
                <a:cs typeface="Calibri" pitchFamily="34" charset="-120"/>
              </a:rPr>
              <a:t>0,6  →  2,7</a:t>
            </a:r>
            <a:endParaRPr lang="en-US" sz="1100" dirty="0"/>
          </a:p>
        </p:txBody>
      </p:sp>
      <p:sp>
        <p:nvSpPr>
          <p:cNvPr id="38" name="Text 36"/>
          <p:cNvSpPr/>
          <p:nvPr/>
        </p:nvSpPr>
        <p:spPr>
          <a:xfrm>
            <a:off x="7909560" y="4992624"/>
            <a:ext cx="1600200" cy="256032"/>
          </a:xfrm>
          <a:prstGeom prst="rect">
            <a:avLst/>
          </a:prstGeom>
          <a:noFill/>
          <a:ln/>
        </p:spPr>
        <p:txBody>
          <a:bodyPr wrap="square" lIns="0" tIns="0" rIns="0" bIns="0" rtlCol="0" anchor="ctr"/>
          <a:lstStyle/>
          <a:p>
            <a:pPr indent="0" marL="0">
              <a:buNone/>
            </a:pPr>
            <a:r>
              <a:rPr lang="en-US" sz="1100" dirty="0">
                <a:solidFill>
                  <a:srgbClr val="4A5468"/>
                </a:solidFill>
                <a:latin typeface="Calibri" pitchFamily="34" charset="0"/>
                <a:ea typeface="Calibri" pitchFamily="34" charset="-122"/>
                <a:cs typeface="Calibri" pitchFamily="34" charset="-120"/>
              </a:rPr>
              <a:t>Âge de l'enfant</a:t>
            </a:r>
            <a:endParaRPr lang="en-US" sz="1100" dirty="0"/>
          </a:p>
        </p:txBody>
      </p:sp>
      <p:sp>
        <p:nvSpPr>
          <p:cNvPr id="39" name="Shape 37"/>
          <p:cNvSpPr/>
          <p:nvPr/>
        </p:nvSpPr>
        <p:spPr>
          <a:xfrm>
            <a:off x="7909560" y="5266944"/>
            <a:ext cx="56693" cy="128016"/>
          </a:xfrm>
          <a:prstGeom prst="roundRect">
            <a:avLst>
              <a:gd name="adj" fmla="val 32258"/>
            </a:avLst>
          </a:prstGeom>
          <a:solidFill>
            <a:srgbClr val="E3E7EE"/>
          </a:solidFill>
          <a:ln/>
        </p:spPr>
      </p:sp>
      <p:sp>
        <p:nvSpPr>
          <p:cNvPr id="40" name="Shape 38"/>
          <p:cNvSpPr/>
          <p:nvPr/>
        </p:nvSpPr>
        <p:spPr>
          <a:xfrm>
            <a:off x="7909560" y="5431536"/>
            <a:ext cx="70866" cy="128016"/>
          </a:xfrm>
          <a:prstGeom prst="roundRect">
            <a:avLst>
              <a:gd name="adj" fmla="val 25806"/>
            </a:avLst>
          </a:prstGeom>
          <a:solidFill>
            <a:srgbClr val="3E8C9A"/>
          </a:solidFill>
          <a:ln/>
        </p:spPr>
      </p:sp>
      <p:sp>
        <p:nvSpPr>
          <p:cNvPr id="41" name="Text 39"/>
          <p:cNvSpPr/>
          <p:nvPr/>
        </p:nvSpPr>
        <p:spPr>
          <a:xfrm>
            <a:off x="9555480" y="5248656"/>
            <a:ext cx="1371600" cy="329184"/>
          </a:xfrm>
          <a:prstGeom prst="rect">
            <a:avLst/>
          </a:prstGeom>
          <a:noFill/>
          <a:ln/>
        </p:spPr>
        <p:txBody>
          <a:bodyPr wrap="square" lIns="0" tIns="0" rIns="0" bIns="0" rtlCol="0" anchor="ctr"/>
          <a:lstStyle/>
          <a:p>
            <a:pPr indent="0" marL="0">
              <a:buNone/>
            </a:pPr>
            <a:r>
              <a:rPr lang="en-US" sz="1100" b="1" dirty="0">
                <a:solidFill>
                  <a:srgbClr val="1D2433"/>
                </a:solidFill>
                <a:latin typeface="Calibri" pitchFamily="34" charset="0"/>
                <a:ea typeface="Calibri" pitchFamily="34" charset="-122"/>
                <a:cs typeface="Calibri" pitchFamily="34" charset="-120"/>
              </a:rPr>
              <a:t>2,0  →  2,5</a:t>
            </a:r>
            <a:endParaRPr lang="en-US" sz="1100" dirty="0"/>
          </a:p>
        </p:txBody>
      </p:sp>
      <p:sp>
        <p:nvSpPr>
          <p:cNvPr id="42" name="Text 40"/>
          <p:cNvSpPr/>
          <p:nvPr/>
        </p:nvSpPr>
        <p:spPr>
          <a:xfrm>
            <a:off x="548640" y="6455664"/>
            <a:ext cx="8229600" cy="237744"/>
          </a:xfrm>
          <a:prstGeom prst="rect">
            <a:avLst/>
          </a:prstGeom>
          <a:noFill/>
          <a:ln/>
        </p:spPr>
        <p:txBody>
          <a:bodyPr wrap="square" lIns="0" tIns="0" rIns="0" bIns="0" rtlCol="0" anchor="ctr"/>
          <a:lstStyle/>
          <a:p>
            <a:pPr indent="0" marL="0">
              <a:buNone/>
            </a:pPr>
            <a:r>
              <a:rPr lang="en-US" sz="900" dirty="0">
                <a:solidFill>
                  <a:srgbClr val="8A93A5"/>
                </a:solidFill>
                <a:latin typeface="Calibri" pitchFamily="34" charset="0"/>
                <a:ea typeface="Calibri" pitchFamily="34" charset="-122"/>
                <a:cs typeface="Calibri" pitchFamily="34" charset="-120"/>
              </a:rPr>
              <a:t>Gris : avant appariement ; vert : après appariement. Source : calcul de l'auteur, EHCVM I (2018-2019) et EHCVM II (2021-2022).</a:t>
            </a:r>
            <a:endParaRPr lang="en-US" sz="900" dirty="0"/>
          </a:p>
        </p:txBody>
      </p:sp>
      <p:sp>
        <p:nvSpPr>
          <p:cNvPr id="43" name="Text 41"/>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15</a:t>
            </a:r>
            <a:endParaRPr lang="en-US" sz="950" dirty="0"/>
          </a:p>
        </p:txBody>
      </p:sp>
      <p:pic>
        <p:nvPicPr>
          <p:cNvPr id="44" name="Image 0" descr="logos/logo_ensae_new.png">    </p:cNvPr>
          <p:cNvPicPr>
            <a:picLocks noChangeAspect="1"/>
          </p:cNvPicPr>
          <p:nvPr/>
        </p:nvPicPr>
        <p:blipFill>
          <a:blip r:embed="rId1"/>
          <a:stretch>
            <a:fillRect/>
          </a:stretch>
        </p:blipFill>
        <p:spPr>
          <a:xfrm>
            <a:off x="11384280" y="6355080"/>
            <a:ext cx="384048" cy="3840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Le résultat central</a:t>
            </a:r>
            <a:endParaRPr lang="en-US" sz="2700" dirty="0"/>
          </a:p>
        </p:txBody>
      </p:sp>
      <p:sp>
        <p:nvSpPr>
          <p:cNvPr id="3" name="Shape 1"/>
          <p:cNvSpPr/>
          <p:nvPr/>
        </p:nvSpPr>
        <p:spPr>
          <a:xfrm>
            <a:off x="658368" y="1298448"/>
            <a:ext cx="3291840" cy="4526280"/>
          </a:xfrm>
          <a:prstGeom prst="roundRect">
            <a:avLst>
              <a:gd name="adj" fmla="val 1667"/>
            </a:avLst>
          </a:prstGeom>
          <a:solidFill>
            <a:srgbClr val="1E2B4A"/>
          </a:solidFill>
          <a:ln/>
          <a:effectLst>
            <a:outerShdw sx="100000" sy="100000" kx="0" ky="0" algn="bl" rotWithShape="0" blurRad="127000" dist="25400" dir="5400000">
              <a:srgbClr val="1E2B4A">
                <a:alpha val="10000"/>
              </a:srgbClr>
            </a:outerShdw>
          </a:effectLst>
        </p:spPr>
      </p:sp>
      <p:sp>
        <p:nvSpPr>
          <p:cNvPr id="4" name="Text 2"/>
          <p:cNvSpPr/>
          <p:nvPr/>
        </p:nvSpPr>
        <p:spPr>
          <a:xfrm>
            <a:off x="822960" y="2057400"/>
            <a:ext cx="2962656" cy="1005840"/>
          </a:xfrm>
          <a:prstGeom prst="rect">
            <a:avLst/>
          </a:prstGeom>
          <a:noFill/>
          <a:ln/>
        </p:spPr>
        <p:txBody>
          <a:bodyPr wrap="square" lIns="0" tIns="0" rIns="0" bIns="0" rtlCol="0" anchor="ctr"/>
          <a:lstStyle/>
          <a:p>
            <a:pPr algn="ctr" indent="0" marL="0">
              <a:buNone/>
            </a:pPr>
            <a:r>
              <a:rPr lang="en-US" sz="6200" b="1" dirty="0">
                <a:solidFill>
                  <a:srgbClr val="FFFFFF"/>
                </a:solidFill>
                <a:latin typeface="Calibri" pitchFamily="34" charset="0"/>
                <a:ea typeface="Calibri" pitchFamily="34" charset="-122"/>
                <a:cs typeface="Calibri" pitchFamily="34" charset="-120"/>
              </a:rPr>
              <a:t>+6,4</a:t>
            </a:r>
            <a:endParaRPr lang="en-US" sz="6200" dirty="0"/>
          </a:p>
        </p:txBody>
      </p:sp>
      <p:sp>
        <p:nvSpPr>
          <p:cNvPr id="5" name="Text 3"/>
          <p:cNvSpPr/>
          <p:nvPr/>
        </p:nvSpPr>
        <p:spPr>
          <a:xfrm>
            <a:off x="822960" y="3063240"/>
            <a:ext cx="2962656" cy="292608"/>
          </a:xfrm>
          <a:prstGeom prst="rect">
            <a:avLst/>
          </a:prstGeom>
          <a:noFill/>
          <a:ln/>
        </p:spPr>
        <p:txBody>
          <a:bodyPr wrap="square" lIns="0" tIns="0" rIns="0" bIns="0" rtlCol="0" anchor="ctr"/>
          <a:lstStyle/>
          <a:p>
            <a:pPr algn="ctr" indent="0" marL="0">
              <a:buNone/>
            </a:pPr>
            <a:r>
              <a:rPr lang="en-US" sz="1400" b="1" dirty="0">
                <a:solidFill>
                  <a:srgbClr val="D96F2B"/>
                </a:solidFill>
                <a:latin typeface="Calibri" pitchFamily="34" charset="0"/>
                <a:ea typeface="Calibri" pitchFamily="34" charset="-122"/>
                <a:cs typeface="Calibri" pitchFamily="34" charset="-120"/>
              </a:rPr>
              <a:t>points de pourcentage</a:t>
            </a:r>
            <a:endParaRPr lang="en-US" sz="1400" dirty="0"/>
          </a:p>
        </p:txBody>
      </p:sp>
      <p:sp>
        <p:nvSpPr>
          <p:cNvPr id="6" name="Text 4"/>
          <p:cNvSpPr/>
          <p:nvPr/>
        </p:nvSpPr>
        <p:spPr>
          <a:xfrm>
            <a:off x="960120" y="3520440"/>
            <a:ext cx="2688336" cy="914400"/>
          </a:xfrm>
          <a:prstGeom prst="rect">
            <a:avLst/>
          </a:prstGeom>
          <a:noFill/>
          <a:ln/>
        </p:spPr>
        <p:txBody>
          <a:bodyPr wrap="square" lIns="0" tIns="0" rIns="0" bIns="0" rtlCol="0" anchor="t"/>
          <a:lstStyle/>
          <a:p>
            <a:pPr algn="ctr" indent="0" marL="0">
              <a:lnSpc>
                <a:spcPts val="1700"/>
              </a:lnSpc>
              <a:buNone/>
            </a:pPr>
            <a:r>
              <a:rPr lang="en-US" sz="1250" dirty="0">
                <a:solidFill>
                  <a:srgbClr val="D5DEEC"/>
                </a:solidFill>
                <a:latin typeface="Calibri" pitchFamily="34" charset="0"/>
                <a:ea typeface="Calibri" pitchFamily="34" charset="-122"/>
                <a:cs typeface="Calibri" pitchFamily="34" charset="-120"/>
              </a:rPr>
              <a:t>d'écart de trajectoire défavorable aux enfants des ménages bénéficiaires, significatif au seuil de 5 %.</a:t>
            </a:r>
            <a:endParaRPr lang="en-US" sz="1250" dirty="0"/>
          </a:p>
        </p:txBody>
      </p:sp>
      <p:sp>
        <p:nvSpPr>
          <p:cNvPr id="7" name="Text 5"/>
          <p:cNvSpPr/>
          <p:nvPr/>
        </p:nvSpPr>
        <p:spPr>
          <a:xfrm>
            <a:off x="822960" y="5029200"/>
            <a:ext cx="2962656" cy="365760"/>
          </a:xfrm>
          <a:prstGeom prst="rect">
            <a:avLst/>
          </a:prstGeom>
          <a:noFill/>
          <a:ln/>
        </p:spPr>
        <p:txBody>
          <a:bodyPr wrap="square" lIns="0" tIns="0" rIns="0" bIns="0" rtlCol="0" anchor="ctr"/>
          <a:lstStyle/>
          <a:p>
            <a:pPr algn="ctr" indent="0" marL="0">
              <a:buNone/>
            </a:pPr>
            <a:r>
              <a:rPr lang="en-US" sz="1500" b="1" dirty="0">
                <a:solidFill>
                  <a:srgbClr val="D96F2B"/>
                </a:solidFill>
                <a:latin typeface="Calibri" pitchFamily="34" charset="0"/>
                <a:ea typeface="Calibri" pitchFamily="34" charset="-122"/>
                <a:cs typeface="Calibri" pitchFamily="34" charset="-120"/>
              </a:rPr>
              <a:t>H1 n'est pas validée</a:t>
            </a:r>
            <a:endParaRPr lang="en-US" sz="1500" dirty="0"/>
          </a:p>
        </p:txBody>
      </p:sp>
      <p:sp>
        <p:nvSpPr>
          <p:cNvPr id="8" name="Shape 6"/>
          <p:cNvSpPr/>
          <p:nvPr/>
        </p:nvSpPr>
        <p:spPr>
          <a:xfrm>
            <a:off x="4206240" y="1298448"/>
            <a:ext cx="4023360" cy="4526280"/>
          </a:xfrm>
          <a:prstGeom prst="roundRect">
            <a:avLst>
              <a:gd name="adj" fmla="val 1364"/>
            </a:avLst>
          </a:prstGeom>
          <a:solidFill>
            <a:srgbClr val="F4F5FA"/>
          </a:solidFill>
          <a:ln/>
          <a:effectLst>
            <a:outerShdw sx="100000" sy="100000" kx="0" ky="0" algn="bl" rotWithShape="0" blurRad="127000" dist="25400" dir="5400000">
              <a:srgbClr val="1E2B4A">
                <a:alpha val="10000"/>
              </a:srgbClr>
            </a:outerShdw>
          </a:effectLst>
        </p:spPr>
      </p:sp>
      <p:sp>
        <p:nvSpPr>
          <p:cNvPr id="9" name="Text 7"/>
          <p:cNvSpPr/>
          <p:nvPr/>
        </p:nvSpPr>
        <p:spPr>
          <a:xfrm>
            <a:off x="4480560" y="1536192"/>
            <a:ext cx="3474720" cy="310896"/>
          </a:xfrm>
          <a:prstGeom prst="rect">
            <a:avLst/>
          </a:prstGeom>
          <a:noFill/>
          <a:ln/>
        </p:spPr>
        <p:txBody>
          <a:bodyPr wrap="square" lIns="0" tIns="0" rIns="0" bIns="0" rtlCol="0" anchor="ctr"/>
          <a:lstStyle/>
          <a:p>
            <a:pPr indent="0" marL="0">
              <a:buNone/>
            </a:pPr>
            <a:r>
              <a:rPr lang="en-US" sz="1350" b="1" dirty="0">
                <a:solidFill>
                  <a:srgbClr val="1D2433"/>
                </a:solidFill>
                <a:latin typeface="Calibri" pitchFamily="34" charset="0"/>
                <a:ea typeface="Calibri" pitchFamily="34" charset="-122"/>
                <a:cs typeface="Calibri" pitchFamily="34" charset="-120"/>
              </a:rPr>
              <a:t>Recul de l'incidence entre 2018 et 2021</a:t>
            </a:r>
            <a:endParaRPr lang="en-US" sz="1350" dirty="0"/>
          </a:p>
        </p:txBody>
      </p:sp>
      <p:sp>
        <p:nvSpPr>
          <p:cNvPr id="10" name="Shape 8"/>
          <p:cNvSpPr/>
          <p:nvPr/>
        </p:nvSpPr>
        <p:spPr>
          <a:xfrm>
            <a:off x="4892040" y="4027932"/>
            <a:ext cx="822960" cy="928116"/>
          </a:xfrm>
          <a:prstGeom prst="roundRect">
            <a:avLst>
              <a:gd name="adj" fmla="val 4444"/>
            </a:avLst>
          </a:prstGeom>
          <a:solidFill>
            <a:srgbClr val="D96F2B"/>
          </a:solidFill>
          <a:ln/>
        </p:spPr>
      </p:sp>
      <p:sp>
        <p:nvSpPr>
          <p:cNvPr id="11" name="Text 9"/>
          <p:cNvSpPr/>
          <p:nvPr/>
        </p:nvSpPr>
        <p:spPr>
          <a:xfrm>
            <a:off x="4617720" y="3698748"/>
            <a:ext cx="1371600" cy="292608"/>
          </a:xfrm>
          <a:prstGeom prst="rect">
            <a:avLst/>
          </a:prstGeom>
          <a:noFill/>
          <a:ln/>
        </p:spPr>
        <p:txBody>
          <a:bodyPr wrap="square" lIns="0" tIns="0" rIns="0" bIns="0" rtlCol="0" anchor="ctr"/>
          <a:lstStyle/>
          <a:p>
            <a:pPr algn="ctr" indent="0" marL="0">
              <a:buNone/>
            </a:pPr>
            <a:r>
              <a:rPr lang="en-US" sz="1500" b="1" dirty="0">
                <a:solidFill>
                  <a:srgbClr val="1D2433"/>
                </a:solidFill>
                <a:latin typeface="Calibri" pitchFamily="34" charset="0"/>
                <a:ea typeface="Calibri" pitchFamily="34" charset="-122"/>
                <a:cs typeface="Calibri" pitchFamily="34" charset="-120"/>
              </a:rPr>
              <a:t>3,5 pts</a:t>
            </a:r>
            <a:endParaRPr lang="en-US" sz="1500" dirty="0"/>
          </a:p>
        </p:txBody>
      </p:sp>
      <p:sp>
        <p:nvSpPr>
          <p:cNvPr id="12" name="Text 10"/>
          <p:cNvSpPr/>
          <p:nvPr/>
        </p:nvSpPr>
        <p:spPr>
          <a:xfrm>
            <a:off x="4572000" y="5047488"/>
            <a:ext cx="1463040" cy="502920"/>
          </a:xfrm>
          <a:prstGeom prst="rect">
            <a:avLst/>
          </a:prstGeom>
          <a:noFill/>
          <a:ln/>
        </p:spPr>
        <p:txBody>
          <a:bodyPr wrap="square" lIns="0" tIns="0" rIns="0" bIns="0" rtlCol="0" anchor="t"/>
          <a:lstStyle/>
          <a:p>
            <a:pPr algn="ctr" indent="0" marL="0">
              <a:lnSpc>
                <a:spcPts val="1400"/>
              </a:lnSpc>
              <a:buNone/>
            </a:pPr>
            <a:r>
              <a:rPr lang="en-US" sz="1150" b="1" dirty="0">
                <a:solidFill>
                  <a:srgbClr val="4A5468"/>
                </a:solidFill>
                <a:latin typeface="Calibri" pitchFamily="34" charset="0"/>
                <a:ea typeface="Calibri" pitchFamily="34" charset="-122"/>
                <a:cs typeface="Calibri" pitchFamily="34" charset="-120"/>
              </a:rPr>
              <a:t>Bénéficiaires</a:t>
            </a:r>
            <a:endParaRPr lang="en-US" sz="1150" dirty="0"/>
          </a:p>
        </p:txBody>
      </p:sp>
      <p:sp>
        <p:nvSpPr>
          <p:cNvPr id="13" name="Shape 11"/>
          <p:cNvSpPr/>
          <p:nvPr/>
        </p:nvSpPr>
        <p:spPr>
          <a:xfrm>
            <a:off x="6355080" y="2330806"/>
            <a:ext cx="822960" cy="2625242"/>
          </a:xfrm>
          <a:prstGeom prst="roundRect">
            <a:avLst>
              <a:gd name="adj" fmla="val 4444"/>
            </a:avLst>
          </a:prstGeom>
          <a:solidFill>
            <a:srgbClr val="41639E"/>
          </a:solidFill>
          <a:ln/>
        </p:spPr>
      </p:sp>
      <p:sp>
        <p:nvSpPr>
          <p:cNvPr id="14" name="Text 12"/>
          <p:cNvSpPr/>
          <p:nvPr/>
        </p:nvSpPr>
        <p:spPr>
          <a:xfrm>
            <a:off x="6080760" y="2001622"/>
            <a:ext cx="1371600" cy="292608"/>
          </a:xfrm>
          <a:prstGeom prst="rect">
            <a:avLst/>
          </a:prstGeom>
          <a:noFill/>
          <a:ln/>
        </p:spPr>
        <p:txBody>
          <a:bodyPr wrap="square" lIns="0" tIns="0" rIns="0" bIns="0" rtlCol="0" anchor="ctr"/>
          <a:lstStyle/>
          <a:p>
            <a:pPr algn="ctr" indent="0" marL="0">
              <a:buNone/>
            </a:pPr>
            <a:r>
              <a:rPr lang="en-US" sz="1500" b="1" dirty="0">
                <a:solidFill>
                  <a:srgbClr val="1D2433"/>
                </a:solidFill>
                <a:latin typeface="Calibri" pitchFamily="34" charset="0"/>
                <a:ea typeface="Calibri" pitchFamily="34" charset="-122"/>
                <a:cs typeface="Calibri" pitchFamily="34" charset="-120"/>
              </a:rPr>
              <a:t>9,9 pts</a:t>
            </a:r>
            <a:endParaRPr lang="en-US" sz="1500" dirty="0"/>
          </a:p>
        </p:txBody>
      </p:sp>
      <p:sp>
        <p:nvSpPr>
          <p:cNvPr id="15" name="Text 13"/>
          <p:cNvSpPr/>
          <p:nvPr/>
        </p:nvSpPr>
        <p:spPr>
          <a:xfrm>
            <a:off x="6035040" y="5047488"/>
            <a:ext cx="1463040" cy="502920"/>
          </a:xfrm>
          <a:prstGeom prst="rect">
            <a:avLst/>
          </a:prstGeom>
          <a:noFill/>
          <a:ln/>
        </p:spPr>
        <p:txBody>
          <a:bodyPr wrap="square" lIns="0" tIns="0" rIns="0" bIns="0" rtlCol="0" anchor="t"/>
          <a:lstStyle/>
          <a:p>
            <a:pPr algn="ctr" indent="0" marL="0">
              <a:lnSpc>
                <a:spcPts val="1400"/>
              </a:lnSpc>
              <a:buNone/>
            </a:pPr>
            <a:r>
              <a:rPr lang="en-US" sz="1150" b="1" dirty="0">
                <a:solidFill>
                  <a:srgbClr val="4A5468"/>
                </a:solidFill>
                <a:latin typeface="Calibri" pitchFamily="34" charset="0"/>
                <a:ea typeface="Calibri" pitchFamily="34" charset="-122"/>
                <a:cs typeface="Calibri" pitchFamily="34" charset="-120"/>
              </a:rPr>
              <a:t>Témoins</a:t>
            </a:r>
            <a:endParaRPr lang="en-US" sz="1150" dirty="0"/>
          </a:p>
          <a:p>
            <a:pPr algn="ctr" indent="0" marL="0">
              <a:lnSpc>
                <a:spcPts val="1400"/>
              </a:lnSpc>
              <a:buNone/>
            </a:pPr>
            <a:r>
              <a:rPr lang="en-US" sz="1150" b="1" dirty="0">
                <a:solidFill>
                  <a:srgbClr val="4A5468"/>
                </a:solidFill>
                <a:latin typeface="Calibri" pitchFamily="34" charset="0"/>
                <a:ea typeface="Calibri" pitchFamily="34" charset="-122"/>
                <a:cs typeface="Calibri" pitchFamily="34" charset="-120"/>
              </a:rPr>
              <a:t>appariés</a:t>
            </a:r>
            <a:endParaRPr lang="en-US" sz="1150" dirty="0"/>
          </a:p>
        </p:txBody>
      </p:sp>
      <p:sp>
        <p:nvSpPr>
          <p:cNvPr id="16" name="Shape 14"/>
          <p:cNvSpPr/>
          <p:nvPr/>
        </p:nvSpPr>
        <p:spPr>
          <a:xfrm>
            <a:off x="4617720" y="4956048"/>
            <a:ext cx="3200400" cy="18288"/>
          </a:xfrm>
          <a:prstGeom prst="rect">
            <a:avLst/>
          </a:prstGeom>
          <a:solidFill>
            <a:srgbClr val="CFD4DD"/>
          </a:solidFill>
          <a:ln/>
        </p:spPr>
      </p:sp>
      <p:sp>
        <p:nvSpPr>
          <p:cNvPr id="17" name="Text 15"/>
          <p:cNvSpPr/>
          <p:nvPr/>
        </p:nvSpPr>
        <p:spPr>
          <a:xfrm>
            <a:off x="3291840" y="5532120"/>
            <a:ext cx="5074920" cy="310896"/>
          </a:xfrm>
          <a:prstGeom prst="rect">
            <a:avLst/>
          </a:prstGeom>
          <a:noFill/>
          <a:ln/>
        </p:spPr>
        <p:txBody>
          <a:bodyPr wrap="square" lIns="0" tIns="0" rIns="0" bIns="0" rtlCol="0" anchor="ctr"/>
          <a:lstStyle/>
          <a:p>
            <a:pPr algn="ctr" indent="0" marL="0">
              <a:buNone/>
            </a:pPr>
            <a:r>
              <a:rPr lang="en-US" sz="1100" dirty="0">
                <a:solidFill>
                  <a:srgbClr val="4A5468"/>
                </a:solidFill>
                <a:latin typeface="Calibri" pitchFamily="34" charset="0"/>
                <a:ea typeface="Calibri" pitchFamily="34" charset="-122"/>
                <a:cs typeface="Calibri" pitchFamily="34" charset="-120"/>
              </a:rPr>
              <a:t>La pauvreté a reculé près de trois fois moins vite chez les bénéficiaires.</a:t>
            </a:r>
            <a:endParaRPr lang="en-US" sz="1100" dirty="0"/>
          </a:p>
        </p:txBody>
      </p:sp>
      <p:sp>
        <p:nvSpPr>
          <p:cNvPr id="18" name="Shape 16"/>
          <p:cNvSpPr/>
          <p:nvPr/>
        </p:nvSpPr>
        <p:spPr>
          <a:xfrm>
            <a:off x="8485632" y="1298448"/>
            <a:ext cx="3063240" cy="4526280"/>
          </a:xfrm>
          <a:prstGeom prst="roundRect">
            <a:avLst>
              <a:gd name="adj" fmla="val 1791"/>
            </a:avLst>
          </a:prstGeom>
          <a:solidFill>
            <a:srgbClr val="F4F5FA"/>
          </a:solidFill>
          <a:ln/>
          <a:effectLst>
            <a:outerShdw sx="100000" sy="100000" kx="0" ky="0" algn="bl" rotWithShape="0" blurRad="127000" dist="25400" dir="5400000">
              <a:srgbClr val="1E2B4A">
                <a:alpha val="10000"/>
              </a:srgbClr>
            </a:outerShdw>
          </a:effectLst>
        </p:spPr>
      </p:sp>
      <p:sp>
        <p:nvSpPr>
          <p:cNvPr id="19" name="Text 17"/>
          <p:cNvSpPr/>
          <p:nvPr/>
        </p:nvSpPr>
        <p:spPr>
          <a:xfrm>
            <a:off x="8732520" y="1536192"/>
            <a:ext cx="2606040" cy="310896"/>
          </a:xfrm>
          <a:prstGeom prst="rect">
            <a:avLst/>
          </a:prstGeom>
          <a:noFill/>
          <a:ln/>
        </p:spPr>
        <p:txBody>
          <a:bodyPr wrap="square" lIns="0" tIns="0" rIns="0" bIns="0" rtlCol="0" anchor="ctr"/>
          <a:lstStyle/>
          <a:p>
            <a:pPr indent="0" marL="0">
              <a:buNone/>
            </a:pPr>
            <a:r>
              <a:rPr lang="en-US" sz="1350" b="1" dirty="0">
                <a:solidFill>
                  <a:srgbClr val="1D2433"/>
                </a:solidFill>
                <a:latin typeface="Calibri" pitchFamily="34" charset="0"/>
                <a:ea typeface="Calibri" pitchFamily="34" charset="-122"/>
                <a:cs typeface="Calibri" pitchFamily="34" charset="-120"/>
              </a:rPr>
              <a:t>Stable aux trois appariements</a:t>
            </a:r>
            <a:endParaRPr lang="en-US" sz="1350" dirty="0"/>
          </a:p>
        </p:txBody>
      </p:sp>
      <p:sp>
        <p:nvSpPr>
          <p:cNvPr id="20" name="Text 18"/>
          <p:cNvSpPr/>
          <p:nvPr/>
        </p:nvSpPr>
        <p:spPr>
          <a:xfrm>
            <a:off x="8732520" y="2011680"/>
            <a:ext cx="1783080" cy="457200"/>
          </a:xfrm>
          <a:prstGeom prst="rect">
            <a:avLst/>
          </a:prstGeom>
          <a:noFill/>
          <a:ln/>
        </p:spPr>
        <p:txBody>
          <a:bodyPr wrap="square" lIns="0" tIns="0" rIns="0" bIns="0" rtlCol="0" anchor="ctr"/>
          <a:lstStyle/>
          <a:p>
            <a:pPr indent="0" marL="0">
              <a:lnSpc>
                <a:spcPts val="1400"/>
              </a:lnSpc>
              <a:buNone/>
            </a:pPr>
            <a:r>
              <a:rPr lang="en-US" sz="1100" dirty="0">
                <a:solidFill>
                  <a:srgbClr val="4A5468"/>
                </a:solidFill>
                <a:latin typeface="Calibri" pitchFamily="34" charset="0"/>
                <a:ea typeface="Calibri" pitchFamily="34" charset="-122"/>
                <a:cs typeface="Calibri" pitchFamily="34" charset="-120"/>
              </a:rPr>
              <a:t>k plus proches voisins</a:t>
            </a:r>
            <a:endParaRPr lang="en-US" sz="1100" dirty="0"/>
          </a:p>
        </p:txBody>
      </p:sp>
      <p:sp>
        <p:nvSpPr>
          <p:cNvPr id="21" name="Text 19"/>
          <p:cNvSpPr/>
          <p:nvPr/>
        </p:nvSpPr>
        <p:spPr>
          <a:xfrm>
            <a:off x="10561320" y="2011680"/>
            <a:ext cx="777240" cy="457200"/>
          </a:xfrm>
          <a:prstGeom prst="rect">
            <a:avLst/>
          </a:prstGeom>
          <a:noFill/>
          <a:ln/>
        </p:spPr>
        <p:txBody>
          <a:bodyPr wrap="square" lIns="0" tIns="0" rIns="0" bIns="0" rtlCol="0" anchor="ctr"/>
          <a:lstStyle/>
          <a:p>
            <a:pPr algn="r" indent="0" marL="0">
              <a:buNone/>
            </a:pPr>
            <a:r>
              <a:rPr lang="en-US" sz="1500" b="1" dirty="0">
                <a:solidFill>
                  <a:srgbClr val="1E2B4A"/>
                </a:solidFill>
                <a:latin typeface="Calibri" pitchFamily="34" charset="0"/>
                <a:ea typeface="Calibri" pitchFamily="34" charset="-122"/>
                <a:cs typeface="Calibri" pitchFamily="34" charset="-120"/>
              </a:rPr>
              <a:t>0,064**</a:t>
            </a:r>
            <a:endParaRPr lang="en-US" sz="1500" dirty="0"/>
          </a:p>
        </p:txBody>
      </p:sp>
      <p:sp>
        <p:nvSpPr>
          <p:cNvPr id="22" name="Shape 20"/>
          <p:cNvSpPr/>
          <p:nvPr/>
        </p:nvSpPr>
        <p:spPr>
          <a:xfrm>
            <a:off x="8732520" y="2523744"/>
            <a:ext cx="2606040" cy="10973"/>
          </a:xfrm>
          <a:prstGeom prst="rect">
            <a:avLst/>
          </a:prstGeom>
          <a:solidFill>
            <a:srgbClr val="E3E7EE"/>
          </a:solidFill>
          <a:ln/>
        </p:spPr>
      </p:sp>
      <p:sp>
        <p:nvSpPr>
          <p:cNvPr id="23" name="Text 21"/>
          <p:cNvSpPr/>
          <p:nvPr/>
        </p:nvSpPr>
        <p:spPr>
          <a:xfrm>
            <a:off x="8732520" y="2670048"/>
            <a:ext cx="1783080" cy="457200"/>
          </a:xfrm>
          <a:prstGeom prst="rect">
            <a:avLst/>
          </a:prstGeom>
          <a:noFill/>
          <a:ln/>
        </p:spPr>
        <p:txBody>
          <a:bodyPr wrap="square" lIns="0" tIns="0" rIns="0" bIns="0" rtlCol="0" anchor="ctr"/>
          <a:lstStyle/>
          <a:p>
            <a:pPr indent="0" marL="0">
              <a:lnSpc>
                <a:spcPts val="1400"/>
              </a:lnSpc>
              <a:buNone/>
            </a:pPr>
            <a:r>
              <a:rPr lang="en-US" sz="1100" dirty="0">
                <a:solidFill>
                  <a:srgbClr val="4A5468"/>
                </a:solidFill>
                <a:latin typeface="Calibri" pitchFamily="34" charset="0"/>
                <a:ea typeface="Calibri" pitchFamily="34" charset="-122"/>
                <a:cs typeface="Calibri" pitchFamily="34" charset="-120"/>
              </a:rPr>
              <a:t>Noyau Epanechnikov</a:t>
            </a:r>
            <a:endParaRPr lang="en-US" sz="1100" dirty="0"/>
          </a:p>
        </p:txBody>
      </p:sp>
      <p:sp>
        <p:nvSpPr>
          <p:cNvPr id="24" name="Text 22"/>
          <p:cNvSpPr/>
          <p:nvPr/>
        </p:nvSpPr>
        <p:spPr>
          <a:xfrm>
            <a:off x="10561320" y="2670048"/>
            <a:ext cx="777240" cy="457200"/>
          </a:xfrm>
          <a:prstGeom prst="rect">
            <a:avLst/>
          </a:prstGeom>
          <a:noFill/>
          <a:ln/>
        </p:spPr>
        <p:txBody>
          <a:bodyPr wrap="square" lIns="0" tIns="0" rIns="0" bIns="0" rtlCol="0" anchor="ctr"/>
          <a:lstStyle/>
          <a:p>
            <a:pPr algn="r" indent="0" marL="0">
              <a:buNone/>
            </a:pPr>
            <a:r>
              <a:rPr lang="en-US" sz="1500" b="1" dirty="0">
                <a:solidFill>
                  <a:srgbClr val="1E2B4A"/>
                </a:solidFill>
                <a:latin typeface="Calibri" pitchFamily="34" charset="0"/>
                <a:ea typeface="Calibri" pitchFamily="34" charset="-122"/>
                <a:cs typeface="Calibri" pitchFamily="34" charset="-120"/>
              </a:rPr>
              <a:t>0,061*</a:t>
            </a:r>
            <a:endParaRPr lang="en-US" sz="1500" dirty="0"/>
          </a:p>
        </p:txBody>
      </p:sp>
      <p:sp>
        <p:nvSpPr>
          <p:cNvPr id="25" name="Shape 23"/>
          <p:cNvSpPr/>
          <p:nvPr/>
        </p:nvSpPr>
        <p:spPr>
          <a:xfrm>
            <a:off x="8732520" y="3182112"/>
            <a:ext cx="2606040" cy="10973"/>
          </a:xfrm>
          <a:prstGeom prst="rect">
            <a:avLst/>
          </a:prstGeom>
          <a:solidFill>
            <a:srgbClr val="E3E7EE"/>
          </a:solidFill>
          <a:ln/>
        </p:spPr>
      </p:sp>
      <p:sp>
        <p:nvSpPr>
          <p:cNvPr id="26" name="Text 24"/>
          <p:cNvSpPr/>
          <p:nvPr/>
        </p:nvSpPr>
        <p:spPr>
          <a:xfrm>
            <a:off x="8732520" y="3328416"/>
            <a:ext cx="1783080" cy="457200"/>
          </a:xfrm>
          <a:prstGeom prst="rect">
            <a:avLst/>
          </a:prstGeom>
          <a:noFill/>
          <a:ln/>
        </p:spPr>
        <p:txBody>
          <a:bodyPr wrap="square" lIns="0" tIns="0" rIns="0" bIns="0" rtlCol="0" anchor="ctr"/>
          <a:lstStyle/>
          <a:p>
            <a:pPr indent="0" marL="0">
              <a:lnSpc>
                <a:spcPts val="1400"/>
              </a:lnSpc>
              <a:buNone/>
            </a:pPr>
            <a:r>
              <a:rPr lang="en-US" sz="1100" dirty="0">
                <a:solidFill>
                  <a:srgbClr val="4A5468"/>
                </a:solidFill>
                <a:latin typeface="Calibri" pitchFamily="34" charset="0"/>
                <a:ea typeface="Calibri" pitchFamily="34" charset="-122"/>
                <a:cs typeface="Calibri" pitchFamily="34" charset="-120"/>
              </a:rPr>
              <a:t>Caliper</a:t>
            </a:r>
            <a:endParaRPr lang="en-US" sz="1100" dirty="0"/>
          </a:p>
        </p:txBody>
      </p:sp>
      <p:sp>
        <p:nvSpPr>
          <p:cNvPr id="27" name="Text 25"/>
          <p:cNvSpPr/>
          <p:nvPr/>
        </p:nvSpPr>
        <p:spPr>
          <a:xfrm>
            <a:off x="10561320" y="3328416"/>
            <a:ext cx="777240" cy="457200"/>
          </a:xfrm>
          <a:prstGeom prst="rect">
            <a:avLst/>
          </a:prstGeom>
          <a:noFill/>
          <a:ln/>
        </p:spPr>
        <p:txBody>
          <a:bodyPr wrap="square" lIns="0" tIns="0" rIns="0" bIns="0" rtlCol="0" anchor="ctr"/>
          <a:lstStyle/>
          <a:p>
            <a:pPr algn="r" indent="0" marL="0">
              <a:buNone/>
            </a:pPr>
            <a:r>
              <a:rPr lang="en-US" sz="1500" b="1" dirty="0">
                <a:solidFill>
                  <a:srgbClr val="1E2B4A"/>
                </a:solidFill>
                <a:latin typeface="Calibri" pitchFamily="34" charset="0"/>
                <a:ea typeface="Calibri" pitchFamily="34" charset="-122"/>
                <a:cs typeface="Calibri" pitchFamily="34" charset="-120"/>
              </a:rPr>
              <a:t>0,050*</a:t>
            </a:r>
            <a:endParaRPr lang="en-US" sz="1500" dirty="0"/>
          </a:p>
        </p:txBody>
      </p:sp>
      <p:sp>
        <p:nvSpPr>
          <p:cNvPr id="28" name="Shape 26"/>
          <p:cNvSpPr/>
          <p:nvPr/>
        </p:nvSpPr>
        <p:spPr>
          <a:xfrm>
            <a:off x="8732520" y="3840480"/>
            <a:ext cx="2606040" cy="10973"/>
          </a:xfrm>
          <a:prstGeom prst="rect">
            <a:avLst/>
          </a:prstGeom>
          <a:solidFill>
            <a:srgbClr val="E3E7EE"/>
          </a:solidFill>
          <a:ln/>
        </p:spPr>
      </p:sp>
      <p:sp>
        <p:nvSpPr>
          <p:cNvPr id="29" name="Text 27"/>
          <p:cNvSpPr/>
          <p:nvPr/>
        </p:nvSpPr>
        <p:spPr>
          <a:xfrm>
            <a:off x="8732520" y="3986784"/>
            <a:ext cx="1783080" cy="457200"/>
          </a:xfrm>
          <a:prstGeom prst="rect">
            <a:avLst/>
          </a:prstGeom>
          <a:noFill/>
          <a:ln/>
        </p:spPr>
        <p:txBody>
          <a:bodyPr wrap="square" lIns="0" tIns="0" rIns="0" bIns="0" rtlCol="0" anchor="ctr"/>
          <a:lstStyle/>
          <a:p>
            <a:pPr indent="0" marL="0">
              <a:lnSpc>
                <a:spcPts val="1400"/>
              </a:lnSpc>
              <a:buNone/>
            </a:pPr>
            <a:r>
              <a:rPr lang="en-US" sz="1100" dirty="0">
                <a:solidFill>
                  <a:srgbClr val="4A5468"/>
                </a:solidFill>
                <a:latin typeface="Calibri" pitchFamily="34" charset="0"/>
                <a:ea typeface="Calibri" pitchFamily="34" charset="-122"/>
                <a:cs typeface="Calibri" pitchFamily="34" charset="-120"/>
              </a:rPr>
              <a:t>Double différence brute</a:t>
            </a:r>
            <a:endParaRPr lang="en-US" sz="1100" dirty="0"/>
          </a:p>
        </p:txBody>
      </p:sp>
      <p:sp>
        <p:nvSpPr>
          <p:cNvPr id="30" name="Text 28"/>
          <p:cNvSpPr/>
          <p:nvPr/>
        </p:nvSpPr>
        <p:spPr>
          <a:xfrm>
            <a:off x="10561320" y="3986784"/>
            <a:ext cx="777240" cy="457200"/>
          </a:xfrm>
          <a:prstGeom prst="rect">
            <a:avLst/>
          </a:prstGeom>
          <a:noFill/>
          <a:ln/>
        </p:spPr>
        <p:txBody>
          <a:bodyPr wrap="square" lIns="0" tIns="0" rIns="0" bIns="0" rtlCol="0" anchor="ctr"/>
          <a:lstStyle/>
          <a:p>
            <a:pPr algn="r" indent="0" marL="0">
              <a:buNone/>
            </a:pPr>
            <a:r>
              <a:rPr lang="en-US" sz="1500" b="1" dirty="0">
                <a:solidFill>
                  <a:srgbClr val="8A93A5"/>
                </a:solidFill>
                <a:latin typeface="Calibri" pitchFamily="34" charset="0"/>
                <a:ea typeface="Calibri" pitchFamily="34" charset="-122"/>
                <a:cs typeface="Calibri" pitchFamily="34" charset="-120"/>
              </a:rPr>
              <a:t>0,035</a:t>
            </a:r>
            <a:endParaRPr lang="en-US" sz="1500" dirty="0"/>
          </a:p>
        </p:txBody>
      </p:sp>
      <p:sp>
        <p:nvSpPr>
          <p:cNvPr id="31" name="Shape 29"/>
          <p:cNvSpPr/>
          <p:nvPr/>
        </p:nvSpPr>
        <p:spPr>
          <a:xfrm>
            <a:off x="8732520" y="4498848"/>
            <a:ext cx="2606040" cy="10973"/>
          </a:xfrm>
          <a:prstGeom prst="rect">
            <a:avLst/>
          </a:prstGeom>
          <a:solidFill>
            <a:srgbClr val="E3E7EE"/>
          </a:solidFill>
          <a:ln/>
        </p:spPr>
      </p:sp>
      <p:sp>
        <p:nvSpPr>
          <p:cNvPr id="32" name="Text 30"/>
          <p:cNvSpPr/>
          <p:nvPr/>
        </p:nvSpPr>
        <p:spPr>
          <a:xfrm>
            <a:off x="8732520" y="4754880"/>
            <a:ext cx="2606040" cy="960120"/>
          </a:xfrm>
          <a:prstGeom prst="rect">
            <a:avLst/>
          </a:prstGeom>
          <a:noFill/>
          <a:ln/>
        </p:spPr>
        <p:txBody>
          <a:bodyPr wrap="square" lIns="0" tIns="0" rIns="0" bIns="0" rtlCol="0" anchor="t"/>
          <a:lstStyle/>
          <a:p>
            <a:pPr indent="0" marL="0">
              <a:lnSpc>
                <a:spcPts val="1400"/>
              </a:lnSpc>
              <a:buNone/>
            </a:pPr>
            <a:r>
              <a:rPr lang="en-US" sz="1050" dirty="0">
                <a:solidFill>
                  <a:srgbClr val="4A5468"/>
                </a:solidFill>
                <a:latin typeface="Calibri" pitchFamily="34" charset="0"/>
                <a:ea typeface="Calibri" pitchFamily="34" charset="-122"/>
                <a:cs typeface="Calibri" pitchFamily="34" charset="-120"/>
              </a:rPr>
              <a:t>Le résultat ne tient pas au choix de l'algorithme. La double différence sans appariement, qui ne corrige pas l'avantage initial, donne le même signe atténué.</a:t>
            </a:r>
            <a:endParaRPr lang="en-US" sz="1050" dirty="0"/>
          </a:p>
        </p:txBody>
      </p:sp>
      <p:sp>
        <p:nvSpPr>
          <p:cNvPr id="33" name="Text 31"/>
          <p:cNvSpPr/>
          <p:nvPr/>
        </p:nvSpPr>
        <p:spPr>
          <a:xfrm>
            <a:off x="548640" y="6455664"/>
            <a:ext cx="8229600" cy="237744"/>
          </a:xfrm>
          <a:prstGeom prst="rect">
            <a:avLst/>
          </a:prstGeom>
          <a:noFill/>
          <a:ln/>
        </p:spPr>
        <p:txBody>
          <a:bodyPr wrap="square" lIns="0" tIns="0" rIns="0" bIns="0" rtlCol="0" anchor="ctr"/>
          <a:lstStyle/>
          <a:p>
            <a:pPr indent="0" marL="0">
              <a:buNone/>
            </a:pPr>
            <a:r>
              <a:rPr lang="en-US" sz="900" dirty="0">
                <a:solidFill>
                  <a:srgbClr val="8A93A5"/>
                </a:solidFill>
                <a:latin typeface="Calibri" pitchFamily="34" charset="0"/>
                <a:ea typeface="Calibri" pitchFamily="34" charset="-122"/>
                <a:cs typeface="Calibri" pitchFamily="34" charset="-120"/>
              </a:rPr>
              <a:t>** significatif à 5 %, * à 10 %. Source : calcul de l'auteur, EHCVM I (2018-2019) et EHCVM II (2021-2022).</a:t>
            </a:r>
            <a:endParaRPr lang="en-US" sz="900" dirty="0"/>
          </a:p>
        </p:txBody>
      </p:sp>
      <p:sp>
        <p:nvSpPr>
          <p:cNvPr id="34" name="Text 32"/>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16</a:t>
            </a:r>
            <a:endParaRPr lang="en-US" sz="950" dirty="0"/>
          </a:p>
        </p:txBody>
      </p:sp>
      <p:pic>
        <p:nvPicPr>
          <p:cNvPr id="35" name="Image 0" descr="logos/logo_ensae_new.png">    </p:cNvPr>
          <p:cNvPicPr>
            <a:picLocks noChangeAspect="1"/>
          </p:cNvPicPr>
          <p:nvPr/>
        </p:nvPicPr>
        <p:blipFill>
          <a:blip r:embed="rId1"/>
          <a:stretch>
            <a:fillRect/>
          </a:stretch>
        </p:blipFill>
        <p:spPr>
          <a:xfrm>
            <a:off x="11384280" y="6355080"/>
            <a:ext cx="384048" cy="38404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Où se concentre l'écart</a:t>
            </a:r>
            <a:endParaRPr lang="en-US" sz="2700" dirty="0"/>
          </a:p>
        </p:txBody>
      </p:sp>
      <p:sp>
        <p:nvSpPr>
          <p:cNvPr id="3" name="Text 1"/>
          <p:cNvSpPr/>
          <p:nvPr/>
        </p:nvSpPr>
        <p:spPr>
          <a:xfrm>
            <a:off x="548640" y="896112"/>
            <a:ext cx="11064240" cy="475488"/>
          </a:xfrm>
          <a:prstGeom prst="rect">
            <a:avLst/>
          </a:prstGeom>
          <a:noFill/>
          <a:ln/>
        </p:spPr>
        <p:txBody>
          <a:bodyPr wrap="square" lIns="0" tIns="0" rIns="0" bIns="0" rtlCol="0" anchor="t"/>
          <a:lstStyle/>
          <a:p>
            <a:pPr indent="0" marL="0">
              <a:lnSpc>
                <a:spcPts val="1700"/>
              </a:lnSpc>
              <a:buNone/>
            </a:pPr>
            <a:r>
              <a:rPr lang="en-US" sz="1300" dirty="0">
                <a:solidFill>
                  <a:srgbClr val="4A5468"/>
                </a:solidFill>
                <a:latin typeface="Calibri" pitchFamily="34" charset="0"/>
                <a:ea typeface="Calibri" pitchFamily="34" charset="-122"/>
                <a:cs typeface="Calibri" pitchFamily="34" charset="-120"/>
              </a:rPr>
              <a:t>Sur les sept dimensions, une seule ressort : la nutrition, celle qui dépend le plus directement du budget courant du ménage.</a:t>
            </a:r>
            <a:endParaRPr lang="en-US" sz="1300" dirty="0"/>
          </a:p>
        </p:txBody>
      </p:sp>
      <p:sp>
        <p:nvSpPr>
          <p:cNvPr id="4" name="Shape 2"/>
          <p:cNvSpPr/>
          <p:nvPr/>
        </p:nvSpPr>
        <p:spPr>
          <a:xfrm>
            <a:off x="658368" y="1783080"/>
            <a:ext cx="6583680" cy="4023360"/>
          </a:xfrm>
          <a:prstGeom prst="roundRect">
            <a:avLst>
              <a:gd name="adj" fmla="val 1364"/>
            </a:avLst>
          </a:prstGeom>
          <a:solidFill>
            <a:srgbClr val="F4F5FA"/>
          </a:solidFill>
          <a:ln/>
          <a:effectLst>
            <a:outerShdw sx="100000" sy="100000" kx="0" ky="0" algn="bl" rotWithShape="0" blurRad="127000" dist="25400" dir="5400000">
              <a:srgbClr val="1E2B4A">
                <a:alpha val="10000"/>
              </a:srgbClr>
            </a:outerShdw>
          </a:effectLst>
        </p:spPr>
      </p:sp>
      <p:sp>
        <p:nvSpPr>
          <p:cNvPr id="5" name="Text 3"/>
          <p:cNvSpPr/>
          <p:nvPr/>
        </p:nvSpPr>
        <p:spPr>
          <a:xfrm>
            <a:off x="960120" y="2011680"/>
            <a:ext cx="6035040" cy="310896"/>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Effet estimé par dimension, en points de pourcentage</a:t>
            </a:r>
            <a:endParaRPr lang="en-US" sz="1400" dirty="0"/>
          </a:p>
        </p:txBody>
      </p:sp>
      <p:sp>
        <p:nvSpPr>
          <p:cNvPr id="6" name="Text 4"/>
          <p:cNvSpPr/>
          <p:nvPr/>
        </p:nvSpPr>
        <p:spPr>
          <a:xfrm>
            <a:off x="960120" y="2487168"/>
            <a:ext cx="1463040" cy="292608"/>
          </a:xfrm>
          <a:prstGeom prst="rect">
            <a:avLst/>
          </a:prstGeom>
          <a:noFill/>
          <a:ln/>
        </p:spPr>
        <p:txBody>
          <a:bodyPr wrap="square" lIns="0" tIns="0" rIns="0" bIns="0" rtlCol="0" anchor="ctr"/>
          <a:lstStyle/>
          <a:p>
            <a:pPr indent="0" marL="0">
              <a:buNone/>
            </a:pPr>
            <a:r>
              <a:rPr lang="en-US" sz="1150" b="1" dirty="0">
                <a:solidFill>
                  <a:srgbClr val="1D2433"/>
                </a:solidFill>
                <a:latin typeface="Calibri" pitchFamily="34" charset="0"/>
                <a:ea typeface="Calibri" pitchFamily="34" charset="-122"/>
                <a:cs typeface="Calibri" pitchFamily="34" charset="-120"/>
              </a:rPr>
              <a:t>Nutrition</a:t>
            </a:r>
            <a:endParaRPr lang="en-US" sz="1150" dirty="0"/>
          </a:p>
        </p:txBody>
      </p:sp>
      <p:sp>
        <p:nvSpPr>
          <p:cNvPr id="7" name="Shape 5"/>
          <p:cNvSpPr/>
          <p:nvPr/>
        </p:nvSpPr>
        <p:spPr>
          <a:xfrm>
            <a:off x="2514600" y="2542032"/>
            <a:ext cx="3429000" cy="182880"/>
          </a:xfrm>
          <a:prstGeom prst="roundRect">
            <a:avLst>
              <a:gd name="adj" fmla="val 12500"/>
            </a:avLst>
          </a:prstGeom>
          <a:solidFill>
            <a:srgbClr val="D96F2B"/>
          </a:solidFill>
          <a:ln/>
        </p:spPr>
      </p:sp>
      <p:sp>
        <p:nvSpPr>
          <p:cNvPr id="8" name="Text 6"/>
          <p:cNvSpPr/>
          <p:nvPr/>
        </p:nvSpPr>
        <p:spPr>
          <a:xfrm>
            <a:off x="6080760" y="2487168"/>
            <a:ext cx="640080" cy="292608"/>
          </a:xfrm>
          <a:prstGeom prst="rect">
            <a:avLst/>
          </a:prstGeom>
          <a:noFill/>
          <a:ln/>
        </p:spPr>
        <p:txBody>
          <a:bodyPr wrap="square" lIns="0" tIns="0" rIns="0" bIns="0" rtlCol="0" anchor="ctr"/>
          <a:lstStyle/>
          <a:p>
            <a:pPr algn="r" indent="0" marL="0">
              <a:buNone/>
            </a:pPr>
            <a:r>
              <a:rPr lang="en-US" sz="1200" b="1" dirty="0">
                <a:solidFill>
                  <a:srgbClr val="1D2433"/>
                </a:solidFill>
                <a:latin typeface="Calibri" pitchFamily="34" charset="0"/>
                <a:ea typeface="Calibri" pitchFamily="34" charset="-122"/>
                <a:cs typeface="Calibri" pitchFamily="34" charset="-120"/>
              </a:rPr>
              <a:t>+6,8</a:t>
            </a:r>
            <a:endParaRPr lang="en-US" sz="1200" dirty="0"/>
          </a:p>
        </p:txBody>
      </p:sp>
      <p:sp>
        <p:nvSpPr>
          <p:cNvPr id="9" name="Text 7"/>
          <p:cNvSpPr/>
          <p:nvPr/>
        </p:nvSpPr>
        <p:spPr>
          <a:xfrm>
            <a:off x="6720840" y="2487168"/>
            <a:ext cx="274320" cy="292608"/>
          </a:xfrm>
          <a:prstGeom prst="rect">
            <a:avLst/>
          </a:prstGeom>
          <a:noFill/>
          <a:ln/>
        </p:spPr>
        <p:txBody>
          <a:bodyPr wrap="square" lIns="0" tIns="0" rIns="0" bIns="0" rtlCol="0" anchor="ctr"/>
          <a:lstStyle/>
          <a:p>
            <a:pPr indent="0" marL="0">
              <a:buNone/>
            </a:pPr>
            <a:r>
              <a:rPr lang="en-US" sz="1400" b="1" dirty="0">
                <a:solidFill>
                  <a:srgbClr val="D96F2B"/>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960120" y="2944368"/>
            <a:ext cx="1463040" cy="292608"/>
          </a:xfrm>
          <a:prstGeom prst="rect">
            <a:avLst/>
          </a:prstGeom>
          <a:noFill/>
          <a:ln/>
        </p:spPr>
        <p:txBody>
          <a:bodyPr wrap="square" lIns="0" tIns="0" rIns="0" bIns="0" rtlCol="0" anchor="ctr"/>
          <a:lstStyle/>
          <a:p>
            <a:pPr indent="0" marL="0">
              <a:buNone/>
            </a:pPr>
            <a:r>
              <a:rPr lang="en-US" sz="1150" dirty="0">
                <a:solidFill>
                  <a:srgbClr val="4A5468"/>
                </a:solidFill>
                <a:latin typeface="Calibri" pitchFamily="34" charset="0"/>
                <a:ea typeface="Calibri" pitchFamily="34" charset="-122"/>
                <a:cs typeface="Calibri" pitchFamily="34" charset="-120"/>
              </a:rPr>
              <a:t>Assainissement</a:t>
            </a:r>
            <a:endParaRPr lang="en-US" sz="1150" dirty="0"/>
          </a:p>
        </p:txBody>
      </p:sp>
      <p:sp>
        <p:nvSpPr>
          <p:cNvPr id="11" name="Shape 9"/>
          <p:cNvSpPr/>
          <p:nvPr/>
        </p:nvSpPr>
        <p:spPr>
          <a:xfrm>
            <a:off x="2514600" y="2999232"/>
            <a:ext cx="2319618" cy="182880"/>
          </a:xfrm>
          <a:prstGeom prst="roundRect">
            <a:avLst>
              <a:gd name="adj" fmla="val 12500"/>
            </a:avLst>
          </a:prstGeom>
          <a:solidFill>
            <a:srgbClr val="E3E7EE"/>
          </a:solidFill>
          <a:ln/>
        </p:spPr>
      </p:sp>
      <p:sp>
        <p:nvSpPr>
          <p:cNvPr id="12" name="Text 10"/>
          <p:cNvSpPr/>
          <p:nvPr/>
        </p:nvSpPr>
        <p:spPr>
          <a:xfrm>
            <a:off x="6080760" y="2944368"/>
            <a:ext cx="640080" cy="292608"/>
          </a:xfrm>
          <a:prstGeom prst="rect">
            <a:avLst/>
          </a:prstGeom>
          <a:noFill/>
          <a:ln/>
        </p:spPr>
        <p:txBody>
          <a:bodyPr wrap="square" lIns="0" tIns="0" rIns="0" bIns="0" rtlCol="0" anchor="ctr"/>
          <a:lstStyle/>
          <a:p>
            <a:pPr algn="r" indent="0" marL="0">
              <a:buNone/>
            </a:pPr>
            <a:r>
              <a:rPr lang="en-US" sz="1200" b="1" dirty="0">
                <a:solidFill>
                  <a:srgbClr val="1D2433"/>
                </a:solidFill>
                <a:latin typeface="Calibri" pitchFamily="34" charset="0"/>
                <a:ea typeface="Calibri" pitchFamily="34" charset="-122"/>
                <a:cs typeface="Calibri" pitchFamily="34" charset="-120"/>
              </a:rPr>
              <a:t>+4,6</a:t>
            </a:r>
            <a:endParaRPr lang="en-US" sz="1200" dirty="0"/>
          </a:p>
        </p:txBody>
      </p:sp>
      <p:sp>
        <p:nvSpPr>
          <p:cNvPr id="13" name="Text 11"/>
          <p:cNvSpPr/>
          <p:nvPr/>
        </p:nvSpPr>
        <p:spPr>
          <a:xfrm>
            <a:off x="960120" y="3401568"/>
            <a:ext cx="1463040" cy="292608"/>
          </a:xfrm>
          <a:prstGeom prst="rect">
            <a:avLst/>
          </a:prstGeom>
          <a:noFill/>
          <a:ln/>
        </p:spPr>
        <p:txBody>
          <a:bodyPr wrap="square" lIns="0" tIns="0" rIns="0" bIns="0" rtlCol="0" anchor="ctr"/>
          <a:lstStyle/>
          <a:p>
            <a:pPr indent="0" marL="0">
              <a:buNone/>
            </a:pPr>
            <a:r>
              <a:rPr lang="en-US" sz="1150" dirty="0">
                <a:solidFill>
                  <a:srgbClr val="4A5468"/>
                </a:solidFill>
                <a:latin typeface="Calibri" pitchFamily="34" charset="0"/>
                <a:ea typeface="Calibri" pitchFamily="34" charset="-122"/>
                <a:cs typeface="Calibri" pitchFamily="34" charset="-120"/>
              </a:rPr>
              <a:t>Eau</a:t>
            </a:r>
            <a:endParaRPr lang="en-US" sz="1150" dirty="0"/>
          </a:p>
        </p:txBody>
      </p:sp>
      <p:sp>
        <p:nvSpPr>
          <p:cNvPr id="14" name="Shape 12"/>
          <p:cNvSpPr/>
          <p:nvPr/>
        </p:nvSpPr>
        <p:spPr>
          <a:xfrm>
            <a:off x="2514600" y="3456432"/>
            <a:ext cx="1210235" cy="182880"/>
          </a:xfrm>
          <a:prstGeom prst="roundRect">
            <a:avLst>
              <a:gd name="adj" fmla="val 12500"/>
            </a:avLst>
          </a:prstGeom>
          <a:solidFill>
            <a:srgbClr val="E3E7EE"/>
          </a:solidFill>
          <a:ln/>
        </p:spPr>
      </p:sp>
      <p:sp>
        <p:nvSpPr>
          <p:cNvPr id="15" name="Text 13"/>
          <p:cNvSpPr/>
          <p:nvPr/>
        </p:nvSpPr>
        <p:spPr>
          <a:xfrm>
            <a:off x="6080760" y="3401568"/>
            <a:ext cx="640080" cy="292608"/>
          </a:xfrm>
          <a:prstGeom prst="rect">
            <a:avLst/>
          </a:prstGeom>
          <a:noFill/>
          <a:ln/>
        </p:spPr>
        <p:txBody>
          <a:bodyPr wrap="square" lIns="0" tIns="0" rIns="0" bIns="0" rtlCol="0" anchor="ctr"/>
          <a:lstStyle/>
          <a:p>
            <a:pPr algn="r" indent="0" marL="0">
              <a:buNone/>
            </a:pPr>
            <a:r>
              <a:rPr lang="en-US" sz="1200" b="1" dirty="0">
                <a:solidFill>
                  <a:srgbClr val="1D2433"/>
                </a:solidFill>
                <a:latin typeface="Calibri" pitchFamily="34" charset="0"/>
                <a:ea typeface="Calibri" pitchFamily="34" charset="-122"/>
                <a:cs typeface="Calibri" pitchFamily="34" charset="-120"/>
              </a:rPr>
              <a:t>+2,4</a:t>
            </a:r>
            <a:endParaRPr lang="en-US" sz="1200" dirty="0"/>
          </a:p>
        </p:txBody>
      </p:sp>
      <p:sp>
        <p:nvSpPr>
          <p:cNvPr id="16" name="Text 14"/>
          <p:cNvSpPr/>
          <p:nvPr/>
        </p:nvSpPr>
        <p:spPr>
          <a:xfrm>
            <a:off x="960120" y="3858768"/>
            <a:ext cx="1463040" cy="292608"/>
          </a:xfrm>
          <a:prstGeom prst="rect">
            <a:avLst/>
          </a:prstGeom>
          <a:noFill/>
          <a:ln/>
        </p:spPr>
        <p:txBody>
          <a:bodyPr wrap="square" lIns="0" tIns="0" rIns="0" bIns="0" rtlCol="0" anchor="ctr"/>
          <a:lstStyle/>
          <a:p>
            <a:pPr indent="0" marL="0">
              <a:buNone/>
            </a:pPr>
            <a:r>
              <a:rPr lang="en-US" sz="1150" dirty="0">
                <a:solidFill>
                  <a:srgbClr val="4A5468"/>
                </a:solidFill>
                <a:latin typeface="Calibri" pitchFamily="34" charset="0"/>
                <a:ea typeface="Calibri" pitchFamily="34" charset="-122"/>
                <a:cs typeface="Calibri" pitchFamily="34" charset="-120"/>
              </a:rPr>
              <a:t>Logement</a:t>
            </a:r>
            <a:endParaRPr lang="en-US" sz="1150" dirty="0"/>
          </a:p>
        </p:txBody>
      </p:sp>
      <p:sp>
        <p:nvSpPr>
          <p:cNvPr id="17" name="Shape 15"/>
          <p:cNvSpPr/>
          <p:nvPr/>
        </p:nvSpPr>
        <p:spPr>
          <a:xfrm>
            <a:off x="2514600" y="3913632"/>
            <a:ext cx="1210235" cy="182880"/>
          </a:xfrm>
          <a:prstGeom prst="roundRect">
            <a:avLst>
              <a:gd name="adj" fmla="val 12500"/>
            </a:avLst>
          </a:prstGeom>
          <a:solidFill>
            <a:srgbClr val="E3E7EE"/>
          </a:solidFill>
          <a:ln/>
        </p:spPr>
      </p:sp>
      <p:sp>
        <p:nvSpPr>
          <p:cNvPr id="18" name="Text 16"/>
          <p:cNvSpPr/>
          <p:nvPr/>
        </p:nvSpPr>
        <p:spPr>
          <a:xfrm>
            <a:off x="6080760" y="3858768"/>
            <a:ext cx="640080" cy="292608"/>
          </a:xfrm>
          <a:prstGeom prst="rect">
            <a:avLst/>
          </a:prstGeom>
          <a:noFill/>
          <a:ln/>
        </p:spPr>
        <p:txBody>
          <a:bodyPr wrap="square" lIns="0" tIns="0" rIns="0" bIns="0" rtlCol="0" anchor="ctr"/>
          <a:lstStyle/>
          <a:p>
            <a:pPr algn="r" indent="0" marL="0">
              <a:buNone/>
            </a:pPr>
            <a:r>
              <a:rPr lang="en-US" sz="1200" b="1" dirty="0">
                <a:solidFill>
                  <a:srgbClr val="1D2433"/>
                </a:solidFill>
                <a:latin typeface="Calibri" pitchFamily="34" charset="0"/>
                <a:ea typeface="Calibri" pitchFamily="34" charset="-122"/>
                <a:cs typeface="Calibri" pitchFamily="34" charset="-120"/>
              </a:rPr>
              <a:t>+2,4</a:t>
            </a:r>
            <a:endParaRPr lang="en-US" sz="1200" dirty="0"/>
          </a:p>
        </p:txBody>
      </p:sp>
      <p:sp>
        <p:nvSpPr>
          <p:cNvPr id="19" name="Text 17"/>
          <p:cNvSpPr/>
          <p:nvPr/>
        </p:nvSpPr>
        <p:spPr>
          <a:xfrm>
            <a:off x="960120" y="4315968"/>
            <a:ext cx="1463040" cy="292608"/>
          </a:xfrm>
          <a:prstGeom prst="rect">
            <a:avLst/>
          </a:prstGeom>
          <a:noFill/>
          <a:ln/>
        </p:spPr>
        <p:txBody>
          <a:bodyPr wrap="square" lIns="0" tIns="0" rIns="0" bIns="0" rtlCol="0" anchor="ctr"/>
          <a:lstStyle/>
          <a:p>
            <a:pPr indent="0" marL="0">
              <a:buNone/>
            </a:pPr>
            <a:r>
              <a:rPr lang="en-US" sz="1150" dirty="0">
                <a:solidFill>
                  <a:srgbClr val="4A5468"/>
                </a:solidFill>
                <a:latin typeface="Calibri" pitchFamily="34" charset="0"/>
                <a:ea typeface="Calibri" pitchFamily="34" charset="-122"/>
                <a:cs typeface="Calibri" pitchFamily="34" charset="-120"/>
              </a:rPr>
              <a:t>Protection</a:t>
            </a:r>
            <a:endParaRPr lang="en-US" sz="1150" dirty="0"/>
          </a:p>
        </p:txBody>
      </p:sp>
      <p:sp>
        <p:nvSpPr>
          <p:cNvPr id="20" name="Shape 18"/>
          <p:cNvSpPr/>
          <p:nvPr/>
        </p:nvSpPr>
        <p:spPr>
          <a:xfrm>
            <a:off x="2514600" y="4370832"/>
            <a:ext cx="554691" cy="182880"/>
          </a:xfrm>
          <a:prstGeom prst="roundRect">
            <a:avLst>
              <a:gd name="adj" fmla="val 12500"/>
            </a:avLst>
          </a:prstGeom>
          <a:solidFill>
            <a:srgbClr val="E3E7EE"/>
          </a:solidFill>
          <a:ln/>
        </p:spPr>
      </p:sp>
      <p:sp>
        <p:nvSpPr>
          <p:cNvPr id="21" name="Text 19"/>
          <p:cNvSpPr/>
          <p:nvPr/>
        </p:nvSpPr>
        <p:spPr>
          <a:xfrm>
            <a:off x="6080760" y="4315968"/>
            <a:ext cx="640080" cy="292608"/>
          </a:xfrm>
          <a:prstGeom prst="rect">
            <a:avLst/>
          </a:prstGeom>
          <a:noFill/>
          <a:ln/>
        </p:spPr>
        <p:txBody>
          <a:bodyPr wrap="square" lIns="0" tIns="0" rIns="0" bIns="0" rtlCol="0" anchor="ctr"/>
          <a:lstStyle/>
          <a:p>
            <a:pPr algn="r" indent="0" marL="0">
              <a:buNone/>
            </a:pPr>
            <a:r>
              <a:rPr lang="en-US" sz="1200" b="1" dirty="0">
                <a:solidFill>
                  <a:srgbClr val="1D2433"/>
                </a:solidFill>
                <a:latin typeface="Calibri" pitchFamily="34" charset="0"/>
                <a:ea typeface="Calibri" pitchFamily="34" charset="-122"/>
                <a:cs typeface="Calibri" pitchFamily="34" charset="-120"/>
              </a:rPr>
              <a:t>+1,1</a:t>
            </a:r>
            <a:endParaRPr lang="en-US" sz="1200" dirty="0"/>
          </a:p>
        </p:txBody>
      </p:sp>
      <p:sp>
        <p:nvSpPr>
          <p:cNvPr id="22" name="Text 20"/>
          <p:cNvSpPr/>
          <p:nvPr/>
        </p:nvSpPr>
        <p:spPr>
          <a:xfrm>
            <a:off x="960120" y="4773168"/>
            <a:ext cx="1463040" cy="292608"/>
          </a:xfrm>
          <a:prstGeom prst="rect">
            <a:avLst/>
          </a:prstGeom>
          <a:noFill/>
          <a:ln/>
        </p:spPr>
        <p:txBody>
          <a:bodyPr wrap="square" lIns="0" tIns="0" rIns="0" bIns="0" rtlCol="0" anchor="ctr"/>
          <a:lstStyle/>
          <a:p>
            <a:pPr indent="0" marL="0">
              <a:buNone/>
            </a:pPr>
            <a:r>
              <a:rPr lang="en-US" sz="1150" dirty="0">
                <a:solidFill>
                  <a:srgbClr val="4A5468"/>
                </a:solidFill>
                <a:latin typeface="Calibri" pitchFamily="34" charset="0"/>
                <a:ea typeface="Calibri" pitchFamily="34" charset="-122"/>
                <a:cs typeface="Calibri" pitchFamily="34" charset="-120"/>
              </a:rPr>
              <a:t>Santé</a:t>
            </a:r>
            <a:endParaRPr lang="en-US" sz="1150" dirty="0"/>
          </a:p>
        </p:txBody>
      </p:sp>
      <p:sp>
        <p:nvSpPr>
          <p:cNvPr id="23" name="Shape 21"/>
          <p:cNvSpPr/>
          <p:nvPr/>
        </p:nvSpPr>
        <p:spPr>
          <a:xfrm>
            <a:off x="2514600" y="4828032"/>
            <a:ext cx="504265" cy="182880"/>
          </a:xfrm>
          <a:prstGeom prst="roundRect">
            <a:avLst>
              <a:gd name="adj" fmla="val 12500"/>
            </a:avLst>
          </a:prstGeom>
          <a:solidFill>
            <a:srgbClr val="E3E7EE"/>
          </a:solidFill>
          <a:ln/>
        </p:spPr>
      </p:sp>
      <p:sp>
        <p:nvSpPr>
          <p:cNvPr id="24" name="Text 22"/>
          <p:cNvSpPr/>
          <p:nvPr/>
        </p:nvSpPr>
        <p:spPr>
          <a:xfrm>
            <a:off x="6080760" y="4773168"/>
            <a:ext cx="640080" cy="292608"/>
          </a:xfrm>
          <a:prstGeom prst="rect">
            <a:avLst/>
          </a:prstGeom>
          <a:noFill/>
          <a:ln/>
        </p:spPr>
        <p:txBody>
          <a:bodyPr wrap="square" lIns="0" tIns="0" rIns="0" bIns="0" rtlCol="0" anchor="ctr"/>
          <a:lstStyle/>
          <a:p>
            <a:pPr algn="r" indent="0" marL="0">
              <a:buNone/>
            </a:pPr>
            <a:r>
              <a:rPr lang="en-US" sz="1200" b="1" dirty="0">
                <a:solidFill>
                  <a:srgbClr val="1D2433"/>
                </a:solidFill>
                <a:latin typeface="Calibri" pitchFamily="34" charset="0"/>
                <a:ea typeface="Calibri" pitchFamily="34" charset="-122"/>
                <a:cs typeface="Calibri" pitchFamily="34" charset="-120"/>
              </a:rPr>
              <a:t>+1,0</a:t>
            </a:r>
            <a:endParaRPr lang="en-US" sz="1200" dirty="0"/>
          </a:p>
        </p:txBody>
      </p:sp>
      <p:sp>
        <p:nvSpPr>
          <p:cNvPr id="25" name="Text 23"/>
          <p:cNvSpPr/>
          <p:nvPr/>
        </p:nvSpPr>
        <p:spPr>
          <a:xfrm>
            <a:off x="960120" y="5230368"/>
            <a:ext cx="1463040" cy="292608"/>
          </a:xfrm>
          <a:prstGeom prst="rect">
            <a:avLst/>
          </a:prstGeom>
          <a:noFill/>
          <a:ln/>
        </p:spPr>
        <p:txBody>
          <a:bodyPr wrap="square" lIns="0" tIns="0" rIns="0" bIns="0" rtlCol="0" anchor="ctr"/>
          <a:lstStyle/>
          <a:p>
            <a:pPr indent="0" marL="0">
              <a:buNone/>
            </a:pPr>
            <a:r>
              <a:rPr lang="en-US" sz="1150" dirty="0">
                <a:solidFill>
                  <a:srgbClr val="4A5468"/>
                </a:solidFill>
                <a:latin typeface="Calibri" pitchFamily="34" charset="0"/>
                <a:ea typeface="Calibri" pitchFamily="34" charset="-122"/>
                <a:cs typeface="Calibri" pitchFamily="34" charset="-120"/>
              </a:rPr>
              <a:t>Éducation</a:t>
            </a:r>
            <a:endParaRPr lang="en-US" sz="1150" dirty="0"/>
          </a:p>
        </p:txBody>
      </p:sp>
      <p:sp>
        <p:nvSpPr>
          <p:cNvPr id="26" name="Shape 24"/>
          <p:cNvSpPr/>
          <p:nvPr/>
        </p:nvSpPr>
        <p:spPr>
          <a:xfrm>
            <a:off x="2514600" y="5285232"/>
            <a:ext cx="252132" cy="182880"/>
          </a:xfrm>
          <a:prstGeom prst="roundRect">
            <a:avLst>
              <a:gd name="adj" fmla="val 12500"/>
            </a:avLst>
          </a:prstGeom>
          <a:solidFill>
            <a:srgbClr val="E3E7EE"/>
          </a:solidFill>
          <a:ln/>
        </p:spPr>
      </p:sp>
      <p:sp>
        <p:nvSpPr>
          <p:cNvPr id="27" name="Text 25"/>
          <p:cNvSpPr/>
          <p:nvPr/>
        </p:nvSpPr>
        <p:spPr>
          <a:xfrm>
            <a:off x="6080760" y="5230368"/>
            <a:ext cx="640080" cy="292608"/>
          </a:xfrm>
          <a:prstGeom prst="rect">
            <a:avLst/>
          </a:prstGeom>
          <a:noFill/>
          <a:ln/>
        </p:spPr>
        <p:txBody>
          <a:bodyPr wrap="square" lIns="0" tIns="0" rIns="0" bIns="0" rtlCol="0" anchor="ctr"/>
          <a:lstStyle/>
          <a:p>
            <a:pPr algn="r" indent="0" marL="0">
              <a:buNone/>
            </a:pPr>
            <a:r>
              <a:rPr lang="en-US" sz="1200" b="1" dirty="0">
                <a:solidFill>
                  <a:srgbClr val="1D2433"/>
                </a:solidFill>
                <a:latin typeface="Calibri" pitchFamily="34" charset="0"/>
                <a:ea typeface="Calibri" pitchFamily="34" charset="-122"/>
                <a:cs typeface="Calibri" pitchFamily="34" charset="-120"/>
              </a:rPr>
              <a:t>+0,5</a:t>
            </a:r>
            <a:endParaRPr lang="en-US" sz="1200" dirty="0"/>
          </a:p>
        </p:txBody>
      </p:sp>
      <p:sp>
        <p:nvSpPr>
          <p:cNvPr id="28" name="Shape 26"/>
          <p:cNvSpPr/>
          <p:nvPr/>
        </p:nvSpPr>
        <p:spPr>
          <a:xfrm>
            <a:off x="7498080" y="1783080"/>
            <a:ext cx="4050792" cy="1874520"/>
          </a:xfrm>
          <a:prstGeom prst="roundRect">
            <a:avLst>
              <a:gd name="adj" fmla="val 2927"/>
            </a:avLst>
          </a:prstGeom>
          <a:solidFill>
            <a:srgbClr val="F7EAE4"/>
          </a:solidFill>
          <a:ln/>
          <a:effectLst>
            <a:outerShdw sx="100000" sy="100000" kx="0" ky="0" algn="bl" rotWithShape="0" blurRad="127000" dist="25400" dir="5400000">
              <a:srgbClr val="1E2B4A">
                <a:alpha val="10000"/>
              </a:srgbClr>
            </a:outerShdw>
          </a:effectLst>
        </p:spPr>
      </p:sp>
      <p:sp>
        <p:nvSpPr>
          <p:cNvPr id="29" name="Shape 27"/>
          <p:cNvSpPr/>
          <p:nvPr/>
        </p:nvSpPr>
        <p:spPr>
          <a:xfrm>
            <a:off x="7772400" y="2057400"/>
            <a:ext cx="777240" cy="777240"/>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30" name="Image 0" descr="preencoded.png">    </p:cNvPr>
          <p:cNvPicPr>
            <a:picLocks noChangeAspect="1"/>
          </p:cNvPicPr>
          <p:nvPr/>
        </p:nvPicPr>
        <p:blipFill>
          <a:blip r:embed="rId1"/>
          <a:stretch>
            <a:fillRect/>
          </a:stretch>
        </p:blipFill>
        <p:spPr>
          <a:xfrm>
            <a:off x="7982255" y="2267255"/>
            <a:ext cx="357530" cy="357530"/>
          </a:xfrm>
          <a:prstGeom prst="rect">
            <a:avLst/>
          </a:prstGeom>
        </p:spPr>
      </p:pic>
      <p:sp>
        <p:nvSpPr>
          <p:cNvPr id="31" name="Text 28"/>
          <p:cNvSpPr/>
          <p:nvPr/>
        </p:nvSpPr>
        <p:spPr>
          <a:xfrm>
            <a:off x="8686800" y="2084832"/>
            <a:ext cx="2606040" cy="457200"/>
          </a:xfrm>
          <a:prstGeom prst="rect">
            <a:avLst/>
          </a:prstGeom>
          <a:noFill/>
          <a:ln/>
        </p:spPr>
        <p:txBody>
          <a:bodyPr wrap="square" lIns="0" tIns="0" rIns="0" bIns="0" rtlCol="0" anchor="ctr"/>
          <a:lstStyle/>
          <a:p>
            <a:pPr indent="0" marL="0">
              <a:lnSpc>
                <a:spcPts val="1700"/>
              </a:lnSpc>
              <a:buNone/>
            </a:pPr>
            <a:r>
              <a:rPr lang="en-US" sz="1400" b="1" dirty="0">
                <a:solidFill>
                  <a:srgbClr val="1D2433"/>
                </a:solidFill>
                <a:latin typeface="Calibri" pitchFamily="34" charset="0"/>
                <a:ea typeface="Calibri" pitchFamily="34" charset="-122"/>
                <a:cs typeface="Calibri" pitchFamily="34" charset="-120"/>
              </a:rPr>
              <a:t>+9,1 points chez les 0 à 4 ans</a:t>
            </a:r>
            <a:endParaRPr lang="en-US" sz="1400" dirty="0"/>
          </a:p>
        </p:txBody>
      </p:sp>
      <p:sp>
        <p:nvSpPr>
          <p:cNvPr id="32" name="Text 29"/>
          <p:cNvSpPr/>
          <p:nvPr/>
        </p:nvSpPr>
        <p:spPr>
          <a:xfrm>
            <a:off x="7772400" y="2926080"/>
            <a:ext cx="3520440" cy="640080"/>
          </a:xfrm>
          <a:prstGeom prst="rect">
            <a:avLst/>
          </a:prstGeom>
          <a:noFill/>
          <a:ln/>
        </p:spPr>
        <p:txBody>
          <a:bodyPr wrap="square" lIns="0" tIns="0" rIns="0" bIns="0" rtlCol="0" anchor="t"/>
          <a:lstStyle/>
          <a:p>
            <a:pPr indent="0" marL="0">
              <a:lnSpc>
                <a:spcPts val="1450"/>
              </a:lnSpc>
              <a:buNone/>
            </a:pPr>
            <a:r>
              <a:rPr lang="en-US" sz="1100" dirty="0">
                <a:solidFill>
                  <a:srgbClr val="4A5468"/>
                </a:solidFill>
                <a:latin typeface="Calibri" pitchFamily="34" charset="0"/>
                <a:ea typeface="Calibri" pitchFamily="34" charset="-122"/>
                <a:cs typeface="Calibri" pitchFamily="34" charset="-120"/>
              </a:rPr>
              <a:t>Significatif à 5 %. Effet par âge et effet par dimension se répondent : les besoins des plus jeunes passent d'abord par l'alimentation.</a:t>
            </a:r>
            <a:endParaRPr lang="en-US" sz="1100" dirty="0"/>
          </a:p>
        </p:txBody>
      </p:sp>
      <p:sp>
        <p:nvSpPr>
          <p:cNvPr id="33" name="Shape 30"/>
          <p:cNvSpPr/>
          <p:nvPr/>
        </p:nvSpPr>
        <p:spPr>
          <a:xfrm>
            <a:off x="7498080" y="3931920"/>
            <a:ext cx="4050792" cy="1874520"/>
          </a:xfrm>
          <a:prstGeom prst="roundRect">
            <a:avLst>
              <a:gd name="adj" fmla="val 2927"/>
            </a:avLst>
          </a:prstGeom>
          <a:solidFill>
            <a:srgbClr val="F4F5FA"/>
          </a:solidFill>
          <a:ln/>
          <a:effectLst>
            <a:outerShdw sx="100000" sy="100000" kx="0" ky="0" algn="bl" rotWithShape="0" blurRad="127000" dist="25400" dir="5400000">
              <a:srgbClr val="1E2B4A">
                <a:alpha val="10000"/>
              </a:srgbClr>
            </a:outerShdw>
          </a:effectLst>
        </p:spPr>
      </p:sp>
      <p:sp>
        <p:nvSpPr>
          <p:cNvPr id="34" name="Text 31"/>
          <p:cNvSpPr/>
          <p:nvPr/>
        </p:nvSpPr>
        <p:spPr>
          <a:xfrm>
            <a:off x="7772400" y="4160520"/>
            <a:ext cx="3520440" cy="310896"/>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Aucun test d'égalité ne conclut</a:t>
            </a:r>
            <a:endParaRPr lang="en-US" sz="1400" dirty="0"/>
          </a:p>
        </p:txBody>
      </p:sp>
      <p:sp>
        <p:nvSpPr>
          <p:cNvPr id="35" name="Text 32"/>
          <p:cNvSpPr/>
          <p:nvPr/>
        </p:nvSpPr>
        <p:spPr>
          <a:xfrm>
            <a:off x="7772400" y="4572000"/>
            <a:ext cx="2377440" cy="274320"/>
          </a:xfrm>
          <a:prstGeom prst="rect">
            <a:avLst/>
          </a:prstGeom>
          <a:noFill/>
          <a:ln/>
        </p:spPr>
        <p:txBody>
          <a:bodyPr wrap="square" lIns="0" tIns="0" rIns="0" bIns="0" rtlCol="0" anchor="ctr"/>
          <a:lstStyle/>
          <a:p>
            <a:pPr indent="0" marL="0">
              <a:buNone/>
            </a:pPr>
            <a:r>
              <a:rPr lang="en-US" sz="1150" dirty="0">
                <a:solidFill>
                  <a:srgbClr val="4A5468"/>
                </a:solidFill>
                <a:latin typeface="Calibri" pitchFamily="34" charset="0"/>
                <a:ea typeface="Calibri" pitchFamily="34" charset="-122"/>
                <a:cs typeface="Calibri" pitchFamily="34" charset="-120"/>
              </a:rPr>
              <a:t>Milieu de résidence</a:t>
            </a:r>
            <a:endParaRPr lang="en-US" sz="1150" dirty="0"/>
          </a:p>
        </p:txBody>
      </p:sp>
      <p:sp>
        <p:nvSpPr>
          <p:cNvPr id="36" name="Text 33"/>
          <p:cNvSpPr/>
          <p:nvPr/>
        </p:nvSpPr>
        <p:spPr>
          <a:xfrm>
            <a:off x="10241280" y="4572000"/>
            <a:ext cx="1051560" cy="274320"/>
          </a:xfrm>
          <a:prstGeom prst="rect">
            <a:avLst/>
          </a:prstGeom>
          <a:noFill/>
          <a:ln/>
        </p:spPr>
        <p:txBody>
          <a:bodyPr wrap="square" lIns="0" tIns="0" rIns="0" bIns="0" rtlCol="0" anchor="ctr"/>
          <a:lstStyle/>
          <a:p>
            <a:pPr algn="r" indent="0" marL="0">
              <a:buNone/>
            </a:pPr>
            <a:r>
              <a:rPr lang="en-US" sz="1150" b="1" dirty="0">
                <a:solidFill>
                  <a:srgbClr val="1D2433"/>
                </a:solidFill>
                <a:latin typeface="Calibri" pitchFamily="34" charset="0"/>
                <a:ea typeface="Calibri" pitchFamily="34" charset="-122"/>
                <a:cs typeface="Calibri" pitchFamily="34" charset="-120"/>
              </a:rPr>
              <a:t>p = 0,863</a:t>
            </a:r>
            <a:endParaRPr lang="en-US" sz="1150" dirty="0"/>
          </a:p>
        </p:txBody>
      </p:sp>
      <p:sp>
        <p:nvSpPr>
          <p:cNvPr id="37" name="Text 34"/>
          <p:cNvSpPr/>
          <p:nvPr/>
        </p:nvSpPr>
        <p:spPr>
          <a:xfrm>
            <a:off x="7772400" y="4956048"/>
            <a:ext cx="2377440" cy="274320"/>
          </a:xfrm>
          <a:prstGeom prst="rect">
            <a:avLst/>
          </a:prstGeom>
          <a:noFill/>
          <a:ln/>
        </p:spPr>
        <p:txBody>
          <a:bodyPr wrap="square" lIns="0" tIns="0" rIns="0" bIns="0" rtlCol="0" anchor="ctr"/>
          <a:lstStyle/>
          <a:p>
            <a:pPr indent="0" marL="0">
              <a:buNone/>
            </a:pPr>
            <a:r>
              <a:rPr lang="en-US" sz="1150" dirty="0">
                <a:solidFill>
                  <a:srgbClr val="4A5468"/>
                </a:solidFill>
                <a:latin typeface="Calibri" pitchFamily="34" charset="0"/>
                <a:ea typeface="Calibri" pitchFamily="34" charset="-122"/>
                <a:cs typeface="Calibri" pitchFamily="34" charset="-120"/>
              </a:rPr>
              <a:t>Genre du chef de ménage</a:t>
            </a:r>
            <a:endParaRPr lang="en-US" sz="1150" dirty="0"/>
          </a:p>
        </p:txBody>
      </p:sp>
      <p:sp>
        <p:nvSpPr>
          <p:cNvPr id="38" name="Text 35"/>
          <p:cNvSpPr/>
          <p:nvPr/>
        </p:nvSpPr>
        <p:spPr>
          <a:xfrm>
            <a:off x="10241280" y="4956048"/>
            <a:ext cx="1051560" cy="274320"/>
          </a:xfrm>
          <a:prstGeom prst="rect">
            <a:avLst/>
          </a:prstGeom>
          <a:noFill/>
          <a:ln/>
        </p:spPr>
        <p:txBody>
          <a:bodyPr wrap="square" lIns="0" tIns="0" rIns="0" bIns="0" rtlCol="0" anchor="ctr"/>
          <a:lstStyle/>
          <a:p>
            <a:pPr algn="r" indent="0" marL="0">
              <a:buNone/>
            </a:pPr>
            <a:r>
              <a:rPr lang="en-US" sz="1150" b="1" dirty="0">
                <a:solidFill>
                  <a:srgbClr val="1D2433"/>
                </a:solidFill>
                <a:latin typeface="Calibri" pitchFamily="34" charset="0"/>
                <a:ea typeface="Calibri" pitchFamily="34" charset="-122"/>
                <a:cs typeface="Calibri" pitchFamily="34" charset="-120"/>
              </a:rPr>
              <a:t>p = 0,879</a:t>
            </a:r>
            <a:endParaRPr lang="en-US" sz="1150" dirty="0"/>
          </a:p>
        </p:txBody>
      </p:sp>
      <p:sp>
        <p:nvSpPr>
          <p:cNvPr id="39" name="Text 36"/>
          <p:cNvSpPr/>
          <p:nvPr/>
        </p:nvSpPr>
        <p:spPr>
          <a:xfrm>
            <a:off x="7772400" y="5340096"/>
            <a:ext cx="2377440" cy="274320"/>
          </a:xfrm>
          <a:prstGeom prst="rect">
            <a:avLst/>
          </a:prstGeom>
          <a:noFill/>
          <a:ln/>
        </p:spPr>
        <p:txBody>
          <a:bodyPr wrap="square" lIns="0" tIns="0" rIns="0" bIns="0" rtlCol="0" anchor="ctr"/>
          <a:lstStyle/>
          <a:p>
            <a:pPr indent="0" marL="0">
              <a:buNone/>
            </a:pPr>
            <a:r>
              <a:rPr lang="en-US" sz="1150" dirty="0">
                <a:solidFill>
                  <a:srgbClr val="4A5468"/>
                </a:solidFill>
                <a:latin typeface="Calibri" pitchFamily="34" charset="0"/>
                <a:ea typeface="Calibri" pitchFamily="34" charset="-122"/>
                <a:cs typeface="Calibri" pitchFamily="34" charset="-120"/>
              </a:rPr>
              <a:t>Groupe d'âge</a:t>
            </a:r>
            <a:endParaRPr lang="en-US" sz="1150" dirty="0"/>
          </a:p>
        </p:txBody>
      </p:sp>
      <p:sp>
        <p:nvSpPr>
          <p:cNvPr id="40" name="Text 37"/>
          <p:cNvSpPr/>
          <p:nvPr/>
        </p:nvSpPr>
        <p:spPr>
          <a:xfrm>
            <a:off x="10241280" y="5340096"/>
            <a:ext cx="1051560" cy="274320"/>
          </a:xfrm>
          <a:prstGeom prst="rect">
            <a:avLst/>
          </a:prstGeom>
          <a:noFill/>
          <a:ln/>
        </p:spPr>
        <p:txBody>
          <a:bodyPr wrap="square" lIns="0" tIns="0" rIns="0" bIns="0" rtlCol="0" anchor="ctr"/>
          <a:lstStyle/>
          <a:p>
            <a:pPr algn="r" indent="0" marL="0">
              <a:buNone/>
            </a:pPr>
            <a:r>
              <a:rPr lang="en-US" sz="1150" b="1" dirty="0">
                <a:solidFill>
                  <a:srgbClr val="1D2433"/>
                </a:solidFill>
                <a:latin typeface="Calibri" pitchFamily="34" charset="0"/>
                <a:ea typeface="Calibri" pitchFamily="34" charset="-122"/>
                <a:cs typeface="Calibri" pitchFamily="34" charset="-120"/>
              </a:rPr>
              <a:t>p = 0,252</a:t>
            </a:r>
            <a:endParaRPr lang="en-US" sz="1150" dirty="0"/>
          </a:p>
        </p:txBody>
      </p:sp>
      <p:sp>
        <p:nvSpPr>
          <p:cNvPr id="41" name="Text 38"/>
          <p:cNvSpPr/>
          <p:nvPr/>
        </p:nvSpPr>
        <p:spPr>
          <a:xfrm>
            <a:off x="7772400" y="5742432"/>
            <a:ext cx="3520440" cy="36576"/>
          </a:xfrm>
          <a:prstGeom prst="rect">
            <a:avLst/>
          </a:prstGeom>
          <a:noFill/>
          <a:ln/>
        </p:spPr>
        <p:txBody>
          <a:bodyPr wrap="square" lIns="0" tIns="0" rIns="0" bIns="0" rtlCol="0" anchor="ctr"/>
          <a:lstStyle/>
          <a:p>
            <a:pPr indent="0" marL="0">
              <a:buNone/>
            </a:pPr>
            <a:r>
              <a:rPr lang="en-US" sz="100" dirty="0">
                <a:solidFill>
                  <a:srgbClr val="FFFFFF"/>
                </a:solidFill>
                <a:latin typeface="Calibri" pitchFamily="34" charset="0"/>
                <a:ea typeface="Calibri" pitchFamily="34" charset="-122"/>
                <a:cs typeface="Calibri" pitchFamily="34" charset="-120"/>
              </a:rPr>
              <a:t>Les sous-groupes se distinguent par la significativité de leur effet, non par une ampleur supérieure.</a:t>
            </a:r>
            <a:endParaRPr lang="en-US" sz="100" dirty="0"/>
          </a:p>
        </p:txBody>
      </p:sp>
      <p:sp>
        <p:nvSpPr>
          <p:cNvPr id="42" name="Text 39"/>
          <p:cNvSpPr/>
          <p:nvPr/>
        </p:nvSpPr>
        <p:spPr>
          <a:xfrm>
            <a:off x="548640" y="6455664"/>
            <a:ext cx="8229600" cy="237744"/>
          </a:xfrm>
          <a:prstGeom prst="rect">
            <a:avLst/>
          </a:prstGeom>
          <a:noFill/>
          <a:ln/>
        </p:spPr>
        <p:txBody>
          <a:bodyPr wrap="square" lIns="0" tIns="0" rIns="0" bIns="0" rtlCol="0" anchor="ctr"/>
          <a:lstStyle/>
          <a:p>
            <a:pPr indent="0" marL="0">
              <a:buNone/>
            </a:pPr>
            <a:r>
              <a:rPr lang="en-US" sz="900" dirty="0">
                <a:solidFill>
                  <a:srgbClr val="8A93A5"/>
                </a:solidFill>
                <a:latin typeface="Calibri" pitchFamily="34" charset="0"/>
                <a:ea typeface="Calibri" pitchFamily="34" charset="-122"/>
                <a:cs typeface="Calibri" pitchFamily="34" charset="-120"/>
              </a:rPr>
              <a:t>* significatif à 10 %. Appariement au plus proche voisin. Source : calcul de l'auteur, EHCVM I (2018-2019) et EHCVM II (2021-2022).</a:t>
            </a:r>
            <a:endParaRPr lang="en-US" sz="900" dirty="0"/>
          </a:p>
        </p:txBody>
      </p:sp>
      <p:sp>
        <p:nvSpPr>
          <p:cNvPr id="43" name="Text 40"/>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17</a:t>
            </a:r>
            <a:endParaRPr lang="en-US" sz="950" dirty="0"/>
          </a:p>
        </p:txBody>
      </p:sp>
      <p:pic>
        <p:nvPicPr>
          <p:cNvPr id="44" name="Image 1" descr="logos/logo_ensae_new.png">    </p:cNvPr>
          <p:cNvPicPr>
            <a:picLocks noChangeAspect="1"/>
          </p:cNvPicPr>
          <p:nvPr/>
        </p:nvPicPr>
        <p:blipFill>
          <a:blip r:embed="rId2"/>
          <a:stretch>
            <a:fillRect/>
          </a:stretch>
        </p:blipFill>
        <p:spPr>
          <a:xfrm>
            <a:off x="11384280" y="6355080"/>
            <a:ext cx="384048" cy="38404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Un gradient selon le montant reçu</a:t>
            </a:r>
            <a:endParaRPr lang="en-US" sz="2700" dirty="0"/>
          </a:p>
        </p:txBody>
      </p:sp>
      <p:sp>
        <p:nvSpPr>
          <p:cNvPr id="3" name="Text 1"/>
          <p:cNvSpPr/>
          <p:nvPr/>
        </p:nvSpPr>
        <p:spPr>
          <a:xfrm>
            <a:off x="548640" y="896112"/>
            <a:ext cx="11064240" cy="475488"/>
          </a:xfrm>
          <a:prstGeom prst="rect">
            <a:avLst/>
          </a:prstGeom>
          <a:noFill/>
          <a:ln/>
        </p:spPr>
        <p:txBody>
          <a:bodyPr wrap="square" lIns="0" tIns="0" rIns="0" bIns="0" rtlCol="0" anchor="t"/>
          <a:lstStyle/>
          <a:p>
            <a:pPr indent="0" marL="0">
              <a:lnSpc>
                <a:spcPts val="1700"/>
              </a:lnSpc>
              <a:buNone/>
            </a:pPr>
            <a:r>
              <a:rPr lang="en-US" sz="1300" dirty="0">
                <a:solidFill>
                  <a:srgbClr val="4A5468"/>
                </a:solidFill>
                <a:latin typeface="Calibri" pitchFamily="34" charset="0"/>
                <a:ea typeface="Calibri" pitchFamily="34" charset="-122"/>
                <a:cs typeface="Calibri" pitchFamily="34" charset="-120"/>
              </a:rPr>
              <a:t>L'écart défavorable se concentre sur les plus faibles montants et ne se retrouve pas pour les transferts les plus élevés.</a:t>
            </a:r>
            <a:endParaRPr lang="en-US" sz="1300" dirty="0"/>
          </a:p>
        </p:txBody>
      </p:sp>
      <p:sp>
        <p:nvSpPr>
          <p:cNvPr id="4" name="Shape 2"/>
          <p:cNvSpPr/>
          <p:nvPr/>
        </p:nvSpPr>
        <p:spPr>
          <a:xfrm>
            <a:off x="658368" y="1783080"/>
            <a:ext cx="6949440" cy="4023360"/>
          </a:xfrm>
          <a:prstGeom prst="roundRect">
            <a:avLst>
              <a:gd name="adj" fmla="val 1364"/>
            </a:avLst>
          </a:prstGeom>
          <a:solidFill>
            <a:srgbClr val="F4F5FA"/>
          </a:solidFill>
          <a:ln/>
          <a:effectLst>
            <a:outerShdw sx="100000" sy="100000" kx="0" ky="0" algn="bl" rotWithShape="0" blurRad="127000" dist="25400" dir="5400000">
              <a:srgbClr val="1E2B4A">
                <a:alpha val="10000"/>
              </a:srgbClr>
            </a:outerShdw>
          </a:effectLst>
        </p:spPr>
      </p:sp>
      <p:sp>
        <p:nvSpPr>
          <p:cNvPr id="5" name="Text 3"/>
          <p:cNvSpPr/>
          <p:nvPr/>
        </p:nvSpPr>
        <p:spPr>
          <a:xfrm>
            <a:off x="960120" y="2011680"/>
            <a:ext cx="6400800" cy="310896"/>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Effet estimé par quintile de montant annuel, en points</a:t>
            </a:r>
            <a:endParaRPr lang="en-US" sz="1400" dirty="0"/>
          </a:p>
        </p:txBody>
      </p:sp>
      <p:sp>
        <p:nvSpPr>
          <p:cNvPr id="6" name="Text 4"/>
          <p:cNvSpPr/>
          <p:nvPr/>
        </p:nvSpPr>
        <p:spPr>
          <a:xfrm>
            <a:off x="960120" y="2542032"/>
            <a:ext cx="384048" cy="384048"/>
          </a:xfrm>
          <a:prstGeom prst="rect">
            <a:avLst/>
          </a:prstGeom>
          <a:noFill/>
          <a:ln/>
        </p:spPr>
        <p:txBody>
          <a:bodyPr wrap="square" lIns="0" tIns="0" rIns="0" bIns="0" rtlCol="0" anchor="ctr"/>
          <a:lstStyle/>
          <a:p>
            <a:pPr indent="0" marL="0">
              <a:buNone/>
            </a:pPr>
            <a:r>
              <a:rPr lang="en-US" sz="1300" b="1" dirty="0">
                <a:solidFill>
                  <a:srgbClr val="1D2433"/>
                </a:solidFill>
                <a:latin typeface="Calibri" pitchFamily="34" charset="0"/>
                <a:ea typeface="Calibri" pitchFamily="34" charset="-122"/>
                <a:cs typeface="Calibri" pitchFamily="34" charset="-120"/>
              </a:rPr>
              <a:t>Q1</a:t>
            </a:r>
            <a:endParaRPr lang="en-US" sz="1300" dirty="0"/>
          </a:p>
        </p:txBody>
      </p:sp>
      <p:sp>
        <p:nvSpPr>
          <p:cNvPr id="7" name="Text 5"/>
          <p:cNvSpPr/>
          <p:nvPr/>
        </p:nvSpPr>
        <p:spPr>
          <a:xfrm>
            <a:off x="1371600" y="2542032"/>
            <a:ext cx="1481328" cy="384048"/>
          </a:xfrm>
          <a:prstGeom prst="rect">
            <a:avLst/>
          </a:prstGeom>
          <a:noFill/>
          <a:ln/>
        </p:spPr>
        <p:txBody>
          <a:bodyPr wrap="square" lIns="0" tIns="0" rIns="0" bIns="0" rtlCol="0" anchor="ctr"/>
          <a:lstStyle/>
          <a:p>
            <a:pPr indent="0" marL="0">
              <a:buNone/>
            </a:pPr>
            <a:r>
              <a:rPr lang="en-US" sz="1050" dirty="0">
                <a:solidFill>
                  <a:srgbClr val="8A93A5"/>
                </a:solidFill>
                <a:latin typeface="Calibri" pitchFamily="34" charset="0"/>
                <a:ea typeface="Calibri" pitchFamily="34" charset="-122"/>
                <a:cs typeface="Calibri" pitchFamily="34" charset="-120"/>
              </a:rPr>
              <a:t>jusqu'à 100 000 FCFA</a:t>
            </a:r>
            <a:endParaRPr lang="en-US" sz="1050" dirty="0"/>
          </a:p>
        </p:txBody>
      </p:sp>
      <p:sp>
        <p:nvSpPr>
          <p:cNvPr id="8" name="Shape 6"/>
          <p:cNvSpPr/>
          <p:nvPr/>
        </p:nvSpPr>
        <p:spPr>
          <a:xfrm>
            <a:off x="3017520" y="2624328"/>
            <a:ext cx="3566160" cy="219456"/>
          </a:xfrm>
          <a:prstGeom prst="roundRect">
            <a:avLst>
              <a:gd name="adj" fmla="val 12500"/>
            </a:avLst>
          </a:prstGeom>
          <a:solidFill>
            <a:srgbClr val="D96F2B"/>
          </a:solidFill>
          <a:ln/>
        </p:spPr>
      </p:sp>
      <p:sp>
        <p:nvSpPr>
          <p:cNvPr id="9" name="Text 7"/>
          <p:cNvSpPr/>
          <p:nvPr/>
        </p:nvSpPr>
        <p:spPr>
          <a:xfrm>
            <a:off x="6656832" y="2542032"/>
            <a:ext cx="640080" cy="384048"/>
          </a:xfrm>
          <a:prstGeom prst="rect">
            <a:avLst/>
          </a:prstGeom>
          <a:noFill/>
          <a:ln/>
        </p:spPr>
        <p:txBody>
          <a:bodyPr wrap="square" lIns="0" tIns="0" rIns="0" bIns="0" rtlCol="0" anchor="ctr"/>
          <a:lstStyle/>
          <a:p>
            <a:pPr algn="l" indent="0" marL="0">
              <a:buNone/>
            </a:pPr>
            <a:r>
              <a:rPr lang="en-US" sz="1200" b="1" dirty="0">
                <a:solidFill>
                  <a:srgbClr val="1D2433"/>
                </a:solidFill>
                <a:latin typeface="Calibri" pitchFamily="34" charset="0"/>
                <a:ea typeface="Calibri" pitchFamily="34" charset="-122"/>
                <a:cs typeface="Calibri" pitchFamily="34" charset="-120"/>
              </a:rPr>
              <a:t>+12,9</a:t>
            </a:r>
            <a:endParaRPr lang="en-US" sz="1200" dirty="0"/>
          </a:p>
        </p:txBody>
      </p:sp>
      <p:sp>
        <p:nvSpPr>
          <p:cNvPr id="10" name="Text 8"/>
          <p:cNvSpPr/>
          <p:nvPr/>
        </p:nvSpPr>
        <p:spPr>
          <a:xfrm>
            <a:off x="7315200" y="2542032"/>
            <a:ext cx="274320" cy="384048"/>
          </a:xfrm>
          <a:prstGeom prst="rect">
            <a:avLst/>
          </a:prstGeom>
          <a:noFill/>
          <a:ln/>
        </p:spPr>
        <p:txBody>
          <a:bodyPr wrap="square" lIns="0" tIns="0" rIns="0" bIns="0" rtlCol="0" anchor="ctr"/>
          <a:lstStyle/>
          <a:p>
            <a:pPr indent="0" marL="0">
              <a:buNone/>
            </a:pPr>
            <a:r>
              <a:rPr lang="en-US" sz="1300" b="1" dirty="0">
                <a:solidFill>
                  <a:srgbClr val="D96F2B"/>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960120" y="3145536"/>
            <a:ext cx="384048" cy="384048"/>
          </a:xfrm>
          <a:prstGeom prst="rect">
            <a:avLst/>
          </a:prstGeom>
          <a:noFill/>
          <a:ln/>
        </p:spPr>
        <p:txBody>
          <a:bodyPr wrap="square" lIns="0" tIns="0" rIns="0" bIns="0" rtlCol="0" anchor="ctr"/>
          <a:lstStyle/>
          <a:p>
            <a:pPr indent="0" marL="0">
              <a:buNone/>
            </a:pPr>
            <a:r>
              <a:rPr lang="en-US" sz="1300" b="1" dirty="0">
                <a:solidFill>
                  <a:srgbClr val="1D2433"/>
                </a:solidFill>
                <a:latin typeface="Calibri" pitchFamily="34" charset="0"/>
                <a:ea typeface="Calibri" pitchFamily="34" charset="-122"/>
                <a:cs typeface="Calibri" pitchFamily="34" charset="-120"/>
              </a:rPr>
              <a:t>Q2</a:t>
            </a:r>
            <a:endParaRPr lang="en-US" sz="1300" dirty="0"/>
          </a:p>
        </p:txBody>
      </p:sp>
      <p:sp>
        <p:nvSpPr>
          <p:cNvPr id="12" name="Text 10"/>
          <p:cNvSpPr/>
          <p:nvPr/>
        </p:nvSpPr>
        <p:spPr>
          <a:xfrm>
            <a:off x="1371600" y="3145536"/>
            <a:ext cx="1481328" cy="384048"/>
          </a:xfrm>
          <a:prstGeom prst="rect">
            <a:avLst/>
          </a:prstGeom>
          <a:noFill/>
          <a:ln/>
        </p:spPr>
        <p:txBody>
          <a:bodyPr wrap="square" lIns="0" tIns="0" rIns="0" bIns="0" rtlCol="0" anchor="ctr"/>
          <a:lstStyle/>
          <a:p>
            <a:pPr indent="0" marL="0">
              <a:buNone/>
            </a:pPr>
            <a:r>
              <a:rPr lang="en-US" sz="1050" dirty="0">
                <a:solidFill>
                  <a:srgbClr val="8A93A5"/>
                </a:solidFill>
                <a:latin typeface="Calibri" pitchFamily="34" charset="0"/>
                <a:ea typeface="Calibri" pitchFamily="34" charset="-122"/>
                <a:cs typeface="Calibri" pitchFamily="34" charset="-120"/>
              </a:rPr>
              <a:t>110 000 à 360 000</a:t>
            </a:r>
            <a:endParaRPr lang="en-US" sz="1050" dirty="0"/>
          </a:p>
        </p:txBody>
      </p:sp>
      <p:sp>
        <p:nvSpPr>
          <p:cNvPr id="13" name="Shape 11"/>
          <p:cNvSpPr/>
          <p:nvPr/>
        </p:nvSpPr>
        <p:spPr>
          <a:xfrm>
            <a:off x="3017520" y="3227832"/>
            <a:ext cx="2736820" cy="219456"/>
          </a:xfrm>
          <a:prstGeom prst="roundRect">
            <a:avLst>
              <a:gd name="adj" fmla="val 12500"/>
            </a:avLst>
          </a:prstGeom>
          <a:solidFill>
            <a:srgbClr val="D96F2B"/>
          </a:solidFill>
          <a:ln/>
        </p:spPr>
      </p:sp>
      <p:sp>
        <p:nvSpPr>
          <p:cNvPr id="14" name="Text 12"/>
          <p:cNvSpPr/>
          <p:nvPr/>
        </p:nvSpPr>
        <p:spPr>
          <a:xfrm>
            <a:off x="5827492" y="3145536"/>
            <a:ext cx="640080" cy="384048"/>
          </a:xfrm>
          <a:prstGeom prst="rect">
            <a:avLst/>
          </a:prstGeom>
          <a:noFill/>
          <a:ln/>
        </p:spPr>
        <p:txBody>
          <a:bodyPr wrap="square" lIns="0" tIns="0" rIns="0" bIns="0" rtlCol="0" anchor="ctr"/>
          <a:lstStyle/>
          <a:p>
            <a:pPr algn="l" indent="0" marL="0">
              <a:buNone/>
            </a:pPr>
            <a:r>
              <a:rPr lang="en-US" sz="1200" b="1" dirty="0">
                <a:solidFill>
                  <a:srgbClr val="1D2433"/>
                </a:solidFill>
                <a:latin typeface="Calibri" pitchFamily="34" charset="0"/>
                <a:ea typeface="Calibri" pitchFamily="34" charset="-122"/>
                <a:cs typeface="Calibri" pitchFamily="34" charset="-120"/>
              </a:rPr>
              <a:t>+9,9</a:t>
            </a:r>
            <a:endParaRPr lang="en-US" sz="1200" dirty="0"/>
          </a:p>
        </p:txBody>
      </p:sp>
      <p:sp>
        <p:nvSpPr>
          <p:cNvPr id="15" name="Text 13"/>
          <p:cNvSpPr/>
          <p:nvPr/>
        </p:nvSpPr>
        <p:spPr>
          <a:xfrm>
            <a:off x="6485860" y="3145536"/>
            <a:ext cx="274320" cy="384048"/>
          </a:xfrm>
          <a:prstGeom prst="rect">
            <a:avLst/>
          </a:prstGeom>
          <a:noFill/>
          <a:ln/>
        </p:spPr>
        <p:txBody>
          <a:bodyPr wrap="square" lIns="0" tIns="0" rIns="0" bIns="0" rtlCol="0" anchor="ctr"/>
          <a:lstStyle/>
          <a:p>
            <a:pPr indent="0" marL="0">
              <a:buNone/>
            </a:pPr>
            <a:r>
              <a:rPr lang="en-US" sz="1300" b="1" dirty="0">
                <a:solidFill>
                  <a:srgbClr val="D96F2B"/>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960120" y="3749040"/>
            <a:ext cx="384048" cy="384048"/>
          </a:xfrm>
          <a:prstGeom prst="rect">
            <a:avLst/>
          </a:prstGeom>
          <a:noFill/>
          <a:ln/>
        </p:spPr>
        <p:txBody>
          <a:bodyPr wrap="square" lIns="0" tIns="0" rIns="0" bIns="0" rtlCol="0" anchor="ctr"/>
          <a:lstStyle/>
          <a:p>
            <a:pPr indent="0" marL="0">
              <a:buNone/>
            </a:pPr>
            <a:r>
              <a:rPr lang="en-US" sz="1300" b="1" dirty="0">
                <a:solidFill>
                  <a:srgbClr val="1D2433"/>
                </a:solidFill>
                <a:latin typeface="Calibri" pitchFamily="34" charset="0"/>
                <a:ea typeface="Calibri" pitchFamily="34" charset="-122"/>
                <a:cs typeface="Calibri" pitchFamily="34" charset="-120"/>
              </a:rPr>
              <a:t>Q3</a:t>
            </a:r>
            <a:endParaRPr lang="en-US" sz="1300" dirty="0"/>
          </a:p>
        </p:txBody>
      </p:sp>
      <p:sp>
        <p:nvSpPr>
          <p:cNvPr id="17" name="Text 15"/>
          <p:cNvSpPr/>
          <p:nvPr/>
        </p:nvSpPr>
        <p:spPr>
          <a:xfrm>
            <a:off x="1371600" y="3749040"/>
            <a:ext cx="1481328" cy="384048"/>
          </a:xfrm>
          <a:prstGeom prst="rect">
            <a:avLst/>
          </a:prstGeom>
          <a:noFill/>
          <a:ln/>
        </p:spPr>
        <p:txBody>
          <a:bodyPr wrap="square" lIns="0" tIns="0" rIns="0" bIns="0" rtlCol="0" anchor="ctr"/>
          <a:lstStyle/>
          <a:p>
            <a:pPr indent="0" marL="0">
              <a:buNone/>
            </a:pPr>
            <a:r>
              <a:rPr lang="en-US" sz="1050" dirty="0">
                <a:solidFill>
                  <a:srgbClr val="8A93A5"/>
                </a:solidFill>
                <a:latin typeface="Calibri" pitchFamily="34" charset="0"/>
                <a:ea typeface="Calibri" pitchFamily="34" charset="-122"/>
                <a:cs typeface="Calibri" pitchFamily="34" charset="-120"/>
              </a:rPr>
              <a:t>380 000 à 900 000</a:t>
            </a:r>
            <a:endParaRPr lang="en-US" sz="1050" dirty="0"/>
          </a:p>
        </p:txBody>
      </p:sp>
      <p:sp>
        <p:nvSpPr>
          <p:cNvPr id="18" name="Shape 16"/>
          <p:cNvSpPr/>
          <p:nvPr/>
        </p:nvSpPr>
        <p:spPr>
          <a:xfrm>
            <a:off x="3017520" y="3831336"/>
            <a:ext cx="552893" cy="219456"/>
          </a:xfrm>
          <a:prstGeom prst="roundRect">
            <a:avLst>
              <a:gd name="adj" fmla="val 12500"/>
            </a:avLst>
          </a:prstGeom>
          <a:solidFill>
            <a:srgbClr val="E3E7EE"/>
          </a:solidFill>
          <a:ln/>
        </p:spPr>
      </p:sp>
      <p:sp>
        <p:nvSpPr>
          <p:cNvPr id="19" name="Text 17"/>
          <p:cNvSpPr/>
          <p:nvPr/>
        </p:nvSpPr>
        <p:spPr>
          <a:xfrm>
            <a:off x="3643565" y="3749040"/>
            <a:ext cx="640080" cy="384048"/>
          </a:xfrm>
          <a:prstGeom prst="rect">
            <a:avLst/>
          </a:prstGeom>
          <a:noFill/>
          <a:ln/>
        </p:spPr>
        <p:txBody>
          <a:bodyPr wrap="square" lIns="0" tIns="0" rIns="0" bIns="0" rtlCol="0" anchor="ctr"/>
          <a:lstStyle/>
          <a:p>
            <a:pPr algn="l" indent="0" marL="0">
              <a:buNone/>
            </a:pPr>
            <a:r>
              <a:rPr lang="en-US" sz="1200" b="1" dirty="0">
                <a:solidFill>
                  <a:srgbClr val="1D2433"/>
                </a:solidFill>
                <a:latin typeface="Calibri" pitchFamily="34" charset="0"/>
                <a:ea typeface="Calibri" pitchFamily="34" charset="-122"/>
                <a:cs typeface="Calibri" pitchFamily="34" charset="-120"/>
              </a:rPr>
              <a:t>+2,0</a:t>
            </a:r>
            <a:endParaRPr lang="en-US" sz="1200" dirty="0"/>
          </a:p>
        </p:txBody>
      </p:sp>
      <p:sp>
        <p:nvSpPr>
          <p:cNvPr id="20" name="Text 18"/>
          <p:cNvSpPr/>
          <p:nvPr/>
        </p:nvSpPr>
        <p:spPr>
          <a:xfrm>
            <a:off x="960120" y="4352544"/>
            <a:ext cx="384048" cy="384048"/>
          </a:xfrm>
          <a:prstGeom prst="rect">
            <a:avLst/>
          </a:prstGeom>
          <a:noFill/>
          <a:ln/>
        </p:spPr>
        <p:txBody>
          <a:bodyPr wrap="square" lIns="0" tIns="0" rIns="0" bIns="0" rtlCol="0" anchor="ctr"/>
          <a:lstStyle/>
          <a:p>
            <a:pPr indent="0" marL="0">
              <a:buNone/>
            </a:pPr>
            <a:r>
              <a:rPr lang="en-US" sz="1300" b="1" dirty="0">
                <a:solidFill>
                  <a:srgbClr val="1D2433"/>
                </a:solidFill>
                <a:latin typeface="Calibri" pitchFamily="34" charset="0"/>
                <a:ea typeface="Calibri" pitchFamily="34" charset="-122"/>
                <a:cs typeface="Calibri" pitchFamily="34" charset="-120"/>
              </a:rPr>
              <a:t>Q4</a:t>
            </a:r>
            <a:endParaRPr lang="en-US" sz="1300" dirty="0"/>
          </a:p>
        </p:txBody>
      </p:sp>
      <p:sp>
        <p:nvSpPr>
          <p:cNvPr id="21" name="Text 19"/>
          <p:cNvSpPr/>
          <p:nvPr/>
        </p:nvSpPr>
        <p:spPr>
          <a:xfrm>
            <a:off x="1371600" y="4352544"/>
            <a:ext cx="1481328" cy="384048"/>
          </a:xfrm>
          <a:prstGeom prst="rect">
            <a:avLst/>
          </a:prstGeom>
          <a:noFill/>
          <a:ln/>
        </p:spPr>
        <p:txBody>
          <a:bodyPr wrap="square" lIns="0" tIns="0" rIns="0" bIns="0" rtlCol="0" anchor="ctr"/>
          <a:lstStyle/>
          <a:p>
            <a:pPr indent="0" marL="0">
              <a:buNone/>
            </a:pPr>
            <a:r>
              <a:rPr lang="en-US" sz="1050" dirty="0">
                <a:solidFill>
                  <a:srgbClr val="8A93A5"/>
                </a:solidFill>
                <a:latin typeface="Calibri" pitchFamily="34" charset="0"/>
                <a:ea typeface="Calibri" pitchFamily="34" charset="-122"/>
                <a:cs typeface="Calibri" pitchFamily="34" charset="-120"/>
              </a:rPr>
              <a:t>920 000 à 1 800 000</a:t>
            </a:r>
            <a:endParaRPr lang="en-US" sz="1050" dirty="0"/>
          </a:p>
        </p:txBody>
      </p:sp>
      <p:sp>
        <p:nvSpPr>
          <p:cNvPr id="22" name="Shape 20"/>
          <p:cNvSpPr/>
          <p:nvPr/>
        </p:nvSpPr>
        <p:spPr>
          <a:xfrm>
            <a:off x="3017520" y="4434840"/>
            <a:ext cx="2322151" cy="219456"/>
          </a:xfrm>
          <a:prstGeom prst="roundRect">
            <a:avLst>
              <a:gd name="adj" fmla="val 12500"/>
            </a:avLst>
          </a:prstGeom>
          <a:solidFill>
            <a:srgbClr val="E3E7EE"/>
          </a:solidFill>
          <a:ln/>
        </p:spPr>
      </p:sp>
      <p:sp>
        <p:nvSpPr>
          <p:cNvPr id="23" name="Text 21"/>
          <p:cNvSpPr/>
          <p:nvPr/>
        </p:nvSpPr>
        <p:spPr>
          <a:xfrm>
            <a:off x="5412823" y="4352544"/>
            <a:ext cx="640080" cy="384048"/>
          </a:xfrm>
          <a:prstGeom prst="rect">
            <a:avLst/>
          </a:prstGeom>
          <a:noFill/>
          <a:ln/>
        </p:spPr>
        <p:txBody>
          <a:bodyPr wrap="square" lIns="0" tIns="0" rIns="0" bIns="0" rtlCol="0" anchor="ctr"/>
          <a:lstStyle/>
          <a:p>
            <a:pPr algn="l" indent="0" marL="0">
              <a:buNone/>
            </a:pPr>
            <a:r>
              <a:rPr lang="en-US" sz="1200" b="1" dirty="0">
                <a:solidFill>
                  <a:srgbClr val="1D2433"/>
                </a:solidFill>
                <a:latin typeface="Calibri" pitchFamily="34" charset="0"/>
                <a:ea typeface="Calibri" pitchFamily="34" charset="-122"/>
                <a:cs typeface="Calibri" pitchFamily="34" charset="-120"/>
              </a:rPr>
              <a:t>+8,4</a:t>
            </a:r>
            <a:endParaRPr lang="en-US" sz="1200" dirty="0"/>
          </a:p>
        </p:txBody>
      </p:sp>
      <p:sp>
        <p:nvSpPr>
          <p:cNvPr id="24" name="Text 22"/>
          <p:cNvSpPr/>
          <p:nvPr/>
        </p:nvSpPr>
        <p:spPr>
          <a:xfrm>
            <a:off x="960120" y="4956048"/>
            <a:ext cx="384048" cy="384048"/>
          </a:xfrm>
          <a:prstGeom prst="rect">
            <a:avLst/>
          </a:prstGeom>
          <a:noFill/>
          <a:ln/>
        </p:spPr>
        <p:txBody>
          <a:bodyPr wrap="square" lIns="0" tIns="0" rIns="0" bIns="0" rtlCol="0" anchor="ctr"/>
          <a:lstStyle/>
          <a:p>
            <a:pPr indent="0" marL="0">
              <a:buNone/>
            </a:pPr>
            <a:r>
              <a:rPr lang="en-US" sz="1300" b="1" dirty="0">
                <a:solidFill>
                  <a:srgbClr val="1D2433"/>
                </a:solidFill>
                <a:latin typeface="Calibri" pitchFamily="34" charset="0"/>
                <a:ea typeface="Calibri" pitchFamily="34" charset="-122"/>
                <a:cs typeface="Calibri" pitchFamily="34" charset="-120"/>
              </a:rPr>
              <a:t>Q5</a:t>
            </a:r>
            <a:endParaRPr lang="en-US" sz="1300" dirty="0"/>
          </a:p>
        </p:txBody>
      </p:sp>
      <p:sp>
        <p:nvSpPr>
          <p:cNvPr id="25" name="Text 23"/>
          <p:cNvSpPr/>
          <p:nvPr/>
        </p:nvSpPr>
        <p:spPr>
          <a:xfrm>
            <a:off x="1371600" y="4956048"/>
            <a:ext cx="1481328" cy="384048"/>
          </a:xfrm>
          <a:prstGeom prst="rect">
            <a:avLst/>
          </a:prstGeom>
          <a:noFill/>
          <a:ln/>
        </p:spPr>
        <p:txBody>
          <a:bodyPr wrap="square" lIns="0" tIns="0" rIns="0" bIns="0" rtlCol="0" anchor="ctr"/>
          <a:lstStyle/>
          <a:p>
            <a:pPr indent="0" marL="0">
              <a:buNone/>
            </a:pPr>
            <a:r>
              <a:rPr lang="en-US" sz="1050" dirty="0">
                <a:solidFill>
                  <a:srgbClr val="8A93A5"/>
                </a:solidFill>
                <a:latin typeface="Calibri" pitchFamily="34" charset="0"/>
                <a:ea typeface="Calibri" pitchFamily="34" charset="-122"/>
                <a:cs typeface="Calibri" pitchFamily="34" charset="-120"/>
              </a:rPr>
              <a:t>au-delà de 1 824 000</a:t>
            </a:r>
            <a:endParaRPr lang="en-US" sz="1050" dirty="0"/>
          </a:p>
        </p:txBody>
      </p:sp>
      <p:sp>
        <p:nvSpPr>
          <p:cNvPr id="26" name="Shape 24"/>
          <p:cNvSpPr/>
          <p:nvPr/>
        </p:nvSpPr>
        <p:spPr>
          <a:xfrm>
            <a:off x="2796363" y="5038344"/>
            <a:ext cx="221157" cy="219456"/>
          </a:xfrm>
          <a:prstGeom prst="roundRect">
            <a:avLst>
              <a:gd name="adj" fmla="val 12500"/>
            </a:avLst>
          </a:prstGeom>
          <a:solidFill>
            <a:srgbClr val="E3E7EE"/>
          </a:solidFill>
          <a:ln/>
        </p:spPr>
      </p:sp>
      <p:sp>
        <p:nvSpPr>
          <p:cNvPr id="27" name="Text 25"/>
          <p:cNvSpPr/>
          <p:nvPr/>
        </p:nvSpPr>
        <p:spPr>
          <a:xfrm>
            <a:off x="3127248" y="4956048"/>
            <a:ext cx="640080" cy="384048"/>
          </a:xfrm>
          <a:prstGeom prst="rect">
            <a:avLst/>
          </a:prstGeom>
          <a:noFill/>
          <a:ln/>
        </p:spPr>
        <p:txBody>
          <a:bodyPr wrap="square" lIns="0" tIns="0" rIns="0" bIns="0" rtlCol="0" anchor="ctr"/>
          <a:lstStyle/>
          <a:p>
            <a:pPr algn="l" indent="0" marL="0">
              <a:buNone/>
            </a:pPr>
            <a:r>
              <a:rPr lang="en-US" sz="1200" b="1" dirty="0">
                <a:solidFill>
                  <a:srgbClr val="1D2433"/>
                </a:solidFill>
                <a:latin typeface="Calibri" pitchFamily="34" charset="0"/>
                <a:ea typeface="Calibri" pitchFamily="34" charset="-122"/>
                <a:cs typeface="Calibri" pitchFamily="34" charset="-120"/>
              </a:rPr>
              <a:t>−0,8</a:t>
            </a:r>
            <a:endParaRPr lang="en-US" sz="1200" dirty="0"/>
          </a:p>
        </p:txBody>
      </p:sp>
      <p:sp>
        <p:nvSpPr>
          <p:cNvPr id="28" name="Shape 26"/>
          <p:cNvSpPr/>
          <p:nvPr/>
        </p:nvSpPr>
        <p:spPr>
          <a:xfrm>
            <a:off x="3017520" y="2487168"/>
            <a:ext cx="13716" cy="3063240"/>
          </a:xfrm>
          <a:prstGeom prst="rect">
            <a:avLst/>
          </a:prstGeom>
          <a:solidFill>
            <a:srgbClr val="B9C0CC"/>
          </a:solidFill>
          <a:ln/>
        </p:spPr>
      </p:sp>
      <p:sp>
        <p:nvSpPr>
          <p:cNvPr id="29" name="Shape 27"/>
          <p:cNvSpPr/>
          <p:nvPr/>
        </p:nvSpPr>
        <p:spPr>
          <a:xfrm>
            <a:off x="7863840" y="1783080"/>
            <a:ext cx="3685032" cy="1874520"/>
          </a:xfrm>
          <a:prstGeom prst="roundRect">
            <a:avLst>
              <a:gd name="adj" fmla="val 2927"/>
            </a:avLst>
          </a:prstGeom>
          <a:solidFill>
            <a:srgbClr val="1E2B4A"/>
          </a:solidFill>
          <a:ln/>
          <a:effectLst>
            <a:outerShdw sx="100000" sy="100000" kx="0" ky="0" algn="bl" rotWithShape="0" blurRad="127000" dist="25400" dir="5400000">
              <a:srgbClr val="1E2B4A">
                <a:alpha val="10000"/>
              </a:srgbClr>
            </a:outerShdw>
          </a:effectLst>
        </p:spPr>
      </p:sp>
      <p:sp>
        <p:nvSpPr>
          <p:cNvPr id="30" name="Text 28"/>
          <p:cNvSpPr/>
          <p:nvPr/>
        </p:nvSpPr>
        <p:spPr>
          <a:xfrm>
            <a:off x="8092440" y="2011680"/>
            <a:ext cx="3246120" cy="54864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−0,025</a:t>
            </a:r>
            <a:endParaRPr lang="en-US" sz="3400" dirty="0"/>
          </a:p>
        </p:txBody>
      </p:sp>
      <p:sp>
        <p:nvSpPr>
          <p:cNvPr id="31" name="Text 29"/>
          <p:cNvSpPr/>
          <p:nvPr/>
        </p:nvSpPr>
        <p:spPr>
          <a:xfrm>
            <a:off x="8092440" y="2578608"/>
            <a:ext cx="3246120" cy="274320"/>
          </a:xfrm>
          <a:prstGeom prst="rect">
            <a:avLst/>
          </a:prstGeom>
          <a:noFill/>
          <a:ln/>
        </p:spPr>
        <p:txBody>
          <a:bodyPr wrap="square" lIns="0" tIns="0" rIns="0" bIns="0" rtlCol="0" anchor="ctr"/>
          <a:lstStyle/>
          <a:p>
            <a:pPr algn="ctr" indent="0" marL="0">
              <a:buNone/>
            </a:pPr>
            <a:r>
              <a:rPr lang="en-US" sz="1150" b="1" dirty="0">
                <a:solidFill>
                  <a:srgbClr val="D96F2B"/>
                </a:solidFill>
                <a:latin typeface="Calibri" pitchFamily="34" charset="0"/>
                <a:ea typeface="Calibri" pitchFamily="34" charset="-122"/>
                <a:cs typeface="Calibri" pitchFamily="34" charset="-120"/>
              </a:rPr>
              <a:t>pente dose-réponse, significative à 10 %</a:t>
            </a:r>
            <a:endParaRPr lang="en-US" sz="1150" dirty="0"/>
          </a:p>
        </p:txBody>
      </p:sp>
      <p:sp>
        <p:nvSpPr>
          <p:cNvPr id="32" name="Text 30"/>
          <p:cNvSpPr/>
          <p:nvPr/>
        </p:nvSpPr>
        <p:spPr>
          <a:xfrm>
            <a:off x="8092440" y="2926080"/>
            <a:ext cx="3246120" cy="566928"/>
          </a:xfrm>
          <a:prstGeom prst="rect">
            <a:avLst/>
          </a:prstGeom>
          <a:noFill/>
          <a:ln/>
        </p:spPr>
        <p:txBody>
          <a:bodyPr wrap="square" lIns="0" tIns="0" rIns="0" bIns="0" rtlCol="0" anchor="t"/>
          <a:lstStyle/>
          <a:p>
            <a:pPr algn="ctr" indent="0" marL="0">
              <a:lnSpc>
                <a:spcPts val="1450"/>
              </a:lnSpc>
              <a:buNone/>
            </a:pPr>
            <a:r>
              <a:rPr lang="en-US" sz="1100" dirty="0">
                <a:solidFill>
                  <a:srgbClr val="D5DEEC"/>
                </a:solidFill>
                <a:latin typeface="Calibri" pitchFamily="34" charset="0"/>
                <a:ea typeface="Calibri" pitchFamily="34" charset="-122"/>
                <a:cs typeface="Calibri" pitchFamily="34" charset="-120"/>
              </a:rPr>
              <a:t>Plus le montant reçu est élevé, plus l'écart de trajectoire tend à se réduire.</a:t>
            </a:r>
            <a:endParaRPr lang="en-US" sz="1100" dirty="0"/>
          </a:p>
        </p:txBody>
      </p:sp>
      <p:sp>
        <p:nvSpPr>
          <p:cNvPr id="33" name="Shape 31"/>
          <p:cNvSpPr/>
          <p:nvPr/>
        </p:nvSpPr>
        <p:spPr>
          <a:xfrm>
            <a:off x="7863840" y="3931920"/>
            <a:ext cx="3685032" cy="1874520"/>
          </a:xfrm>
          <a:prstGeom prst="roundRect">
            <a:avLst>
              <a:gd name="adj" fmla="val 2927"/>
            </a:avLst>
          </a:prstGeom>
          <a:solidFill>
            <a:srgbClr val="F4F5FA"/>
          </a:solidFill>
          <a:ln/>
          <a:effectLst>
            <a:outerShdw sx="100000" sy="100000" kx="0" ky="0" algn="bl" rotWithShape="0" blurRad="127000" dist="25400" dir="5400000">
              <a:srgbClr val="1E2B4A">
                <a:alpha val="10000"/>
              </a:srgbClr>
            </a:outerShdw>
          </a:effectLst>
        </p:spPr>
      </p:sp>
      <p:sp>
        <p:nvSpPr>
          <p:cNvPr id="34" name="Text 32"/>
          <p:cNvSpPr/>
          <p:nvPr/>
        </p:nvSpPr>
        <p:spPr>
          <a:xfrm>
            <a:off x="8138160" y="4160520"/>
            <a:ext cx="3154680" cy="310896"/>
          </a:xfrm>
          <a:prstGeom prst="rect">
            <a:avLst/>
          </a:prstGeom>
          <a:noFill/>
          <a:ln/>
        </p:spPr>
        <p:txBody>
          <a:bodyPr wrap="square" lIns="0" tIns="0" rIns="0" bIns="0" rtlCol="0" anchor="ctr"/>
          <a:lstStyle/>
          <a:p>
            <a:pPr indent="0" marL="0">
              <a:buNone/>
            </a:pPr>
            <a:r>
              <a:rPr lang="en-US" sz="1400" b="1" dirty="0">
                <a:solidFill>
                  <a:srgbClr val="1D2433"/>
                </a:solidFill>
                <a:latin typeface="Calibri" pitchFamily="34" charset="0"/>
                <a:ea typeface="Calibri" pitchFamily="34" charset="-122"/>
                <a:cs typeface="Calibri" pitchFamily="34" charset="-120"/>
              </a:rPr>
              <a:t>Comment le lire</a:t>
            </a:r>
            <a:endParaRPr lang="en-US" sz="1400" dirty="0"/>
          </a:p>
        </p:txBody>
      </p:sp>
      <p:sp>
        <p:nvSpPr>
          <p:cNvPr id="35" name="Text 33"/>
          <p:cNvSpPr/>
          <p:nvPr/>
        </p:nvSpPr>
        <p:spPr>
          <a:xfrm>
            <a:off x="8138160" y="4526280"/>
            <a:ext cx="3154680" cy="1188720"/>
          </a:xfrm>
          <a:prstGeom prst="rect">
            <a:avLst/>
          </a:prstGeom>
          <a:noFill/>
          <a:ln/>
        </p:spPr>
        <p:txBody>
          <a:bodyPr wrap="square" lIns="0" tIns="0" rIns="0" bIns="0" rtlCol="0" anchor="t"/>
          <a:lstStyle/>
          <a:p>
            <a:pPr indent="0" marL="0">
              <a:lnSpc>
                <a:spcPts val="1450"/>
              </a:lnSpc>
              <a:buNone/>
            </a:pPr>
            <a:r>
              <a:rPr lang="en-US" sz="1100" dirty="0">
                <a:solidFill>
                  <a:srgbClr val="4A5468"/>
                </a:solidFill>
                <a:latin typeface="Calibri" pitchFamily="34" charset="0"/>
                <a:ea typeface="Calibri" pitchFamily="34" charset="-122"/>
                <a:cs typeface="Calibri" pitchFamily="34" charset="-120"/>
              </a:rPr>
              <a:t>Le profil n'est pas strictement monotone, le quatrième quintile remontant sans être significatif. Le montant relevant du choix du migrant, le gradient se lit comme une association conditionnelle.</a:t>
            </a:r>
            <a:endParaRPr lang="en-US" sz="1100" dirty="0"/>
          </a:p>
        </p:txBody>
      </p:sp>
      <p:sp>
        <p:nvSpPr>
          <p:cNvPr id="36" name="Text 34"/>
          <p:cNvSpPr/>
          <p:nvPr/>
        </p:nvSpPr>
        <p:spPr>
          <a:xfrm>
            <a:off x="548640" y="6455664"/>
            <a:ext cx="8229600" cy="237744"/>
          </a:xfrm>
          <a:prstGeom prst="rect">
            <a:avLst/>
          </a:prstGeom>
          <a:noFill/>
          <a:ln/>
        </p:spPr>
        <p:txBody>
          <a:bodyPr wrap="square" lIns="0" tIns="0" rIns="0" bIns="0" rtlCol="0" anchor="ctr"/>
          <a:lstStyle/>
          <a:p>
            <a:pPr indent="0" marL="0">
              <a:buNone/>
            </a:pPr>
            <a:r>
              <a:rPr lang="en-US" sz="900" dirty="0">
                <a:solidFill>
                  <a:srgbClr val="8A93A5"/>
                </a:solidFill>
                <a:latin typeface="Calibri" pitchFamily="34" charset="0"/>
                <a:ea typeface="Calibri" pitchFamily="34" charset="-122"/>
                <a:cs typeface="Calibri" pitchFamily="34" charset="-120"/>
              </a:rPr>
              <a:t>** significatif à 5 %. Source : calcul de l'auteur, EHCVM I (2018-2019) et EHCVM II (2021-2022).</a:t>
            </a:r>
            <a:endParaRPr lang="en-US" sz="900" dirty="0"/>
          </a:p>
        </p:txBody>
      </p:sp>
      <p:sp>
        <p:nvSpPr>
          <p:cNvPr id="37" name="Text 35"/>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18</a:t>
            </a:r>
            <a:endParaRPr lang="en-US" sz="950" dirty="0"/>
          </a:p>
        </p:txBody>
      </p:sp>
      <p:pic>
        <p:nvPicPr>
          <p:cNvPr id="38" name="Image 0" descr="logos/logo_ensae_new.png">    </p:cNvPr>
          <p:cNvPicPr>
            <a:picLocks noChangeAspect="1"/>
          </p:cNvPicPr>
          <p:nvPr/>
        </p:nvPicPr>
        <p:blipFill>
          <a:blip r:embed="rId1"/>
          <a:stretch>
            <a:fillRect/>
          </a:stretch>
        </p:blipFill>
        <p:spPr>
          <a:xfrm>
            <a:off x="11384280" y="6355080"/>
            <a:ext cx="384048" cy="38404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13D"/>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24365E"/>
          </a:solidFill>
          <a:ln/>
        </p:spPr>
      </p:sp>
      <p:sp>
        <p:nvSpPr>
          <p:cNvPr id="3" name="Shape 1"/>
          <p:cNvSpPr/>
          <p:nvPr/>
        </p:nvSpPr>
        <p:spPr>
          <a:xfrm>
            <a:off x="-1463040" y="4389120"/>
            <a:ext cx="4023360" cy="4023360"/>
          </a:xfrm>
          <a:prstGeom prst="ellipse">
            <a:avLst/>
          </a:prstGeom>
          <a:solidFill>
            <a:srgbClr val="24365E"/>
          </a:solidFill>
          <a:ln/>
        </p:spPr>
      </p:sp>
      <p:sp>
        <p:nvSpPr>
          <p:cNvPr id="4" name="Text 2"/>
          <p:cNvSpPr/>
          <p:nvPr/>
        </p:nvSpPr>
        <p:spPr>
          <a:xfrm>
            <a:off x="1005840" y="2231136"/>
            <a:ext cx="1280160" cy="1207008"/>
          </a:xfrm>
          <a:prstGeom prst="rect">
            <a:avLst/>
          </a:prstGeom>
          <a:noFill/>
          <a:ln/>
        </p:spPr>
        <p:txBody>
          <a:bodyPr wrap="square" lIns="0" tIns="0" rIns="0" bIns="0" rtlCol="0" anchor="ctr"/>
          <a:lstStyle/>
          <a:p>
            <a:pPr algn="l" indent="0" marL="0">
              <a:buNone/>
            </a:pPr>
            <a:r>
              <a:rPr lang="en-US" sz="7200" b="1" dirty="0">
                <a:solidFill>
                  <a:srgbClr val="D96F2B"/>
                </a:solidFill>
                <a:latin typeface="Calibri" pitchFamily="34" charset="0"/>
                <a:ea typeface="Calibri" pitchFamily="34" charset="-122"/>
                <a:cs typeface="Calibri" pitchFamily="34" charset="-120"/>
              </a:rPr>
              <a:t>05</a:t>
            </a:r>
            <a:endParaRPr lang="en-US" sz="7200" dirty="0"/>
          </a:p>
        </p:txBody>
      </p:sp>
      <p:sp>
        <p:nvSpPr>
          <p:cNvPr id="5" name="Text 3"/>
          <p:cNvSpPr/>
          <p:nvPr/>
        </p:nvSpPr>
        <p:spPr>
          <a:xfrm>
            <a:off x="2377440" y="2395728"/>
            <a:ext cx="86868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Robustesse et discussion</a:t>
            </a:r>
            <a:endParaRPr lang="en-US" sz="3400" dirty="0"/>
          </a:p>
        </p:txBody>
      </p:sp>
      <p:sp>
        <p:nvSpPr>
          <p:cNvPr id="6" name="Text 4"/>
          <p:cNvSpPr/>
          <p:nvPr/>
        </p:nvSpPr>
        <p:spPr>
          <a:xfrm>
            <a:off x="2423160" y="3273552"/>
            <a:ext cx="8229600" cy="457200"/>
          </a:xfrm>
          <a:prstGeom prst="rect">
            <a:avLst/>
          </a:prstGeom>
          <a:noFill/>
          <a:ln/>
        </p:spPr>
        <p:txBody>
          <a:bodyPr wrap="square" lIns="0" tIns="0" rIns="0" bIns="0" rtlCol="0" anchor="t"/>
          <a:lstStyle/>
          <a:p>
            <a:pPr indent="0" marL="0">
              <a:lnSpc>
                <a:spcPts val="1800"/>
              </a:lnSpc>
              <a:buNone/>
            </a:pPr>
            <a:r>
              <a:rPr lang="en-US" sz="1400" dirty="0">
                <a:solidFill>
                  <a:srgbClr val="AFC0DA"/>
                </a:solidFill>
                <a:latin typeface="Calibri" pitchFamily="34" charset="0"/>
                <a:ea typeface="Calibri" pitchFamily="34" charset="-122"/>
                <a:cs typeface="Calibri" pitchFamily="34" charset="-120"/>
              </a:rPr>
              <a:t>Ce que le résultat supporte, et ce qu'il ne prouve pas.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Tests de robustesse</a:t>
            </a:r>
            <a:endParaRPr lang="en-US" sz="2700" dirty="0"/>
          </a:p>
        </p:txBody>
      </p:sp>
      <p:sp>
        <p:nvSpPr>
          <p:cNvPr id="3" name="Shape 1"/>
          <p:cNvSpPr/>
          <p:nvPr/>
        </p:nvSpPr>
        <p:spPr>
          <a:xfrm>
            <a:off x="658368" y="1481328"/>
            <a:ext cx="5285232"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4" name="Shape 2"/>
          <p:cNvSpPr/>
          <p:nvPr/>
        </p:nvSpPr>
        <p:spPr>
          <a:xfrm>
            <a:off x="932688" y="1773936"/>
            <a:ext cx="777240" cy="777240"/>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5" name="Image 0" descr="preencoded.png">    </p:cNvPr>
          <p:cNvPicPr>
            <a:picLocks noChangeAspect="1"/>
          </p:cNvPicPr>
          <p:nvPr/>
        </p:nvPicPr>
        <p:blipFill>
          <a:blip r:embed="rId1"/>
          <a:stretch>
            <a:fillRect/>
          </a:stretch>
        </p:blipFill>
        <p:spPr>
          <a:xfrm>
            <a:off x="1142543" y="1983791"/>
            <a:ext cx="357530" cy="357530"/>
          </a:xfrm>
          <a:prstGeom prst="rect">
            <a:avLst/>
          </a:prstGeom>
        </p:spPr>
      </p:pic>
      <p:sp>
        <p:nvSpPr>
          <p:cNvPr id="6" name="Text 3"/>
          <p:cNvSpPr/>
          <p:nvPr/>
        </p:nvSpPr>
        <p:spPr>
          <a:xfrm>
            <a:off x="1865376" y="1755648"/>
            <a:ext cx="2724912" cy="384048"/>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Méthode d'appariement</a:t>
            </a:r>
            <a:endParaRPr lang="en-US" sz="1500" dirty="0"/>
          </a:p>
        </p:txBody>
      </p:sp>
      <p:sp>
        <p:nvSpPr>
          <p:cNvPr id="7" name="Text 4"/>
          <p:cNvSpPr/>
          <p:nvPr/>
        </p:nvSpPr>
        <p:spPr>
          <a:xfrm>
            <a:off x="4681728" y="1773936"/>
            <a:ext cx="1051560" cy="329184"/>
          </a:xfrm>
          <a:prstGeom prst="rect">
            <a:avLst/>
          </a:prstGeom>
          <a:noFill/>
          <a:ln/>
        </p:spPr>
        <p:txBody>
          <a:bodyPr wrap="square" lIns="0" tIns="0" rIns="0" bIns="0" rtlCol="0" anchor="ctr"/>
          <a:lstStyle/>
          <a:p>
            <a:pPr algn="r" indent="0" marL="0">
              <a:buNone/>
            </a:pPr>
            <a:r>
              <a:rPr lang="en-US" sz="1100" b="1" dirty="0">
                <a:solidFill>
                  <a:srgbClr val="41639E"/>
                </a:solidFill>
                <a:latin typeface="Calibri" pitchFamily="34" charset="0"/>
                <a:ea typeface="Calibri" pitchFamily="34" charset="-122"/>
                <a:cs typeface="Calibri" pitchFamily="34" charset="-120"/>
              </a:rPr>
              <a:t>Le résultat tient</a:t>
            </a:r>
            <a:endParaRPr lang="en-US" sz="1100" dirty="0"/>
          </a:p>
        </p:txBody>
      </p:sp>
      <p:sp>
        <p:nvSpPr>
          <p:cNvPr id="8" name="Text 5"/>
          <p:cNvSpPr/>
          <p:nvPr/>
        </p:nvSpPr>
        <p:spPr>
          <a:xfrm>
            <a:off x="932688" y="2670048"/>
            <a:ext cx="4754880" cy="64008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Trois algorithmes, effet de 0,050 à 0,064, tous significatifs au moins à 10 %.</a:t>
            </a:r>
            <a:endParaRPr lang="en-US" sz="1200" dirty="0"/>
          </a:p>
        </p:txBody>
      </p:sp>
      <p:sp>
        <p:nvSpPr>
          <p:cNvPr id="9" name="Shape 6"/>
          <p:cNvSpPr/>
          <p:nvPr/>
        </p:nvSpPr>
        <p:spPr>
          <a:xfrm>
            <a:off x="6263640" y="1481328"/>
            <a:ext cx="5285232"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10" name="Shape 7"/>
          <p:cNvSpPr/>
          <p:nvPr/>
        </p:nvSpPr>
        <p:spPr>
          <a:xfrm>
            <a:off x="6537960" y="1773936"/>
            <a:ext cx="777240" cy="777240"/>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1" name="Image 1" descr="preencoded.png">    </p:cNvPr>
          <p:cNvPicPr>
            <a:picLocks noChangeAspect="1"/>
          </p:cNvPicPr>
          <p:nvPr/>
        </p:nvPicPr>
        <p:blipFill>
          <a:blip r:embed="rId2"/>
          <a:stretch>
            <a:fillRect/>
          </a:stretch>
        </p:blipFill>
        <p:spPr>
          <a:xfrm>
            <a:off x="6747815" y="1983791"/>
            <a:ext cx="357530" cy="357530"/>
          </a:xfrm>
          <a:prstGeom prst="rect">
            <a:avLst/>
          </a:prstGeom>
        </p:spPr>
      </p:pic>
      <p:sp>
        <p:nvSpPr>
          <p:cNvPr id="12" name="Text 8"/>
          <p:cNvSpPr/>
          <p:nvPr/>
        </p:nvSpPr>
        <p:spPr>
          <a:xfrm>
            <a:off x="7470648" y="1755648"/>
            <a:ext cx="2724912" cy="384048"/>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Seuil de privation</a:t>
            </a:r>
            <a:endParaRPr lang="en-US" sz="1500" dirty="0"/>
          </a:p>
        </p:txBody>
      </p:sp>
      <p:sp>
        <p:nvSpPr>
          <p:cNvPr id="13" name="Text 9"/>
          <p:cNvSpPr/>
          <p:nvPr/>
        </p:nvSpPr>
        <p:spPr>
          <a:xfrm>
            <a:off x="10287000" y="1773936"/>
            <a:ext cx="1051560" cy="329184"/>
          </a:xfrm>
          <a:prstGeom prst="rect">
            <a:avLst/>
          </a:prstGeom>
          <a:noFill/>
          <a:ln/>
        </p:spPr>
        <p:txBody>
          <a:bodyPr wrap="square" lIns="0" tIns="0" rIns="0" bIns="0" rtlCol="0" anchor="ctr"/>
          <a:lstStyle/>
          <a:p>
            <a:pPr algn="r" indent="0" marL="0">
              <a:buNone/>
            </a:pPr>
            <a:r>
              <a:rPr lang="en-US" sz="1100" b="1" dirty="0">
                <a:solidFill>
                  <a:srgbClr val="3E8C9A"/>
                </a:solidFill>
                <a:latin typeface="Calibri" pitchFamily="34" charset="0"/>
                <a:ea typeface="Calibri" pitchFamily="34" charset="-122"/>
                <a:cs typeface="Calibri" pitchFamily="34" charset="-120"/>
              </a:rPr>
              <a:t>Le signe tient</a:t>
            </a:r>
            <a:endParaRPr lang="en-US" sz="1100" dirty="0"/>
          </a:p>
        </p:txBody>
      </p:sp>
      <p:sp>
        <p:nvSpPr>
          <p:cNvPr id="14" name="Text 10"/>
          <p:cNvSpPr/>
          <p:nvPr/>
        </p:nvSpPr>
        <p:spPr>
          <a:xfrm>
            <a:off x="6537960" y="2670048"/>
            <a:ext cx="4754880" cy="64008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Testé de 1 à 7 dimensions, l'ampleur suit une courbe en cloche, maximale au seuil retenu.</a:t>
            </a:r>
            <a:endParaRPr lang="en-US" sz="1200" dirty="0"/>
          </a:p>
        </p:txBody>
      </p:sp>
      <p:sp>
        <p:nvSpPr>
          <p:cNvPr id="15" name="Shape 11"/>
          <p:cNvSpPr/>
          <p:nvPr/>
        </p:nvSpPr>
        <p:spPr>
          <a:xfrm>
            <a:off x="658368" y="3721608"/>
            <a:ext cx="5285232"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16" name="Shape 12"/>
          <p:cNvSpPr/>
          <p:nvPr/>
        </p:nvSpPr>
        <p:spPr>
          <a:xfrm>
            <a:off x="932688" y="4014216"/>
            <a:ext cx="777240" cy="777240"/>
          </a:xfrm>
          <a:prstGeom prst="ellipse">
            <a:avLst/>
          </a:prstGeom>
          <a:solidFill>
            <a:srgbClr val="F6ECDC"/>
          </a:solidFill>
          <a:ln w="15875">
            <a:solidFill>
              <a:srgbClr val="ECD5B0"/>
            </a:solidFill>
            <a:prstDash val="solid"/>
          </a:ln>
          <a:effectLst>
            <a:outerShdw sx="100000" sy="100000" kx="0" ky="0" algn="bl" rotWithShape="0" blurRad="127000" dist="25400" dir="5400000">
              <a:srgbClr val="1E2B4A">
                <a:alpha val="8000"/>
              </a:srgbClr>
            </a:outerShdw>
          </a:effectLst>
        </p:spPr>
      </p:sp>
      <p:pic>
        <p:nvPicPr>
          <p:cNvPr id="17" name="Image 2" descr="preencoded.png">    </p:cNvPr>
          <p:cNvPicPr>
            <a:picLocks noChangeAspect="1"/>
          </p:cNvPicPr>
          <p:nvPr/>
        </p:nvPicPr>
        <p:blipFill>
          <a:blip r:embed="rId3"/>
          <a:stretch>
            <a:fillRect/>
          </a:stretch>
        </p:blipFill>
        <p:spPr>
          <a:xfrm>
            <a:off x="1142543" y="4224071"/>
            <a:ext cx="357530" cy="357530"/>
          </a:xfrm>
          <a:prstGeom prst="rect">
            <a:avLst/>
          </a:prstGeom>
        </p:spPr>
      </p:pic>
      <p:sp>
        <p:nvSpPr>
          <p:cNvPr id="18" name="Text 13"/>
          <p:cNvSpPr/>
          <p:nvPr/>
        </p:nvSpPr>
        <p:spPr>
          <a:xfrm>
            <a:off x="1865376" y="3995928"/>
            <a:ext cx="2724912" cy="384048"/>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Validation croisée</a:t>
            </a:r>
            <a:endParaRPr lang="en-US" sz="1500" dirty="0"/>
          </a:p>
        </p:txBody>
      </p:sp>
      <p:sp>
        <p:nvSpPr>
          <p:cNvPr id="19" name="Text 14"/>
          <p:cNvSpPr/>
          <p:nvPr/>
        </p:nvSpPr>
        <p:spPr>
          <a:xfrm>
            <a:off x="4681728" y="4014216"/>
            <a:ext cx="1051560" cy="329184"/>
          </a:xfrm>
          <a:prstGeom prst="rect">
            <a:avLst/>
          </a:prstGeom>
          <a:noFill/>
          <a:ln/>
        </p:spPr>
        <p:txBody>
          <a:bodyPr wrap="square" lIns="0" tIns="0" rIns="0" bIns="0" rtlCol="0" anchor="ctr"/>
          <a:lstStyle/>
          <a:p>
            <a:pPr algn="r" indent="0" marL="0">
              <a:buNone/>
            </a:pPr>
            <a:r>
              <a:rPr lang="en-US" sz="1100" b="1" dirty="0">
                <a:solidFill>
                  <a:srgbClr val="C98A24"/>
                </a:solidFill>
                <a:latin typeface="Calibri" pitchFamily="34" charset="0"/>
                <a:ea typeface="Calibri" pitchFamily="34" charset="-122"/>
                <a:cs typeface="Calibri" pitchFamily="34" charset="-120"/>
              </a:rPr>
              <a:t>Le résultat tient</a:t>
            </a:r>
            <a:endParaRPr lang="en-US" sz="1100" dirty="0"/>
          </a:p>
        </p:txBody>
      </p:sp>
      <p:sp>
        <p:nvSpPr>
          <p:cNvPr id="20" name="Text 15"/>
          <p:cNvSpPr/>
          <p:nvPr/>
        </p:nvSpPr>
        <p:spPr>
          <a:xfrm>
            <a:off x="932688" y="4910328"/>
            <a:ext cx="4754880" cy="64008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Une implémentation indépendante du même estimateur retrouve le résultat.</a:t>
            </a:r>
            <a:endParaRPr lang="en-US" sz="1200" dirty="0"/>
          </a:p>
        </p:txBody>
      </p:sp>
      <p:sp>
        <p:nvSpPr>
          <p:cNvPr id="21" name="Shape 16"/>
          <p:cNvSpPr/>
          <p:nvPr/>
        </p:nvSpPr>
        <p:spPr>
          <a:xfrm>
            <a:off x="6263640" y="3721608"/>
            <a:ext cx="5285232" cy="1965960"/>
          </a:xfrm>
          <a:prstGeom prst="roundRect">
            <a:avLst>
              <a:gd name="adj" fmla="val 2791"/>
            </a:avLst>
          </a:prstGeom>
          <a:solidFill>
            <a:srgbClr val="F4F5FA"/>
          </a:solidFill>
          <a:ln/>
          <a:effectLst>
            <a:outerShdw sx="100000" sy="100000" kx="0" ky="0" algn="bl" rotWithShape="0" blurRad="127000" dist="25400" dir="5400000">
              <a:srgbClr val="1E2B4A">
                <a:alpha val="10000"/>
              </a:srgbClr>
            </a:outerShdw>
          </a:effectLst>
        </p:spPr>
      </p:sp>
      <p:sp>
        <p:nvSpPr>
          <p:cNvPr id="22" name="Shape 17"/>
          <p:cNvSpPr/>
          <p:nvPr/>
        </p:nvSpPr>
        <p:spPr>
          <a:xfrm>
            <a:off x="6537960" y="4014216"/>
            <a:ext cx="777240" cy="777240"/>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23" name="Image 3" descr="preencoded.png">    </p:cNvPr>
          <p:cNvPicPr>
            <a:picLocks noChangeAspect="1"/>
          </p:cNvPicPr>
          <p:nvPr/>
        </p:nvPicPr>
        <p:blipFill>
          <a:blip r:embed="rId4"/>
          <a:stretch>
            <a:fillRect/>
          </a:stretch>
        </p:blipFill>
        <p:spPr>
          <a:xfrm>
            <a:off x="6747815" y="4224071"/>
            <a:ext cx="357530" cy="357530"/>
          </a:xfrm>
          <a:prstGeom prst="rect">
            <a:avLst/>
          </a:prstGeom>
        </p:spPr>
      </p:pic>
      <p:sp>
        <p:nvSpPr>
          <p:cNvPr id="24" name="Text 18"/>
          <p:cNvSpPr/>
          <p:nvPr/>
        </p:nvSpPr>
        <p:spPr>
          <a:xfrm>
            <a:off x="7470648" y="3995928"/>
            <a:ext cx="2724912" cy="384048"/>
          </a:xfrm>
          <a:prstGeom prst="rect">
            <a:avLst/>
          </a:prstGeom>
          <a:noFill/>
          <a:ln/>
        </p:spPr>
        <p:txBody>
          <a:bodyPr wrap="square" lIns="0" tIns="0" rIns="0" bIns="0" rtlCol="0" anchor="ctr"/>
          <a:lstStyle/>
          <a:p>
            <a:pPr indent="0" marL="0">
              <a:buNone/>
            </a:pPr>
            <a:r>
              <a:rPr lang="en-US" sz="1500" b="1" dirty="0">
                <a:solidFill>
                  <a:srgbClr val="1D2433"/>
                </a:solidFill>
                <a:latin typeface="Calibri" pitchFamily="34" charset="0"/>
                <a:ea typeface="Calibri" pitchFamily="34" charset="-122"/>
                <a:cs typeface="Calibri" pitchFamily="34" charset="-120"/>
              </a:rPr>
              <a:t>Définition alternative</a:t>
            </a:r>
            <a:endParaRPr lang="en-US" sz="1500" dirty="0"/>
          </a:p>
        </p:txBody>
      </p:sp>
      <p:sp>
        <p:nvSpPr>
          <p:cNvPr id="25" name="Text 19"/>
          <p:cNvSpPr/>
          <p:nvPr/>
        </p:nvSpPr>
        <p:spPr>
          <a:xfrm>
            <a:off x="10287000" y="4014216"/>
            <a:ext cx="1051560" cy="329184"/>
          </a:xfrm>
          <a:prstGeom prst="rect">
            <a:avLst/>
          </a:prstGeom>
          <a:noFill/>
          <a:ln/>
        </p:spPr>
        <p:txBody>
          <a:bodyPr wrap="square" lIns="0" tIns="0" rIns="0" bIns="0" rtlCol="0" anchor="ctr"/>
          <a:lstStyle/>
          <a:p>
            <a:pPr algn="r" indent="0" marL="0">
              <a:buNone/>
            </a:pPr>
            <a:r>
              <a:rPr lang="en-US" sz="1100" b="1" dirty="0">
                <a:solidFill>
                  <a:srgbClr val="D96F2B"/>
                </a:solidFill>
                <a:latin typeface="Calibri" pitchFamily="34" charset="0"/>
                <a:ea typeface="Calibri" pitchFamily="34" charset="-122"/>
                <a:cs typeface="Calibri" pitchFamily="34" charset="-120"/>
              </a:rPr>
              <a:t>À nuancer</a:t>
            </a:r>
            <a:endParaRPr lang="en-US" sz="1100" dirty="0"/>
          </a:p>
        </p:txBody>
      </p:sp>
      <p:sp>
        <p:nvSpPr>
          <p:cNvPr id="26" name="Text 20"/>
          <p:cNvSpPr/>
          <p:nvPr/>
        </p:nvSpPr>
        <p:spPr>
          <a:xfrm>
            <a:off x="6537960" y="4910328"/>
            <a:ext cx="4754880" cy="64008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Chez les bénéficiaires de longue date, l'écart ne se retrouve pas (0,022 et −0,008, non significatifs).</a:t>
            </a:r>
            <a:endParaRPr lang="en-US" sz="1200" dirty="0"/>
          </a:p>
        </p:txBody>
      </p:sp>
      <p:sp>
        <p:nvSpPr>
          <p:cNvPr id="27" name="Shape 21"/>
          <p:cNvSpPr/>
          <p:nvPr/>
        </p:nvSpPr>
        <p:spPr>
          <a:xfrm>
            <a:off x="658368" y="5961888"/>
            <a:ext cx="10890504" cy="91"/>
          </a:xfrm>
          <a:prstGeom prst="roundRect">
            <a:avLst>
              <a:gd name="adj" fmla="val 60290110"/>
            </a:avLst>
          </a:prstGeom>
          <a:solidFill>
            <a:srgbClr val="FFFFFF"/>
          </a:solidFill>
          <a:ln/>
          <a:effectLst>
            <a:outerShdw sx="100000" sy="100000" kx="0" ky="0" algn="bl" rotWithShape="0" blurRad="127000" dist="25400" dir="5400000">
              <a:srgbClr val="1E2B4A">
                <a:alpha val="10000"/>
              </a:srgbClr>
            </a:outerShdw>
          </a:effectLst>
        </p:spPr>
      </p:sp>
      <p:sp>
        <p:nvSpPr>
          <p:cNvPr id="28" name="Text 22"/>
          <p:cNvSpPr/>
          <p:nvPr/>
        </p:nvSpPr>
        <p:spPr>
          <a:xfrm>
            <a:off x="548640" y="6455664"/>
            <a:ext cx="8229600" cy="237744"/>
          </a:xfrm>
          <a:prstGeom prst="rect">
            <a:avLst/>
          </a:prstGeom>
          <a:noFill/>
          <a:ln/>
        </p:spPr>
        <p:txBody>
          <a:bodyPr wrap="square" lIns="0" tIns="0" rIns="0" bIns="0" rtlCol="0" anchor="ctr"/>
          <a:lstStyle/>
          <a:p>
            <a:pPr indent="0" marL="0">
              <a:buNone/>
            </a:pPr>
            <a:r>
              <a:rPr lang="en-US" sz="900" dirty="0">
                <a:solidFill>
                  <a:srgbClr val="8A93A5"/>
                </a:solidFill>
                <a:latin typeface="Calibri" pitchFamily="34" charset="0"/>
                <a:ea typeface="Calibri" pitchFamily="34" charset="-122"/>
                <a:cs typeface="Calibri" pitchFamily="34" charset="-120"/>
              </a:rPr>
              <a:t>Source : calcul de l'auteur, EHCVM I (2018-2019) et EHCVM II (2021-2022).</a:t>
            </a:r>
            <a:endParaRPr lang="en-US" sz="900" dirty="0"/>
          </a:p>
        </p:txBody>
      </p:sp>
      <p:sp>
        <p:nvSpPr>
          <p:cNvPr id="29" name="Text 23"/>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20</a:t>
            </a:r>
            <a:endParaRPr lang="en-US" sz="950" dirty="0"/>
          </a:p>
        </p:txBody>
      </p:sp>
      <p:pic>
        <p:nvPicPr>
          <p:cNvPr id="30" name="Image 4" descr="logos/logo_ensae_new.png">    </p:cNvPr>
          <p:cNvPicPr>
            <a:picLocks noChangeAspect="1"/>
          </p:cNvPicPr>
          <p:nvPr/>
        </p:nvPicPr>
        <p:blipFill>
          <a:blip r:embed="rId5"/>
          <a:stretch>
            <a:fillRect/>
          </a:stretch>
        </p:blipFill>
        <p:spPr>
          <a:xfrm>
            <a:off x="11384280" y="6355080"/>
            <a:ext cx="384048" cy="38404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Validation des hypothèses</a:t>
            </a:r>
            <a:endParaRPr lang="en-US" sz="2700" dirty="0"/>
          </a:p>
        </p:txBody>
      </p:sp>
      <p:sp>
        <p:nvSpPr>
          <p:cNvPr id="3" name="Shape 1"/>
          <p:cNvSpPr/>
          <p:nvPr/>
        </p:nvSpPr>
        <p:spPr>
          <a:xfrm>
            <a:off x="658368" y="1481328"/>
            <a:ext cx="10890504" cy="2057400"/>
          </a:xfrm>
          <a:prstGeom prst="roundRect">
            <a:avLst>
              <a:gd name="adj" fmla="val 2667"/>
            </a:avLst>
          </a:prstGeom>
          <a:solidFill>
            <a:srgbClr val="F4F5FA"/>
          </a:solidFill>
          <a:ln/>
          <a:effectLst>
            <a:outerShdw sx="100000" sy="100000" kx="0" ky="0" algn="bl" rotWithShape="0" blurRad="127000" dist="25400" dir="5400000">
              <a:srgbClr val="1E2B4A">
                <a:alpha val="10000"/>
              </a:srgbClr>
            </a:outerShdw>
          </a:effectLst>
        </p:spPr>
      </p:sp>
      <p:sp>
        <p:nvSpPr>
          <p:cNvPr id="4" name="Text 2"/>
          <p:cNvSpPr/>
          <p:nvPr/>
        </p:nvSpPr>
        <p:spPr>
          <a:xfrm>
            <a:off x="1600200" y="1801368"/>
            <a:ext cx="822960" cy="457200"/>
          </a:xfrm>
          <a:prstGeom prst="rect">
            <a:avLst/>
          </a:prstGeom>
          <a:noFill/>
          <a:ln/>
        </p:spPr>
        <p:txBody>
          <a:bodyPr wrap="square" lIns="0" tIns="0" rIns="0" bIns="0" rtlCol="0" anchor="ctr"/>
          <a:lstStyle/>
          <a:p>
            <a:pPr indent="0" marL="0">
              <a:buNone/>
            </a:pPr>
            <a:r>
              <a:rPr lang="en-US" sz="2600" b="1" dirty="0">
                <a:solidFill>
                  <a:srgbClr val="D96F2B"/>
                </a:solidFill>
                <a:latin typeface="Calibri" pitchFamily="34" charset="0"/>
                <a:ea typeface="Calibri" pitchFamily="34" charset="-122"/>
                <a:cs typeface="Calibri" pitchFamily="34" charset="-120"/>
              </a:rPr>
              <a:t>H1</a:t>
            </a:r>
            <a:endParaRPr lang="en-US" sz="2600" dirty="0"/>
          </a:p>
        </p:txBody>
      </p:sp>
      <p:sp>
        <p:nvSpPr>
          <p:cNvPr id="5" name="Text 3"/>
          <p:cNvSpPr/>
          <p:nvPr/>
        </p:nvSpPr>
        <p:spPr>
          <a:xfrm>
            <a:off x="1600200" y="2350008"/>
            <a:ext cx="3108960" cy="868680"/>
          </a:xfrm>
          <a:prstGeom prst="rect">
            <a:avLst/>
          </a:prstGeom>
          <a:noFill/>
          <a:ln/>
        </p:spPr>
        <p:txBody>
          <a:bodyPr wrap="square" lIns="0" tIns="0" rIns="0" bIns="0" rtlCol="0" anchor="t"/>
          <a:lstStyle/>
          <a:p>
            <a:pPr indent="0" marL="0">
              <a:lnSpc>
                <a:spcPts val="1600"/>
              </a:lnSpc>
              <a:buNone/>
            </a:pPr>
            <a:r>
              <a:rPr lang="en-US" sz="1200" i="1" dirty="0">
                <a:solidFill>
                  <a:srgbClr val="4A5468"/>
                </a:solidFill>
                <a:latin typeface="Calibri" pitchFamily="34" charset="0"/>
                <a:ea typeface="Calibri" pitchFamily="34" charset="-122"/>
                <a:cs typeface="Calibri" pitchFamily="34" charset="-120"/>
              </a:rPr>
              <a:t>Les transferts réduisent significativement la pauvreté multidimensionnelle des enfants.</a:t>
            </a:r>
            <a:endParaRPr lang="en-US" sz="1200" dirty="0"/>
          </a:p>
        </p:txBody>
      </p:sp>
      <p:sp>
        <p:nvSpPr>
          <p:cNvPr id="6" name="Text 4"/>
          <p:cNvSpPr/>
          <p:nvPr/>
        </p:nvSpPr>
        <p:spPr>
          <a:xfrm>
            <a:off x="5029200" y="1865376"/>
            <a:ext cx="4617720" cy="1325880"/>
          </a:xfrm>
          <a:prstGeom prst="rect">
            <a:avLst/>
          </a:prstGeom>
          <a:noFill/>
          <a:ln/>
        </p:spPr>
        <p:txBody>
          <a:bodyPr wrap="square" lIns="0" tIns="0" rIns="0" bIns="0" rtlCol="0" anchor="ctr"/>
          <a:lstStyle/>
          <a:p>
            <a:pPr indent="0" marL="0">
              <a:lnSpc>
                <a:spcPts val="1700"/>
              </a:lnSpc>
              <a:buNone/>
            </a:pPr>
            <a:r>
              <a:rPr lang="en-US" sz="1250" dirty="0">
                <a:solidFill>
                  <a:srgbClr val="1D2433"/>
                </a:solidFill>
                <a:latin typeface="Calibri" pitchFamily="34" charset="0"/>
                <a:ea typeface="Calibri" pitchFamily="34" charset="-122"/>
                <a:cs typeface="Calibri" pitchFamily="34" charset="-120"/>
              </a:rPr>
              <a:t>L'effet estimé vaut +0,064, significatif à 5 %, et de signe défavorable : aucune réduction n'est observée sur l'horizon.</a:t>
            </a:r>
            <a:endParaRPr lang="en-US" sz="1250" dirty="0"/>
          </a:p>
        </p:txBody>
      </p:sp>
      <p:sp>
        <p:nvSpPr>
          <p:cNvPr id="7" name="Text 5"/>
          <p:cNvSpPr/>
          <p:nvPr/>
        </p:nvSpPr>
        <p:spPr>
          <a:xfrm>
            <a:off x="9829800" y="2258568"/>
            <a:ext cx="1508760" cy="502920"/>
          </a:xfrm>
          <a:prstGeom prst="rect">
            <a:avLst/>
          </a:prstGeom>
          <a:noFill/>
          <a:ln/>
        </p:spPr>
        <p:txBody>
          <a:bodyPr wrap="square" lIns="0" tIns="0" rIns="0" bIns="0" rtlCol="0" anchor="ctr"/>
          <a:lstStyle/>
          <a:p>
            <a:pPr algn="ctr" indent="0" marL="0">
              <a:buNone/>
            </a:pPr>
            <a:r>
              <a:rPr lang="en-US" sz="1350" b="1" dirty="0">
                <a:solidFill>
                  <a:srgbClr val="D96F2B"/>
                </a:solidFill>
                <a:latin typeface="Calibri" pitchFamily="34" charset="0"/>
                <a:ea typeface="Calibri" pitchFamily="34" charset="-122"/>
                <a:cs typeface="Calibri" pitchFamily="34" charset="-120"/>
              </a:rPr>
              <a:t>Non validée</a:t>
            </a:r>
            <a:endParaRPr lang="en-US" sz="1350" dirty="0"/>
          </a:p>
        </p:txBody>
      </p:sp>
      <p:sp>
        <p:nvSpPr>
          <p:cNvPr id="8" name="Shape 6"/>
          <p:cNvSpPr/>
          <p:nvPr/>
        </p:nvSpPr>
        <p:spPr>
          <a:xfrm>
            <a:off x="658368" y="3813048"/>
            <a:ext cx="10890504" cy="2057400"/>
          </a:xfrm>
          <a:prstGeom prst="roundRect">
            <a:avLst>
              <a:gd name="adj" fmla="val 2667"/>
            </a:avLst>
          </a:prstGeom>
          <a:solidFill>
            <a:srgbClr val="F4F5FA"/>
          </a:solidFill>
          <a:ln/>
          <a:effectLst>
            <a:outerShdw sx="100000" sy="100000" kx="0" ky="0" algn="bl" rotWithShape="0" blurRad="127000" dist="25400" dir="5400000">
              <a:srgbClr val="1E2B4A">
                <a:alpha val="10000"/>
              </a:srgbClr>
            </a:outerShdw>
          </a:effectLst>
        </p:spPr>
      </p:sp>
      <p:sp>
        <p:nvSpPr>
          <p:cNvPr id="9" name="Text 7"/>
          <p:cNvSpPr/>
          <p:nvPr/>
        </p:nvSpPr>
        <p:spPr>
          <a:xfrm>
            <a:off x="1600200" y="4133088"/>
            <a:ext cx="822960" cy="457200"/>
          </a:xfrm>
          <a:prstGeom prst="rect">
            <a:avLst/>
          </a:prstGeom>
          <a:noFill/>
          <a:ln/>
        </p:spPr>
        <p:txBody>
          <a:bodyPr wrap="square" lIns="0" tIns="0" rIns="0" bIns="0" rtlCol="0" anchor="ctr"/>
          <a:lstStyle/>
          <a:p>
            <a:pPr indent="0" marL="0">
              <a:buNone/>
            </a:pPr>
            <a:r>
              <a:rPr lang="en-US" sz="2600" b="1" dirty="0">
                <a:solidFill>
                  <a:srgbClr val="3E8C9A"/>
                </a:solidFill>
                <a:latin typeface="Calibri" pitchFamily="34" charset="0"/>
                <a:ea typeface="Calibri" pitchFamily="34" charset="-122"/>
                <a:cs typeface="Calibri" pitchFamily="34" charset="-120"/>
              </a:rPr>
              <a:t>H2</a:t>
            </a:r>
            <a:endParaRPr lang="en-US" sz="2600" dirty="0"/>
          </a:p>
        </p:txBody>
      </p:sp>
      <p:sp>
        <p:nvSpPr>
          <p:cNvPr id="10" name="Text 8"/>
          <p:cNvSpPr/>
          <p:nvPr/>
        </p:nvSpPr>
        <p:spPr>
          <a:xfrm>
            <a:off x="1600200" y="4681728"/>
            <a:ext cx="3108960" cy="868680"/>
          </a:xfrm>
          <a:prstGeom prst="rect">
            <a:avLst/>
          </a:prstGeom>
          <a:noFill/>
          <a:ln/>
        </p:spPr>
        <p:txBody>
          <a:bodyPr wrap="square" lIns="0" tIns="0" rIns="0" bIns="0" rtlCol="0" anchor="t"/>
          <a:lstStyle/>
          <a:p>
            <a:pPr indent="0" marL="0">
              <a:lnSpc>
                <a:spcPts val="1600"/>
              </a:lnSpc>
              <a:buNone/>
            </a:pPr>
            <a:r>
              <a:rPr lang="en-US" sz="1200" i="1" dirty="0">
                <a:solidFill>
                  <a:srgbClr val="4A5468"/>
                </a:solidFill>
                <a:latin typeface="Calibri" pitchFamily="34" charset="0"/>
                <a:ea typeface="Calibri" pitchFamily="34" charset="-122"/>
                <a:cs typeface="Calibri" pitchFamily="34" charset="-120"/>
              </a:rPr>
              <a:t>L'impact est hétérogène selon les dimensions, le milieu, le genre du chef, l'âge et le montant.</a:t>
            </a:r>
            <a:endParaRPr lang="en-US" sz="1200" dirty="0"/>
          </a:p>
        </p:txBody>
      </p:sp>
      <p:sp>
        <p:nvSpPr>
          <p:cNvPr id="11" name="Text 9"/>
          <p:cNvSpPr/>
          <p:nvPr/>
        </p:nvSpPr>
        <p:spPr>
          <a:xfrm>
            <a:off x="5029200" y="4197096"/>
            <a:ext cx="4617720" cy="1325880"/>
          </a:xfrm>
          <a:prstGeom prst="rect">
            <a:avLst/>
          </a:prstGeom>
          <a:noFill/>
          <a:ln/>
        </p:spPr>
        <p:txBody>
          <a:bodyPr wrap="square" lIns="0" tIns="0" rIns="0" bIns="0" rtlCol="0" anchor="ctr"/>
          <a:lstStyle/>
          <a:p>
            <a:pPr indent="0" marL="0">
              <a:lnSpc>
                <a:spcPts val="1700"/>
              </a:lnSpc>
              <a:buNone/>
            </a:pPr>
            <a:r>
              <a:rPr lang="en-US" sz="1250" dirty="0">
                <a:solidFill>
                  <a:srgbClr val="1D2433"/>
                </a:solidFill>
                <a:latin typeface="Calibri" pitchFamily="34" charset="0"/>
                <a:ea typeface="Calibri" pitchFamily="34" charset="-122"/>
                <a:cs typeface="Calibri" pitchFamily="34" charset="-120"/>
              </a:rPr>
              <a:t>L'effet n'est établi que sur la nutrition et chez les 0 à 4 ans, avec un gradient net selon le montant. Aucun test d'égalité ne conclut par milieu, genre du chef ou âge.</a:t>
            </a:r>
            <a:endParaRPr lang="en-US" sz="1250" dirty="0"/>
          </a:p>
        </p:txBody>
      </p:sp>
      <p:sp>
        <p:nvSpPr>
          <p:cNvPr id="12" name="Text 10"/>
          <p:cNvSpPr/>
          <p:nvPr/>
        </p:nvSpPr>
        <p:spPr>
          <a:xfrm>
            <a:off x="9829800" y="4590288"/>
            <a:ext cx="1508760" cy="502920"/>
          </a:xfrm>
          <a:prstGeom prst="rect">
            <a:avLst/>
          </a:prstGeom>
          <a:noFill/>
          <a:ln/>
        </p:spPr>
        <p:txBody>
          <a:bodyPr wrap="square" lIns="0" tIns="0" rIns="0" bIns="0" rtlCol="0" anchor="ctr"/>
          <a:lstStyle/>
          <a:p>
            <a:pPr algn="ctr" indent="0" marL="0">
              <a:buNone/>
            </a:pPr>
            <a:r>
              <a:rPr lang="en-US" sz="1350" b="1" dirty="0">
                <a:solidFill>
                  <a:srgbClr val="3E8C9A"/>
                </a:solidFill>
                <a:latin typeface="Calibri" pitchFamily="34" charset="0"/>
                <a:ea typeface="Calibri" pitchFamily="34" charset="-122"/>
                <a:cs typeface="Calibri" pitchFamily="34" charset="-120"/>
              </a:rPr>
              <a:t>Partiellement validée</a:t>
            </a:r>
            <a:endParaRPr lang="en-US" sz="1350" dirty="0"/>
          </a:p>
        </p:txBody>
      </p:sp>
      <p:sp>
        <p:nvSpPr>
          <p:cNvPr id="13" name="Shape 11"/>
          <p:cNvSpPr/>
          <p:nvPr/>
        </p:nvSpPr>
        <p:spPr>
          <a:xfrm>
            <a:off x="932688" y="2103120"/>
            <a:ext cx="566928" cy="566928"/>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14" name="Image 0" descr="preencoded.png">    </p:cNvPr>
          <p:cNvPicPr>
            <a:picLocks noChangeAspect="1"/>
          </p:cNvPicPr>
          <p:nvPr/>
        </p:nvPicPr>
        <p:blipFill>
          <a:blip r:embed="rId1"/>
          <a:stretch>
            <a:fillRect/>
          </a:stretch>
        </p:blipFill>
        <p:spPr>
          <a:xfrm>
            <a:off x="1085759" y="2256191"/>
            <a:ext cx="260787" cy="260787"/>
          </a:xfrm>
          <a:prstGeom prst="rect">
            <a:avLst/>
          </a:prstGeom>
        </p:spPr>
      </p:pic>
      <p:sp>
        <p:nvSpPr>
          <p:cNvPr id="15" name="Shape 12"/>
          <p:cNvSpPr/>
          <p:nvPr/>
        </p:nvSpPr>
        <p:spPr>
          <a:xfrm>
            <a:off x="932688" y="4434840"/>
            <a:ext cx="566928" cy="566928"/>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6" name="Image 1" descr="preencoded.png">    </p:cNvPr>
          <p:cNvPicPr>
            <a:picLocks noChangeAspect="1"/>
          </p:cNvPicPr>
          <p:nvPr/>
        </p:nvPicPr>
        <p:blipFill>
          <a:blip r:embed="rId2"/>
          <a:stretch>
            <a:fillRect/>
          </a:stretch>
        </p:blipFill>
        <p:spPr>
          <a:xfrm>
            <a:off x="1085759" y="4587911"/>
            <a:ext cx="260787" cy="260787"/>
          </a:xfrm>
          <a:prstGeom prst="rect">
            <a:avLst/>
          </a:prstGeom>
        </p:spPr>
      </p:pic>
      <p:sp>
        <p:nvSpPr>
          <p:cNvPr id="17" name="Text 13"/>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21</a:t>
            </a:r>
            <a:endParaRPr lang="en-US" sz="950" dirty="0"/>
          </a:p>
        </p:txBody>
      </p:sp>
      <p:pic>
        <p:nvPicPr>
          <p:cNvPr id="18" name="Image 2" descr="logos/logo_ensae_new.png">    </p:cNvPr>
          <p:cNvPicPr>
            <a:picLocks noChangeAspect="1"/>
          </p:cNvPicPr>
          <p:nvPr/>
        </p:nvPicPr>
        <p:blipFill>
          <a:blip r:embed="rId3"/>
          <a:stretch>
            <a:fillRect/>
          </a:stretch>
        </p:blipFill>
        <p:spPr>
          <a:xfrm>
            <a:off x="11384280" y="6355080"/>
            <a:ext cx="384048" cy="38404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Comment comprendre ce résultat</a:t>
            </a:r>
            <a:endParaRPr lang="en-US" sz="2700" dirty="0"/>
          </a:p>
        </p:txBody>
      </p:sp>
      <p:sp>
        <p:nvSpPr>
          <p:cNvPr id="3" name="Text 1"/>
          <p:cNvSpPr/>
          <p:nvPr/>
        </p:nvSpPr>
        <p:spPr>
          <a:xfrm>
            <a:off x="548640" y="896112"/>
            <a:ext cx="11064240" cy="475488"/>
          </a:xfrm>
          <a:prstGeom prst="rect">
            <a:avLst/>
          </a:prstGeom>
          <a:noFill/>
          <a:ln/>
        </p:spPr>
        <p:txBody>
          <a:bodyPr wrap="square" lIns="0" tIns="0" rIns="0" bIns="0" rtlCol="0" anchor="t"/>
          <a:lstStyle/>
          <a:p>
            <a:pPr indent="0" marL="0">
              <a:lnSpc>
                <a:spcPts val="1700"/>
              </a:lnSpc>
              <a:buNone/>
            </a:pPr>
            <a:r>
              <a:rPr lang="en-US" sz="1300" dirty="0">
                <a:solidFill>
                  <a:srgbClr val="4A5468"/>
                </a:solidFill>
                <a:latin typeface="Calibri" pitchFamily="34" charset="0"/>
                <a:ea typeface="Calibri" pitchFamily="34" charset="-122"/>
                <a:cs typeface="Calibri" pitchFamily="34" charset="-120"/>
              </a:rPr>
              <a:t>Le résultat ne dit pas que les transferts appauvrissent les enfants : il dit que les conditions de vie s'améliorent plus lentement chez les bénéficiaires.</a:t>
            </a:r>
            <a:endParaRPr lang="en-US" sz="1300" dirty="0"/>
          </a:p>
        </p:txBody>
      </p:sp>
      <p:sp>
        <p:nvSpPr>
          <p:cNvPr id="4" name="Shape 2"/>
          <p:cNvSpPr/>
          <p:nvPr/>
        </p:nvSpPr>
        <p:spPr>
          <a:xfrm>
            <a:off x="658368" y="1691640"/>
            <a:ext cx="3456432" cy="4114800"/>
          </a:xfrm>
          <a:prstGeom prst="roundRect">
            <a:avLst>
              <a:gd name="adj" fmla="val 1587"/>
            </a:avLst>
          </a:prstGeom>
          <a:solidFill>
            <a:srgbClr val="F4F5FA"/>
          </a:solidFill>
          <a:ln/>
          <a:effectLst>
            <a:outerShdw sx="100000" sy="100000" kx="0" ky="0" algn="bl" rotWithShape="0" blurRad="127000" dist="25400" dir="5400000">
              <a:srgbClr val="1E2B4A">
                <a:alpha val="10000"/>
              </a:srgbClr>
            </a:outerShdw>
          </a:effectLst>
        </p:spPr>
      </p:sp>
      <p:sp>
        <p:nvSpPr>
          <p:cNvPr id="5" name="Shape 3"/>
          <p:cNvSpPr/>
          <p:nvPr/>
        </p:nvSpPr>
        <p:spPr>
          <a:xfrm>
            <a:off x="1984248" y="1965960"/>
            <a:ext cx="822960" cy="822960"/>
          </a:xfrm>
          <a:prstGeom prst="ellipse">
            <a:avLst/>
          </a:prstGeom>
          <a:solidFill>
            <a:srgbClr val="F6ECDC"/>
          </a:solidFill>
          <a:ln w="15875">
            <a:solidFill>
              <a:srgbClr val="ECD5B0"/>
            </a:solidFill>
            <a:prstDash val="solid"/>
          </a:ln>
          <a:effectLst>
            <a:outerShdw sx="100000" sy="100000" kx="0" ky="0" algn="bl" rotWithShape="0" blurRad="127000" dist="25400" dir="5400000">
              <a:srgbClr val="1E2B4A">
                <a:alpha val="8000"/>
              </a:srgbClr>
            </a:outerShdw>
          </a:effectLst>
        </p:spPr>
      </p:sp>
      <p:pic>
        <p:nvPicPr>
          <p:cNvPr id="6" name="Image 0" descr="preencoded.png">    </p:cNvPr>
          <p:cNvPicPr>
            <a:picLocks noChangeAspect="1"/>
          </p:cNvPicPr>
          <p:nvPr/>
        </p:nvPicPr>
        <p:blipFill>
          <a:blip r:embed="rId1"/>
          <a:stretch>
            <a:fillRect/>
          </a:stretch>
        </p:blipFill>
        <p:spPr>
          <a:xfrm>
            <a:off x="2206447" y="2188159"/>
            <a:ext cx="378562" cy="378562"/>
          </a:xfrm>
          <a:prstGeom prst="rect">
            <a:avLst/>
          </a:prstGeom>
        </p:spPr>
      </p:pic>
      <p:sp>
        <p:nvSpPr>
          <p:cNvPr id="7" name="Text 4"/>
          <p:cNvSpPr/>
          <p:nvPr/>
        </p:nvSpPr>
        <p:spPr>
          <a:xfrm>
            <a:off x="932688" y="2926080"/>
            <a:ext cx="2926080" cy="594360"/>
          </a:xfrm>
          <a:prstGeom prst="rect">
            <a:avLst/>
          </a:prstGeom>
          <a:noFill/>
          <a:ln/>
        </p:spPr>
        <p:txBody>
          <a:bodyPr wrap="square" lIns="0" tIns="0" rIns="0" bIns="0" rtlCol="0" anchor="ctr"/>
          <a:lstStyle/>
          <a:p>
            <a:pPr algn="ctr" indent="0" marL="0">
              <a:lnSpc>
                <a:spcPts val="1800"/>
              </a:lnSpc>
              <a:buNone/>
            </a:pPr>
            <a:r>
              <a:rPr lang="en-US" sz="1450" b="1" dirty="0">
                <a:solidFill>
                  <a:srgbClr val="1D2433"/>
                </a:solidFill>
                <a:latin typeface="Calibri" pitchFamily="34" charset="0"/>
                <a:ea typeface="Calibri" pitchFamily="34" charset="-122"/>
                <a:cs typeface="Calibri" pitchFamily="34" charset="-120"/>
              </a:rPr>
              <a:t>L'usage des fonds</a:t>
            </a:r>
            <a:endParaRPr lang="en-US" sz="1450" dirty="0"/>
          </a:p>
        </p:txBody>
      </p:sp>
      <p:sp>
        <p:nvSpPr>
          <p:cNvPr id="8" name="Text 5"/>
          <p:cNvSpPr/>
          <p:nvPr/>
        </p:nvSpPr>
        <p:spPr>
          <a:xfrm>
            <a:off x="932688" y="3611880"/>
            <a:ext cx="2926080" cy="2011680"/>
          </a:xfrm>
          <a:prstGeom prst="rect">
            <a:avLst/>
          </a:prstGeom>
          <a:noFill/>
          <a:ln/>
        </p:spPr>
        <p:txBody>
          <a:bodyPr wrap="square" lIns="0" tIns="0" rIns="0" bIns="0" rtlCol="0" anchor="t"/>
          <a:lstStyle/>
          <a:p>
            <a:pPr indent="0" marL="0">
              <a:lnSpc>
                <a:spcPts val="1600"/>
              </a:lnSpc>
              <a:buNone/>
            </a:pPr>
            <a:r>
              <a:rPr lang="en-US" sz="1150" dirty="0">
                <a:solidFill>
                  <a:srgbClr val="4A5468"/>
                </a:solidFill>
                <a:latin typeface="Calibri" pitchFamily="34" charset="0"/>
                <a:ea typeface="Calibri" pitchFamily="34" charset="-122"/>
                <a:cs typeface="Calibri" pitchFamily="34" charset="-120"/>
              </a:rPr>
              <a:t>68,5 % des transferts relèvent du soutien courant, moins d'un dixième va explicitement à la santé ou à la scolarité. Un flux qui finance l'ordinaire déplace peu les seuils de privation.</a:t>
            </a:r>
            <a:endParaRPr lang="en-US" sz="1150" dirty="0"/>
          </a:p>
        </p:txBody>
      </p:sp>
      <p:sp>
        <p:nvSpPr>
          <p:cNvPr id="9" name="Shape 6"/>
          <p:cNvSpPr/>
          <p:nvPr/>
        </p:nvSpPr>
        <p:spPr>
          <a:xfrm>
            <a:off x="4453128" y="1691640"/>
            <a:ext cx="3456432" cy="4114800"/>
          </a:xfrm>
          <a:prstGeom prst="roundRect">
            <a:avLst>
              <a:gd name="adj" fmla="val 1587"/>
            </a:avLst>
          </a:prstGeom>
          <a:solidFill>
            <a:srgbClr val="F4F5FA"/>
          </a:solidFill>
          <a:ln/>
          <a:effectLst>
            <a:outerShdw sx="100000" sy="100000" kx="0" ky="0" algn="bl" rotWithShape="0" blurRad="127000" dist="25400" dir="5400000">
              <a:srgbClr val="1E2B4A">
                <a:alpha val="10000"/>
              </a:srgbClr>
            </a:outerShdw>
          </a:effectLst>
        </p:spPr>
      </p:sp>
      <p:sp>
        <p:nvSpPr>
          <p:cNvPr id="10" name="Shape 7"/>
          <p:cNvSpPr/>
          <p:nvPr/>
        </p:nvSpPr>
        <p:spPr>
          <a:xfrm>
            <a:off x="5779008" y="1965960"/>
            <a:ext cx="822960" cy="822960"/>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11" name="Image 1" descr="preencoded.png">    </p:cNvPr>
          <p:cNvPicPr>
            <a:picLocks noChangeAspect="1"/>
          </p:cNvPicPr>
          <p:nvPr/>
        </p:nvPicPr>
        <p:blipFill>
          <a:blip r:embed="rId2"/>
          <a:stretch>
            <a:fillRect/>
          </a:stretch>
        </p:blipFill>
        <p:spPr>
          <a:xfrm>
            <a:off x="6001207" y="2188159"/>
            <a:ext cx="378562" cy="378562"/>
          </a:xfrm>
          <a:prstGeom prst="rect">
            <a:avLst/>
          </a:prstGeom>
        </p:spPr>
      </p:pic>
      <p:sp>
        <p:nvSpPr>
          <p:cNvPr id="12" name="Text 8"/>
          <p:cNvSpPr/>
          <p:nvPr/>
        </p:nvSpPr>
        <p:spPr>
          <a:xfrm>
            <a:off x="4727448" y="2926080"/>
            <a:ext cx="2926080" cy="594360"/>
          </a:xfrm>
          <a:prstGeom prst="rect">
            <a:avLst/>
          </a:prstGeom>
          <a:noFill/>
          <a:ln/>
        </p:spPr>
        <p:txBody>
          <a:bodyPr wrap="square" lIns="0" tIns="0" rIns="0" bIns="0" rtlCol="0" anchor="ctr"/>
          <a:lstStyle/>
          <a:p>
            <a:pPr algn="ctr" indent="0" marL="0">
              <a:lnSpc>
                <a:spcPts val="1800"/>
              </a:lnSpc>
              <a:buNone/>
            </a:pPr>
            <a:r>
              <a:rPr lang="en-US" sz="1450" b="1" dirty="0">
                <a:solidFill>
                  <a:srgbClr val="1D2433"/>
                </a:solidFill>
                <a:latin typeface="Calibri" pitchFamily="34" charset="0"/>
                <a:ea typeface="Calibri" pitchFamily="34" charset="-122"/>
                <a:cs typeface="Calibri" pitchFamily="34" charset="-120"/>
              </a:rPr>
              <a:t>La contrainte d'offre</a:t>
            </a:r>
            <a:endParaRPr lang="en-US" sz="1450" dirty="0"/>
          </a:p>
        </p:txBody>
      </p:sp>
      <p:sp>
        <p:nvSpPr>
          <p:cNvPr id="13" name="Text 9"/>
          <p:cNvSpPr/>
          <p:nvPr/>
        </p:nvSpPr>
        <p:spPr>
          <a:xfrm>
            <a:off x="4727448" y="3611880"/>
            <a:ext cx="2926080" cy="2011680"/>
          </a:xfrm>
          <a:prstGeom prst="rect">
            <a:avLst/>
          </a:prstGeom>
          <a:noFill/>
          <a:ln/>
        </p:spPr>
        <p:txBody>
          <a:bodyPr wrap="square" lIns="0" tIns="0" rIns="0" bIns="0" rtlCol="0" anchor="t"/>
          <a:lstStyle/>
          <a:p>
            <a:pPr indent="0" marL="0">
              <a:lnSpc>
                <a:spcPts val="1600"/>
              </a:lnSpc>
              <a:buNone/>
            </a:pPr>
            <a:r>
              <a:rPr lang="en-US" sz="1150" dirty="0">
                <a:solidFill>
                  <a:srgbClr val="4A5468"/>
                </a:solidFill>
                <a:latin typeface="Calibri" pitchFamily="34" charset="0"/>
                <a:ea typeface="Calibri" pitchFamily="34" charset="-122"/>
                <a:cs typeface="Calibri" pitchFamily="34" charset="-120"/>
              </a:rPr>
              <a:t>L'eau, l'assainissement et l'accès aux soins supposent des investissements collectifs. Le pouvoir d'achat supplémentaire ne les crée pas : la privation en santé touche 97 % des enfants aux deux vagues.</a:t>
            </a:r>
            <a:endParaRPr lang="en-US" sz="1150" dirty="0"/>
          </a:p>
        </p:txBody>
      </p:sp>
      <p:sp>
        <p:nvSpPr>
          <p:cNvPr id="14" name="Shape 10"/>
          <p:cNvSpPr/>
          <p:nvPr/>
        </p:nvSpPr>
        <p:spPr>
          <a:xfrm>
            <a:off x="8247888" y="1691640"/>
            <a:ext cx="3456432" cy="4114800"/>
          </a:xfrm>
          <a:prstGeom prst="roundRect">
            <a:avLst>
              <a:gd name="adj" fmla="val 1587"/>
            </a:avLst>
          </a:prstGeom>
          <a:solidFill>
            <a:srgbClr val="F4F5FA"/>
          </a:solidFill>
          <a:ln/>
          <a:effectLst>
            <a:outerShdw sx="100000" sy="100000" kx="0" ky="0" algn="bl" rotWithShape="0" blurRad="127000" dist="25400" dir="5400000">
              <a:srgbClr val="1E2B4A">
                <a:alpha val="10000"/>
              </a:srgbClr>
            </a:outerShdw>
          </a:effectLst>
        </p:spPr>
      </p:sp>
      <p:sp>
        <p:nvSpPr>
          <p:cNvPr id="15" name="Shape 11"/>
          <p:cNvSpPr/>
          <p:nvPr/>
        </p:nvSpPr>
        <p:spPr>
          <a:xfrm>
            <a:off x="9573768" y="1965960"/>
            <a:ext cx="822960" cy="822960"/>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6" name="Image 2" descr="preencoded.png">    </p:cNvPr>
          <p:cNvPicPr>
            <a:picLocks noChangeAspect="1"/>
          </p:cNvPicPr>
          <p:nvPr/>
        </p:nvPicPr>
        <p:blipFill>
          <a:blip r:embed="rId3"/>
          <a:stretch>
            <a:fillRect/>
          </a:stretch>
        </p:blipFill>
        <p:spPr>
          <a:xfrm>
            <a:off x="9795967" y="2188159"/>
            <a:ext cx="378562" cy="378562"/>
          </a:xfrm>
          <a:prstGeom prst="rect">
            <a:avLst/>
          </a:prstGeom>
        </p:spPr>
      </p:pic>
      <p:sp>
        <p:nvSpPr>
          <p:cNvPr id="17" name="Text 12"/>
          <p:cNvSpPr/>
          <p:nvPr/>
        </p:nvSpPr>
        <p:spPr>
          <a:xfrm>
            <a:off x="8522208" y="2926080"/>
            <a:ext cx="2926080" cy="594360"/>
          </a:xfrm>
          <a:prstGeom prst="rect">
            <a:avLst/>
          </a:prstGeom>
          <a:noFill/>
          <a:ln/>
        </p:spPr>
        <p:txBody>
          <a:bodyPr wrap="square" lIns="0" tIns="0" rIns="0" bIns="0" rtlCol="0" anchor="ctr"/>
          <a:lstStyle/>
          <a:p>
            <a:pPr algn="ctr" indent="0" marL="0">
              <a:lnSpc>
                <a:spcPts val="1800"/>
              </a:lnSpc>
              <a:buNone/>
            </a:pPr>
            <a:r>
              <a:rPr lang="en-US" sz="1450" b="1" dirty="0">
                <a:solidFill>
                  <a:srgbClr val="1D2433"/>
                </a:solidFill>
                <a:latin typeface="Calibri" pitchFamily="34" charset="0"/>
                <a:ea typeface="Calibri" pitchFamily="34" charset="-122"/>
                <a:cs typeface="Calibri" pitchFamily="34" charset="-120"/>
              </a:rPr>
              <a:t>La marge sur laquelle l'effet opère</a:t>
            </a:r>
            <a:endParaRPr lang="en-US" sz="1450" dirty="0"/>
          </a:p>
        </p:txBody>
      </p:sp>
      <p:sp>
        <p:nvSpPr>
          <p:cNvPr id="18" name="Text 13"/>
          <p:cNvSpPr/>
          <p:nvPr/>
        </p:nvSpPr>
        <p:spPr>
          <a:xfrm>
            <a:off x="8522208" y="3611880"/>
            <a:ext cx="2926080" cy="2011680"/>
          </a:xfrm>
          <a:prstGeom prst="rect">
            <a:avLst/>
          </a:prstGeom>
          <a:noFill/>
          <a:ln/>
        </p:spPr>
        <p:txBody>
          <a:bodyPr wrap="square" lIns="0" tIns="0" rIns="0" bIns="0" rtlCol="0" anchor="t"/>
          <a:lstStyle/>
          <a:p>
            <a:pPr indent="0" marL="0">
              <a:lnSpc>
                <a:spcPts val="1600"/>
              </a:lnSpc>
              <a:buNone/>
            </a:pPr>
            <a:r>
              <a:rPr lang="en-US" sz="1150" dirty="0">
                <a:solidFill>
                  <a:srgbClr val="4A5468"/>
                </a:solidFill>
                <a:latin typeface="Calibri" pitchFamily="34" charset="0"/>
                <a:ea typeface="Calibri" pitchFamily="34" charset="-122"/>
                <a:cs typeface="Calibri" pitchFamily="34" charset="-120"/>
              </a:rPr>
              <a:t>La sensibilité au seuil montre que l'écart se joue au milieu de la distribution des privations. Le noyau des enfants les plus démunis relève de déficits qu'aucun flux privé ne déplace en trois ans.</a:t>
            </a:r>
            <a:endParaRPr lang="en-US" sz="1150" dirty="0"/>
          </a:p>
        </p:txBody>
      </p:sp>
      <p:sp>
        <p:nvSpPr>
          <p:cNvPr id="19" name="Text 14"/>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22</a:t>
            </a:r>
            <a:endParaRPr lang="en-US" sz="950" dirty="0"/>
          </a:p>
        </p:txBody>
      </p:sp>
      <p:pic>
        <p:nvPicPr>
          <p:cNvPr id="20" name="Image 3" descr="logos/logo_ensae_new.png">    </p:cNvPr>
          <p:cNvPicPr>
            <a:picLocks noChangeAspect="1"/>
          </p:cNvPicPr>
          <p:nvPr/>
        </p:nvPicPr>
        <p:blipFill>
          <a:blip r:embed="rId4"/>
          <a:stretch>
            <a:fillRect/>
          </a:stretch>
        </p:blipFill>
        <p:spPr>
          <a:xfrm>
            <a:off x="11384280" y="6355080"/>
            <a:ext cx="384048" cy="38404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Limites et perspectives</a:t>
            </a:r>
            <a:endParaRPr lang="en-US" sz="2700" dirty="0"/>
          </a:p>
        </p:txBody>
      </p:sp>
      <p:sp>
        <p:nvSpPr>
          <p:cNvPr id="3" name="Shape 1"/>
          <p:cNvSpPr/>
          <p:nvPr/>
        </p:nvSpPr>
        <p:spPr>
          <a:xfrm>
            <a:off x="658368" y="1417320"/>
            <a:ext cx="5394960" cy="4389120"/>
          </a:xfrm>
          <a:prstGeom prst="roundRect">
            <a:avLst>
              <a:gd name="adj" fmla="val 1250"/>
            </a:avLst>
          </a:prstGeom>
          <a:solidFill>
            <a:srgbClr val="F4F5FA"/>
          </a:solidFill>
          <a:ln/>
          <a:effectLst>
            <a:outerShdw sx="100000" sy="100000" kx="0" ky="0" algn="bl" rotWithShape="0" blurRad="127000" dist="25400" dir="5400000">
              <a:srgbClr val="1E2B4A">
                <a:alpha val="10000"/>
              </a:srgbClr>
            </a:outerShdw>
          </a:effectLst>
        </p:spPr>
      </p:sp>
      <p:sp>
        <p:nvSpPr>
          <p:cNvPr id="4" name="Shape 2"/>
          <p:cNvSpPr/>
          <p:nvPr/>
        </p:nvSpPr>
        <p:spPr>
          <a:xfrm>
            <a:off x="960120" y="1691640"/>
            <a:ext cx="777240" cy="777240"/>
          </a:xfrm>
          <a:prstGeom prst="ellipse">
            <a:avLst/>
          </a:prstGeom>
          <a:solidFill>
            <a:srgbClr val="F9E8DD"/>
          </a:solidFill>
          <a:ln w="15875">
            <a:solidFill>
              <a:srgbClr val="F1CBB3"/>
            </a:solidFill>
            <a:prstDash val="solid"/>
          </a:ln>
          <a:effectLst>
            <a:outerShdw sx="100000" sy="100000" kx="0" ky="0" algn="bl" rotWithShape="0" blurRad="127000" dist="25400" dir="5400000">
              <a:srgbClr val="1E2B4A">
                <a:alpha val="8000"/>
              </a:srgbClr>
            </a:outerShdw>
          </a:effectLst>
        </p:spPr>
      </p:sp>
      <p:pic>
        <p:nvPicPr>
          <p:cNvPr id="5" name="Image 0" descr="preencoded.png">    </p:cNvPr>
          <p:cNvPicPr>
            <a:picLocks noChangeAspect="1"/>
          </p:cNvPicPr>
          <p:nvPr/>
        </p:nvPicPr>
        <p:blipFill>
          <a:blip r:embed="rId1"/>
          <a:stretch>
            <a:fillRect/>
          </a:stretch>
        </p:blipFill>
        <p:spPr>
          <a:xfrm>
            <a:off x="1169975" y="1901495"/>
            <a:ext cx="357530" cy="357530"/>
          </a:xfrm>
          <a:prstGeom prst="rect">
            <a:avLst/>
          </a:prstGeom>
        </p:spPr>
      </p:pic>
      <p:sp>
        <p:nvSpPr>
          <p:cNvPr id="6" name="Text 3"/>
          <p:cNvSpPr/>
          <p:nvPr/>
        </p:nvSpPr>
        <p:spPr>
          <a:xfrm>
            <a:off x="1920240" y="1737360"/>
            <a:ext cx="3931920" cy="365760"/>
          </a:xfrm>
          <a:prstGeom prst="rect">
            <a:avLst/>
          </a:prstGeom>
          <a:noFill/>
          <a:ln/>
        </p:spPr>
        <p:txBody>
          <a:bodyPr wrap="square" lIns="0" tIns="0" rIns="0" bIns="0" rtlCol="0" anchor="ctr"/>
          <a:lstStyle/>
          <a:p>
            <a:pPr indent="0" marL="0">
              <a:buNone/>
            </a:pPr>
            <a:r>
              <a:rPr lang="en-US" sz="1700" b="1" dirty="0">
                <a:solidFill>
                  <a:srgbClr val="1D2433"/>
                </a:solidFill>
                <a:latin typeface="Calibri" pitchFamily="34" charset="0"/>
                <a:ea typeface="Calibri" pitchFamily="34" charset="-122"/>
                <a:cs typeface="Calibri" pitchFamily="34" charset="-120"/>
              </a:rPr>
              <a:t>Limites de l'étude</a:t>
            </a:r>
            <a:endParaRPr lang="en-US" sz="1700" dirty="0"/>
          </a:p>
        </p:txBody>
      </p:sp>
      <p:sp>
        <p:nvSpPr>
          <p:cNvPr id="7" name="Text 4"/>
          <p:cNvSpPr/>
          <p:nvPr/>
        </p:nvSpPr>
        <p:spPr>
          <a:xfrm>
            <a:off x="960120" y="2743200"/>
            <a:ext cx="4800600" cy="292608"/>
          </a:xfrm>
          <a:prstGeom prst="rect">
            <a:avLst/>
          </a:prstGeom>
          <a:noFill/>
          <a:ln/>
        </p:spPr>
        <p:txBody>
          <a:bodyPr wrap="square" lIns="0" tIns="0" rIns="0" bIns="0" rtlCol="0" anchor="ctr"/>
          <a:lstStyle/>
          <a:p>
            <a:pPr indent="0" marL="0">
              <a:buNone/>
            </a:pPr>
            <a:r>
              <a:rPr lang="en-US" sz="1350" b="1" dirty="0">
                <a:solidFill>
                  <a:srgbClr val="D96F2B"/>
                </a:solidFill>
                <a:latin typeface="Calibri" pitchFamily="34" charset="0"/>
                <a:ea typeface="Calibri" pitchFamily="34" charset="-122"/>
                <a:cs typeface="Calibri" pitchFamily="34" charset="-120"/>
              </a:rPr>
              <a:t>Tendances parallèles</a:t>
            </a:r>
            <a:endParaRPr lang="en-US" sz="1350" dirty="0"/>
          </a:p>
        </p:txBody>
      </p:sp>
      <p:sp>
        <p:nvSpPr>
          <p:cNvPr id="8" name="Text 5"/>
          <p:cNvSpPr/>
          <p:nvPr/>
        </p:nvSpPr>
        <p:spPr>
          <a:xfrm>
            <a:off x="960120" y="3072384"/>
            <a:ext cx="4800600" cy="109728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L'hypothèse n'est pas testable directement, deux vagues seulement étant disponibles. L'appariement sur les niveaux initiaux la rend plus crédible.</a:t>
            </a:r>
            <a:endParaRPr lang="en-US" sz="1200" dirty="0"/>
          </a:p>
        </p:txBody>
      </p:sp>
      <p:sp>
        <p:nvSpPr>
          <p:cNvPr id="9" name="Text 6"/>
          <p:cNvSpPr/>
          <p:nvPr/>
        </p:nvSpPr>
        <p:spPr>
          <a:xfrm>
            <a:off x="960120" y="4315968"/>
            <a:ext cx="4800600" cy="292608"/>
          </a:xfrm>
          <a:prstGeom prst="rect">
            <a:avLst/>
          </a:prstGeom>
          <a:noFill/>
          <a:ln/>
        </p:spPr>
        <p:txBody>
          <a:bodyPr wrap="square" lIns="0" tIns="0" rIns="0" bIns="0" rtlCol="0" anchor="ctr"/>
          <a:lstStyle/>
          <a:p>
            <a:pPr indent="0" marL="0">
              <a:buNone/>
            </a:pPr>
            <a:r>
              <a:rPr lang="en-US" sz="1350" b="1" dirty="0">
                <a:solidFill>
                  <a:srgbClr val="D96F2B"/>
                </a:solidFill>
                <a:latin typeface="Calibri" pitchFamily="34" charset="0"/>
                <a:ea typeface="Calibri" pitchFamily="34" charset="-122"/>
                <a:cs typeface="Calibri" pitchFamily="34" charset="-120"/>
              </a:rPr>
              <a:t>Vieillissement des enfants</a:t>
            </a:r>
            <a:endParaRPr lang="en-US" sz="1350" dirty="0"/>
          </a:p>
        </p:txBody>
      </p:sp>
      <p:sp>
        <p:nvSpPr>
          <p:cNvPr id="10" name="Text 7"/>
          <p:cNvSpPr/>
          <p:nvPr/>
        </p:nvSpPr>
        <p:spPr>
          <a:xfrm>
            <a:off x="960120" y="4645152"/>
            <a:ext cx="4800600" cy="109728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Chaque enfant est évalué sur la grille de son âge courant à chaque vague. Les groupes d'âge figés à la période de base neutralisent l'essentiel de cet effet.</a:t>
            </a:r>
            <a:endParaRPr lang="en-US" sz="1200" dirty="0"/>
          </a:p>
        </p:txBody>
      </p:sp>
      <p:sp>
        <p:nvSpPr>
          <p:cNvPr id="11" name="Shape 8"/>
          <p:cNvSpPr/>
          <p:nvPr/>
        </p:nvSpPr>
        <p:spPr>
          <a:xfrm>
            <a:off x="6263640" y="1417320"/>
            <a:ext cx="5285232" cy="4389120"/>
          </a:xfrm>
          <a:prstGeom prst="roundRect">
            <a:avLst>
              <a:gd name="adj" fmla="val 1250"/>
            </a:avLst>
          </a:prstGeom>
          <a:solidFill>
            <a:srgbClr val="F4F5FA"/>
          </a:solidFill>
          <a:ln/>
          <a:effectLst>
            <a:outerShdw sx="100000" sy="100000" kx="0" ky="0" algn="bl" rotWithShape="0" blurRad="127000" dist="25400" dir="5400000">
              <a:srgbClr val="1E2B4A">
                <a:alpha val="10000"/>
              </a:srgbClr>
            </a:outerShdw>
          </a:effectLst>
        </p:spPr>
      </p:sp>
      <p:sp>
        <p:nvSpPr>
          <p:cNvPr id="12" name="Shape 9"/>
          <p:cNvSpPr/>
          <p:nvPr/>
        </p:nvSpPr>
        <p:spPr>
          <a:xfrm>
            <a:off x="6565392" y="1691640"/>
            <a:ext cx="777240" cy="777240"/>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3" name="Image 1" descr="preencoded.png">    </p:cNvPr>
          <p:cNvPicPr>
            <a:picLocks noChangeAspect="1"/>
          </p:cNvPicPr>
          <p:nvPr/>
        </p:nvPicPr>
        <p:blipFill>
          <a:blip r:embed="rId2"/>
          <a:stretch>
            <a:fillRect/>
          </a:stretch>
        </p:blipFill>
        <p:spPr>
          <a:xfrm>
            <a:off x="6775247" y="1901495"/>
            <a:ext cx="357530" cy="357530"/>
          </a:xfrm>
          <a:prstGeom prst="rect">
            <a:avLst/>
          </a:prstGeom>
        </p:spPr>
      </p:pic>
      <p:sp>
        <p:nvSpPr>
          <p:cNvPr id="14" name="Text 10"/>
          <p:cNvSpPr/>
          <p:nvPr/>
        </p:nvSpPr>
        <p:spPr>
          <a:xfrm>
            <a:off x="7525512" y="1737360"/>
            <a:ext cx="3794760" cy="365760"/>
          </a:xfrm>
          <a:prstGeom prst="rect">
            <a:avLst/>
          </a:prstGeom>
          <a:noFill/>
          <a:ln/>
        </p:spPr>
        <p:txBody>
          <a:bodyPr wrap="square" lIns="0" tIns="0" rIns="0" bIns="0" rtlCol="0" anchor="ctr"/>
          <a:lstStyle/>
          <a:p>
            <a:pPr indent="0" marL="0">
              <a:buNone/>
            </a:pPr>
            <a:r>
              <a:rPr lang="en-US" sz="1700" b="1" dirty="0">
                <a:solidFill>
                  <a:srgbClr val="1D2433"/>
                </a:solidFill>
                <a:latin typeface="Calibri" pitchFamily="34" charset="0"/>
                <a:ea typeface="Calibri" pitchFamily="34" charset="-122"/>
                <a:cs typeface="Calibri" pitchFamily="34" charset="-120"/>
              </a:rPr>
              <a:t>Perspectives</a:t>
            </a:r>
            <a:endParaRPr lang="en-US" sz="1700" dirty="0"/>
          </a:p>
        </p:txBody>
      </p:sp>
      <p:sp>
        <p:nvSpPr>
          <p:cNvPr id="15" name="Shape 11"/>
          <p:cNvSpPr/>
          <p:nvPr/>
        </p:nvSpPr>
        <p:spPr>
          <a:xfrm>
            <a:off x="6565392" y="2798064"/>
            <a:ext cx="292608" cy="292608"/>
          </a:xfrm>
          <a:prstGeom prst="ellipse">
            <a:avLst/>
          </a:prstGeom>
          <a:solidFill>
            <a:srgbClr val="3E8C9A"/>
          </a:solidFill>
          <a:ln/>
        </p:spPr>
      </p:sp>
      <p:sp>
        <p:nvSpPr>
          <p:cNvPr id="16" name="Text 12"/>
          <p:cNvSpPr/>
          <p:nvPr/>
        </p:nvSpPr>
        <p:spPr>
          <a:xfrm>
            <a:off x="6565392" y="2807208"/>
            <a:ext cx="29260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7" name="Text 13"/>
          <p:cNvSpPr/>
          <p:nvPr/>
        </p:nvSpPr>
        <p:spPr>
          <a:xfrm>
            <a:off x="7022592" y="2743200"/>
            <a:ext cx="4206240" cy="82296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Analyser les mécanismes de transmission, dépenses en éducation, en santé et en logement.</a:t>
            </a:r>
            <a:endParaRPr lang="en-US" sz="1200" dirty="0"/>
          </a:p>
        </p:txBody>
      </p:sp>
      <p:sp>
        <p:nvSpPr>
          <p:cNvPr id="18" name="Shape 14"/>
          <p:cNvSpPr/>
          <p:nvPr/>
        </p:nvSpPr>
        <p:spPr>
          <a:xfrm>
            <a:off x="6565392" y="3822192"/>
            <a:ext cx="292608" cy="292608"/>
          </a:xfrm>
          <a:prstGeom prst="ellipse">
            <a:avLst/>
          </a:prstGeom>
          <a:solidFill>
            <a:srgbClr val="3E8C9A"/>
          </a:solidFill>
          <a:ln/>
        </p:spPr>
      </p:sp>
      <p:sp>
        <p:nvSpPr>
          <p:cNvPr id="19" name="Text 15"/>
          <p:cNvSpPr/>
          <p:nvPr/>
        </p:nvSpPr>
        <p:spPr>
          <a:xfrm>
            <a:off x="6565392" y="3831336"/>
            <a:ext cx="29260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6"/>
          <p:cNvSpPr/>
          <p:nvPr/>
        </p:nvSpPr>
        <p:spPr>
          <a:xfrm>
            <a:off x="7022592" y="3767328"/>
            <a:ext cx="4206240" cy="82296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Intégrer la durée d'exposition aux transferts et leurs usages effectifs.</a:t>
            </a:r>
            <a:endParaRPr lang="en-US" sz="1200" dirty="0"/>
          </a:p>
        </p:txBody>
      </p:sp>
      <p:sp>
        <p:nvSpPr>
          <p:cNvPr id="21" name="Shape 17"/>
          <p:cNvSpPr/>
          <p:nvPr/>
        </p:nvSpPr>
        <p:spPr>
          <a:xfrm>
            <a:off x="6565392" y="4846320"/>
            <a:ext cx="292608" cy="292608"/>
          </a:xfrm>
          <a:prstGeom prst="ellipse">
            <a:avLst/>
          </a:prstGeom>
          <a:solidFill>
            <a:srgbClr val="3E8C9A"/>
          </a:solidFill>
          <a:ln/>
        </p:spPr>
      </p:sp>
      <p:sp>
        <p:nvSpPr>
          <p:cNvPr id="22" name="Text 18"/>
          <p:cNvSpPr/>
          <p:nvPr/>
        </p:nvSpPr>
        <p:spPr>
          <a:xfrm>
            <a:off x="6565392" y="4855464"/>
            <a:ext cx="29260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19"/>
          <p:cNvSpPr/>
          <p:nvPr/>
        </p:nvSpPr>
        <p:spPr>
          <a:xfrm>
            <a:off x="7022592" y="4791456"/>
            <a:ext cx="4206240" cy="822960"/>
          </a:xfrm>
          <a:prstGeom prst="rect">
            <a:avLst/>
          </a:prstGeom>
          <a:noFill/>
          <a:ln/>
        </p:spPr>
        <p:txBody>
          <a:bodyPr wrap="square" lIns="0" tIns="0" rIns="0" bIns="0" rtlCol="0" anchor="t"/>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Étendre l'analyse aux autres pays de l'UEMOA couverts par l'EHCVM.</a:t>
            </a:r>
            <a:endParaRPr lang="en-US" sz="1200" dirty="0"/>
          </a:p>
        </p:txBody>
      </p:sp>
      <p:sp>
        <p:nvSpPr>
          <p:cNvPr id="24" name="Text 20"/>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23</a:t>
            </a:r>
            <a:endParaRPr lang="en-US" sz="950" dirty="0"/>
          </a:p>
        </p:txBody>
      </p:sp>
      <p:pic>
        <p:nvPicPr>
          <p:cNvPr id="25" name="Image 2" descr="logos/logo_ensae_new.png">    </p:cNvPr>
          <p:cNvPicPr>
            <a:picLocks noChangeAspect="1"/>
          </p:cNvPicPr>
          <p:nvPr/>
        </p:nvPicPr>
        <p:blipFill>
          <a:blip r:embed="rId3"/>
          <a:stretch>
            <a:fillRect/>
          </a:stretch>
        </p:blipFill>
        <p:spPr>
          <a:xfrm>
            <a:off x="11384280" y="6355080"/>
            <a:ext cx="384048" cy="38404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13D"/>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24365E"/>
          </a:solidFill>
          <a:ln/>
        </p:spPr>
      </p:sp>
      <p:sp>
        <p:nvSpPr>
          <p:cNvPr id="3" name="Shape 1"/>
          <p:cNvSpPr/>
          <p:nvPr/>
        </p:nvSpPr>
        <p:spPr>
          <a:xfrm>
            <a:off x="-1463040" y="4389120"/>
            <a:ext cx="4023360" cy="4023360"/>
          </a:xfrm>
          <a:prstGeom prst="ellipse">
            <a:avLst/>
          </a:prstGeom>
          <a:solidFill>
            <a:srgbClr val="24365E"/>
          </a:solidFill>
          <a:ln/>
        </p:spPr>
      </p:sp>
      <p:sp>
        <p:nvSpPr>
          <p:cNvPr id="4" name="Text 2"/>
          <p:cNvSpPr/>
          <p:nvPr/>
        </p:nvSpPr>
        <p:spPr>
          <a:xfrm>
            <a:off x="1005840" y="2231136"/>
            <a:ext cx="1280160" cy="1207008"/>
          </a:xfrm>
          <a:prstGeom prst="rect">
            <a:avLst/>
          </a:prstGeom>
          <a:noFill/>
          <a:ln/>
        </p:spPr>
        <p:txBody>
          <a:bodyPr wrap="square" lIns="0" tIns="0" rIns="0" bIns="0" rtlCol="0" anchor="ctr"/>
          <a:lstStyle/>
          <a:p>
            <a:pPr algn="l" indent="0" marL="0">
              <a:buNone/>
            </a:pPr>
            <a:r>
              <a:rPr lang="en-US" sz="7200" b="1" dirty="0">
                <a:solidFill>
                  <a:srgbClr val="D96F2B"/>
                </a:solidFill>
                <a:latin typeface="Calibri" pitchFamily="34" charset="0"/>
                <a:ea typeface="Calibri" pitchFamily="34" charset="-122"/>
                <a:cs typeface="Calibri" pitchFamily="34" charset="-120"/>
              </a:rPr>
              <a:t>06</a:t>
            </a:r>
            <a:endParaRPr lang="en-US" sz="7200" dirty="0"/>
          </a:p>
        </p:txBody>
      </p:sp>
      <p:sp>
        <p:nvSpPr>
          <p:cNvPr id="5" name="Text 3"/>
          <p:cNvSpPr/>
          <p:nvPr/>
        </p:nvSpPr>
        <p:spPr>
          <a:xfrm>
            <a:off x="2377440" y="2395728"/>
            <a:ext cx="86868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Conclusion et recommandations</a:t>
            </a:r>
            <a:endParaRPr lang="en-US" sz="3400" dirty="0"/>
          </a:p>
        </p:txBody>
      </p:sp>
      <p:sp>
        <p:nvSpPr>
          <p:cNvPr id="6" name="Text 4"/>
          <p:cNvSpPr/>
          <p:nvPr/>
        </p:nvSpPr>
        <p:spPr>
          <a:xfrm>
            <a:off x="2423160" y="3273552"/>
            <a:ext cx="8229600" cy="457200"/>
          </a:xfrm>
          <a:prstGeom prst="rect">
            <a:avLst/>
          </a:prstGeom>
          <a:noFill/>
          <a:ln/>
        </p:spPr>
        <p:txBody>
          <a:bodyPr wrap="square" lIns="0" tIns="0" rIns="0" bIns="0" rtlCol="0" anchor="t"/>
          <a:lstStyle/>
          <a:p>
            <a:pPr indent="0" marL="0">
              <a:lnSpc>
                <a:spcPts val="1800"/>
              </a:lnSpc>
              <a:buNone/>
            </a:pPr>
            <a:r>
              <a:rPr lang="en-US" sz="1400" dirty="0">
                <a:solidFill>
                  <a:srgbClr val="AFC0DA"/>
                </a:solidFill>
                <a:latin typeface="Calibri" pitchFamily="34" charset="0"/>
                <a:ea typeface="Calibri" pitchFamily="34" charset="-122"/>
                <a:cs typeface="Calibri" pitchFamily="34" charset="-120"/>
              </a:rPr>
              <a:t>Ce que l'étude établit, et ce qu'il faut en faire.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Ce que l'étude établit</a:t>
            </a:r>
            <a:endParaRPr lang="en-US" sz="2700" dirty="0"/>
          </a:p>
        </p:txBody>
      </p:sp>
      <p:sp>
        <p:nvSpPr>
          <p:cNvPr id="3" name="Shape 1"/>
          <p:cNvSpPr/>
          <p:nvPr/>
        </p:nvSpPr>
        <p:spPr>
          <a:xfrm>
            <a:off x="658368" y="1417320"/>
            <a:ext cx="10890504" cy="1417320"/>
          </a:xfrm>
          <a:prstGeom prst="roundRect">
            <a:avLst>
              <a:gd name="adj" fmla="val 3871"/>
            </a:avLst>
          </a:prstGeom>
          <a:solidFill>
            <a:srgbClr val="1E2B4A"/>
          </a:solidFill>
          <a:ln/>
          <a:effectLst>
            <a:outerShdw sx="100000" sy="100000" kx="0" ky="0" algn="bl" rotWithShape="0" blurRad="127000" dist="25400" dir="5400000">
              <a:srgbClr val="1E2B4A">
                <a:alpha val="10000"/>
              </a:srgbClr>
            </a:outerShdw>
          </a:effectLst>
        </p:spPr>
      </p:sp>
      <p:sp>
        <p:nvSpPr>
          <p:cNvPr id="4" name="Text 2"/>
          <p:cNvSpPr/>
          <p:nvPr/>
        </p:nvSpPr>
        <p:spPr>
          <a:xfrm>
            <a:off x="1097280" y="1572768"/>
            <a:ext cx="10012680" cy="1097280"/>
          </a:xfrm>
          <a:prstGeom prst="rect">
            <a:avLst/>
          </a:prstGeom>
          <a:noFill/>
          <a:ln/>
        </p:spPr>
        <p:txBody>
          <a:bodyPr wrap="square" lIns="0" tIns="0" rIns="0" bIns="0" rtlCol="0" anchor="ctr"/>
          <a:lstStyle/>
          <a:p>
            <a:pPr algn="ctr" indent="0" marL="0">
              <a:lnSpc>
                <a:spcPts val="2700"/>
              </a:lnSpc>
              <a:buNone/>
            </a:pPr>
            <a:r>
              <a:rPr lang="en-US" sz="1900" b="1" dirty="0">
                <a:solidFill>
                  <a:srgbClr val="FFFFFF"/>
                </a:solidFill>
                <a:latin typeface="Calibri" pitchFamily="34" charset="0"/>
                <a:ea typeface="Calibri" pitchFamily="34" charset="-122"/>
                <a:cs typeface="Calibri" pitchFamily="34" charset="-120"/>
              </a:rPr>
              <a:t>Sur l'horizon 2018-2021, les transferts de migrants n'ont pas réduit la pauvreté multidimensionnelle des enfants au Sénégal.</a:t>
            </a:r>
            <a:endParaRPr lang="en-US" sz="1900" dirty="0"/>
          </a:p>
        </p:txBody>
      </p:sp>
      <p:sp>
        <p:nvSpPr>
          <p:cNvPr id="5" name="Shape 3"/>
          <p:cNvSpPr/>
          <p:nvPr/>
        </p:nvSpPr>
        <p:spPr>
          <a:xfrm>
            <a:off x="658368" y="3063240"/>
            <a:ext cx="2514600" cy="2743200"/>
          </a:xfrm>
          <a:prstGeom prst="roundRect">
            <a:avLst>
              <a:gd name="adj" fmla="val 2182"/>
            </a:avLst>
          </a:prstGeom>
          <a:solidFill>
            <a:srgbClr val="F4F5FA"/>
          </a:solidFill>
          <a:ln/>
          <a:effectLst>
            <a:outerShdw sx="100000" sy="100000" kx="0" ky="0" algn="bl" rotWithShape="0" blurRad="127000" dist="25400" dir="5400000">
              <a:srgbClr val="1E2B4A">
                <a:alpha val="10000"/>
              </a:srgbClr>
            </a:outerShdw>
          </a:effectLst>
        </p:spPr>
      </p:sp>
      <p:sp>
        <p:nvSpPr>
          <p:cNvPr id="6" name="Text 4"/>
          <p:cNvSpPr/>
          <p:nvPr/>
        </p:nvSpPr>
        <p:spPr>
          <a:xfrm>
            <a:off x="795528" y="3310128"/>
            <a:ext cx="2240280" cy="685800"/>
          </a:xfrm>
          <a:prstGeom prst="rect">
            <a:avLst/>
          </a:prstGeom>
          <a:noFill/>
          <a:ln/>
        </p:spPr>
        <p:txBody>
          <a:bodyPr wrap="square" lIns="0" tIns="0" rIns="0" bIns="0" rtlCol="0" anchor="ctr"/>
          <a:lstStyle/>
          <a:p>
            <a:pPr algn="ctr" indent="0" marL="0">
              <a:buNone/>
            </a:pPr>
            <a:r>
              <a:rPr lang="en-US" sz="3600" b="1" dirty="0">
                <a:solidFill>
                  <a:srgbClr val="D96F2B"/>
                </a:solidFill>
                <a:latin typeface="Calibri" pitchFamily="34" charset="0"/>
                <a:ea typeface="Calibri" pitchFamily="34" charset="-122"/>
                <a:cs typeface="Calibri" pitchFamily="34" charset="-120"/>
              </a:rPr>
              <a:t>+6,4</a:t>
            </a:r>
            <a:endParaRPr lang="en-US" sz="3600" dirty="0"/>
          </a:p>
        </p:txBody>
      </p:sp>
      <p:sp>
        <p:nvSpPr>
          <p:cNvPr id="7" name="Text 5"/>
          <p:cNvSpPr/>
          <p:nvPr/>
        </p:nvSpPr>
        <p:spPr>
          <a:xfrm>
            <a:off x="795528" y="4005072"/>
            <a:ext cx="2240280" cy="274320"/>
          </a:xfrm>
          <a:prstGeom prst="rect">
            <a:avLst/>
          </a:prstGeom>
          <a:noFill/>
          <a:ln/>
        </p:spPr>
        <p:txBody>
          <a:bodyPr wrap="square" lIns="0" tIns="0" rIns="0" bIns="0"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points</a:t>
            </a:r>
            <a:endParaRPr lang="en-US" sz="1200" dirty="0"/>
          </a:p>
        </p:txBody>
      </p:sp>
      <p:sp>
        <p:nvSpPr>
          <p:cNvPr id="8" name="Text 6"/>
          <p:cNvSpPr/>
          <p:nvPr/>
        </p:nvSpPr>
        <p:spPr>
          <a:xfrm>
            <a:off x="859536" y="4389120"/>
            <a:ext cx="2121408" cy="1234440"/>
          </a:xfrm>
          <a:prstGeom prst="rect">
            <a:avLst/>
          </a:prstGeom>
          <a:noFill/>
          <a:ln/>
        </p:spPr>
        <p:txBody>
          <a:bodyPr wrap="square" lIns="0" tIns="0" rIns="0" bIns="0" rtlCol="0" anchor="t"/>
          <a:lstStyle/>
          <a:p>
            <a:pPr algn="ctr" indent="0" marL="0">
              <a:lnSpc>
                <a:spcPts val="1600"/>
              </a:lnSpc>
              <a:buNone/>
            </a:pPr>
            <a:r>
              <a:rPr lang="en-US" sz="1150" dirty="0">
                <a:solidFill>
                  <a:srgbClr val="4A5468"/>
                </a:solidFill>
                <a:latin typeface="Calibri" pitchFamily="34" charset="0"/>
                <a:ea typeface="Calibri" pitchFamily="34" charset="-122"/>
                <a:cs typeface="Calibri" pitchFamily="34" charset="-120"/>
              </a:rPr>
              <a:t>d'écart de trajectoire, significatif à 5 % et stable aux trois appariements.</a:t>
            </a:r>
            <a:endParaRPr lang="en-US" sz="1150" dirty="0"/>
          </a:p>
        </p:txBody>
      </p:sp>
      <p:sp>
        <p:nvSpPr>
          <p:cNvPr id="9" name="Shape 7"/>
          <p:cNvSpPr/>
          <p:nvPr/>
        </p:nvSpPr>
        <p:spPr>
          <a:xfrm>
            <a:off x="3447288" y="3063240"/>
            <a:ext cx="2514600" cy="2743200"/>
          </a:xfrm>
          <a:prstGeom prst="roundRect">
            <a:avLst>
              <a:gd name="adj" fmla="val 2182"/>
            </a:avLst>
          </a:prstGeom>
          <a:solidFill>
            <a:srgbClr val="F4F5FA"/>
          </a:solidFill>
          <a:ln/>
          <a:effectLst>
            <a:outerShdw sx="100000" sy="100000" kx="0" ky="0" algn="bl" rotWithShape="0" blurRad="127000" dist="25400" dir="5400000">
              <a:srgbClr val="1E2B4A">
                <a:alpha val="10000"/>
              </a:srgbClr>
            </a:outerShdw>
          </a:effectLst>
        </p:spPr>
      </p:sp>
      <p:sp>
        <p:nvSpPr>
          <p:cNvPr id="10" name="Text 8"/>
          <p:cNvSpPr/>
          <p:nvPr/>
        </p:nvSpPr>
        <p:spPr>
          <a:xfrm>
            <a:off x="3584448" y="3310128"/>
            <a:ext cx="2240280" cy="685800"/>
          </a:xfrm>
          <a:prstGeom prst="rect">
            <a:avLst/>
          </a:prstGeom>
          <a:noFill/>
          <a:ln/>
        </p:spPr>
        <p:txBody>
          <a:bodyPr wrap="square" lIns="0" tIns="0" rIns="0" bIns="0" rtlCol="0" anchor="ctr"/>
          <a:lstStyle/>
          <a:p>
            <a:pPr algn="ctr" indent="0" marL="0">
              <a:buNone/>
            </a:pPr>
            <a:r>
              <a:rPr lang="en-US" sz="3600" b="1" dirty="0">
                <a:solidFill>
                  <a:srgbClr val="41639E"/>
                </a:solidFill>
                <a:latin typeface="Calibri" pitchFamily="34" charset="0"/>
                <a:ea typeface="Calibri" pitchFamily="34" charset="-122"/>
                <a:cs typeface="Calibri" pitchFamily="34" charset="-120"/>
              </a:rPr>
              <a:t>1</a:t>
            </a:r>
            <a:endParaRPr lang="en-US" sz="3600" dirty="0"/>
          </a:p>
        </p:txBody>
      </p:sp>
      <p:sp>
        <p:nvSpPr>
          <p:cNvPr id="11" name="Text 9"/>
          <p:cNvSpPr/>
          <p:nvPr/>
        </p:nvSpPr>
        <p:spPr>
          <a:xfrm>
            <a:off x="3584448" y="4005072"/>
            <a:ext cx="2240280" cy="274320"/>
          </a:xfrm>
          <a:prstGeom prst="rect">
            <a:avLst/>
          </a:prstGeom>
          <a:noFill/>
          <a:ln/>
        </p:spPr>
        <p:txBody>
          <a:bodyPr wrap="square" lIns="0" tIns="0" rIns="0" bIns="0"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dimension</a:t>
            </a:r>
            <a:endParaRPr lang="en-US" sz="1200" dirty="0"/>
          </a:p>
        </p:txBody>
      </p:sp>
      <p:sp>
        <p:nvSpPr>
          <p:cNvPr id="12" name="Text 10"/>
          <p:cNvSpPr/>
          <p:nvPr/>
        </p:nvSpPr>
        <p:spPr>
          <a:xfrm>
            <a:off x="3648456" y="4389120"/>
            <a:ext cx="2121408" cy="1234440"/>
          </a:xfrm>
          <a:prstGeom prst="rect">
            <a:avLst/>
          </a:prstGeom>
          <a:noFill/>
          <a:ln/>
        </p:spPr>
        <p:txBody>
          <a:bodyPr wrap="square" lIns="0" tIns="0" rIns="0" bIns="0" rtlCol="0" anchor="t"/>
          <a:lstStyle/>
          <a:p>
            <a:pPr algn="ctr" indent="0" marL="0">
              <a:lnSpc>
                <a:spcPts val="1600"/>
              </a:lnSpc>
              <a:buNone/>
            </a:pPr>
            <a:r>
              <a:rPr lang="en-US" sz="1150" dirty="0">
                <a:solidFill>
                  <a:srgbClr val="4A5468"/>
                </a:solidFill>
                <a:latin typeface="Calibri" pitchFamily="34" charset="0"/>
                <a:ea typeface="Calibri" pitchFamily="34" charset="-122"/>
                <a:cs typeface="Calibri" pitchFamily="34" charset="-120"/>
              </a:rPr>
              <a:t>sur sept ressort, la nutrition, et un seul groupe d'âge, les 0 à 4 ans.</a:t>
            </a:r>
            <a:endParaRPr lang="en-US" sz="1150" dirty="0"/>
          </a:p>
        </p:txBody>
      </p:sp>
      <p:sp>
        <p:nvSpPr>
          <p:cNvPr id="13" name="Shape 11"/>
          <p:cNvSpPr/>
          <p:nvPr/>
        </p:nvSpPr>
        <p:spPr>
          <a:xfrm>
            <a:off x="6236208" y="3063240"/>
            <a:ext cx="2514600" cy="2743200"/>
          </a:xfrm>
          <a:prstGeom prst="roundRect">
            <a:avLst>
              <a:gd name="adj" fmla="val 2182"/>
            </a:avLst>
          </a:prstGeom>
          <a:solidFill>
            <a:srgbClr val="F4F5FA"/>
          </a:solidFill>
          <a:ln/>
          <a:effectLst>
            <a:outerShdw sx="100000" sy="100000" kx="0" ky="0" algn="bl" rotWithShape="0" blurRad="127000" dist="25400" dir="5400000">
              <a:srgbClr val="1E2B4A">
                <a:alpha val="10000"/>
              </a:srgbClr>
            </a:outerShdw>
          </a:effectLst>
        </p:spPr>
      </p:sp>
      <p:sp>
        <p:nvSpPr>
          <p:cNvPr id="14" name="Text 12"/>
          <p:cNvSpPr/>
          <p:nvPr/>
        </p:nvSpPr>
        <p:spPr>
          <a:xfrm>
            <a:off x="6373368" y="3310128"/>
            <a:ext cx="2240280" cy="685800"/>
          </a:xfrm>
          <a:prstGeom prst="rect">
            <a:avLst/>
          </a:prstGeom>
          <a:noFill/>
          <a:ln/>
        </p:spPr>
        <p:txBody>
          <a:bodyPr wrap="square" lIns="0" tIns="0" rIns="0" bIns="0" rtlCol="0" anchor="ctr"/>
          <a:lstStyle/>
          <a:p>
            <a:pPr algn="ctr" indent="0" marL="0">
              <a:buNone/>
            </a:pPr>
            <a:r>
              <a:rPr lang="en-US" sz="3600" b="1" dirty="0">
                <a:solidFill>
                  <a:srgbClr val="3E8C9A"/>
                </a:solidFill>
                <a:latin typeface="Calibri" pitchFamily="34" charset="0"/>
                <a:ea typeface="Calibri" pitchFamily="34" charset="-122"/>
                <a:cs typeface="Calibri" pitchFamily="34" charset="-120"/>
              </a:rPr>
              <a:t>Q1-Q2</a:t>
            </a:r>
            <a:endParaRPr lang="en-US" sz="3600" dirty="0"/>
          </a:p>
        </p:txBody>
      </p:sp>
      <p:sp>
        <p:nvSpPr>
          <p:cNvPr id="15" name="Text 13"/>
          <p:cNvSpPr/>
          <p:nvPr/>
        </p:nvSpPr>
        <p:spPr>
          <a:xfrm>
            <a:off x="6373368" y="4005072"/>
            <a:ext cx="2240280" cy="274320"/>
          </a:xfrm>
          <a:prstGeom prst="rect">
            <a:avLst/>
          </a:prstGeom>
          <a:noFill/>
          <a:ln/>
        </p:spPr>
        <p:txBody>
          <a:bodyPr wrap="square" lIns="0" tIns="0" rIns="0" bIns="0"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seulement</a:t>
            </a:r>
            <a:endParaRPr lang="en-US" sz="1200" dirty="0"/>
          </a:p>
        </p:txBody>
      </p:sp>
      <p:sp>
        <p:nvSpPr>
          <p:cNvPr id="16" name="Text 14"/>
          <p:cNvSpPr/>
          <p:nvPr/>
        </p:nvSpPr>
        <p:spPr>
          <a:xfrm>
            <a:off x="6437376" y="4389120"/>
            <a:ext cx="2121408" cy="1234440"/>
          </a:xfrm>
          <a:prstGeom prst="rect">
            <a:avLst/>
          </a:prstGeom>
          <a:noFill/>
          <a:ln/>
        </p:spPr>
        <p:txBody>
          <a:bodyPr wrap="square" lIns="0" tIns="0" rIns="0" bIns="0" rtlCol="0" anchor="t"/>
          <a:lstStyle/>
          <a:p>
            <a:pPr algn="ctr" indent="0" marL="0">
              <a:lnSpc>
                <a:spcPts val="1600"/>
              </a:lnSpc>
              <a:buNone/>
            </a:pPr>
            <a:r>
              <a:rPr lang="en-US" sz="1150" dirty="0">
                <a:solidFill>
                  <a:srgbClr val="4A5468"/>
                </a:solidFill>
                <a:latin typeface="Calibri" pitchFamily="34" charset="0"/>
                <a:ea typeface="Calibri" pitchFamily="34" charset="-122"/>
                <a:cs typeface="Calibri" pitchFamily="34" charset="-120"/>
              </a:rPr>
              <a:t>les deux premiers quintiles de montant portent l'écart observé.</a:t>
            </a:r>
            <a:endParaRPr lang="en-US" sz="1150" dirty="0"/>
          </a:p>
        </p:txBody>
      </p:sp>
      <p:sp>
        <p:nvSpPr>
          <p:cNvPr id="17" name="Shape 15"/>
          <p:cNvSpPr/>
          <p:nvPr/>
        </p:nvSpPr>
        <p:spPr>
          <a:xfrm>
            <a:off x="9025128" y="3063240"/>
            <a:ext cx="2514600" cy="2743200"/>
          </a:xfrm>
          <a:prstGeom prst="roundRect">
            <a:avLst>
              <a:gd name="adj" fmla="val 2182"/>
            </a:avLst>
          </a:prstGeom>
          <a:solidFill>
            <a:srgbClr val="F4F5FA"/>
          </a:solidFill>
          <a:ln/>
          <a:effectLst>
            <a:outerShdw sx="100000" sy="100000" kx="0" ky="0" algn="bl" rotWithShape="0" blurRad="127000" dist="25400" dir="5400000">
              <a:srgbClr val="1E2B4A">
                <a:alpha val="10000"/>
              </a:srgbClr>
            </a:outerShdw>
          </a:effectLst>
        </p:spPr>
      </p:sp>
      <p:sp>
        <p:nvSpPr>
          <p:cNvPr id="18" name="Text 16"/>
          <p:cNvSpPr/>
          <p:nvPr/>
        </p:nvSpPr>
        <p:spPr>
          <a:xfrm>
            <a:off x="9162288" y="3310128"/>
            <a:ext cx="2240280" cy="685800"/>
          </a:xfrm>
          <a:prstGeom prst="rect">
            <a:avLst/>
          </a:prstGeom>
          <a:noFill/>
          <a:ln/>
        </p:spPr>
        <p:txBody>
          <a:bodyPr wrap="square" lIns="0" tIns="0" rIns="0" bIns="0" rtlCol="0" anchor="ctr"/>
          <a:lstStyle/>
          <a:p>
            <a:pPr algn="ctr" indent="0" marL="0">
              <a:buNone/>
            </a:pPr>
            <a:r>
              <a:rPr lang="en-US" sz="3600" b="1" dirty="0">
                <a:solidFill>
                  <a:srgbClr val="C98A24"/>
                </a:solidFill>
                <a:latin typeface="Calibri" pitchFamily="34" charset="0"/>
                <a:ea typeface="Calibri" pitchFamily="34" charset="-122"/>
                <a:cs typeface="Calibri" pitchFamily="34" charset="-120"/>
              </a:rPr>
              <a:t>0</a:t>
            </a:r>
            <a:endParaRPr lang="en-US" sz="3600" dirty="0"/>
          </a:p>
        </p:txBody>
      </p:sp>
      <p:sp>
        <p:nvSpPr>
          <p:cNvPr id="19" name="Text 17"/>
          <p:cNvSpPr/>
          <p:nvPr/>
        </p:nvSpPr>
        <p:spPr>
          <a:xfrm>
            <a:off x="9162288" y="4005072"/>
            <a:ext cx="2240280" cy="274320"/>
          </a:xfrm>
          <a:prstGeom prst="rect">
            <a:avLst/>
          </a:prstGeom>
          <a:noFill/>
          <a:ln/>
        </p:spPr>
        <p:txBody>
          <a:bodyPr wrap="square" lIns="0" tIns="0" rIns="0" bIns="0" rtlCol="0" anchor="ctr"/>
          <a:lstStyle/>
          <a:p>
            <a:pPr algn="ctr" indent="0" marL="0">
              <a:buNone/>
            </a:pPr>
            <a:r>
              <a:rPr lang="en-US" sz="1200" b="1" dirty="0">
                <a:solidFill>
                  <a:srgbClr val="1D2433"/>
                </a:solidFill>
                <a:latin typeface="Calibri" pitchFamily="34" charset="0"/>
                <a:ea typeface="Calibri" pitchFamily="34" charset="-122"/>
                <a:cs typeface="Calibri" pitchFamily="34" charset="-120"/>
              </a:rPr>
              <a:t>test concluant</a:t>
            </a:r>
            <a:endParaRPr lang="en-US" sz="1200" dirty="0"/>
          </a:p>
        </p:txBody>
      </p:sp>
      <p:sp>
        <p:nvSpPr>
          <p:cNvPr id="20" name="Text 18"/>
          <p:cNvSpPr/>
          <p:nvPr/>
        </p:nvSpPr>
        <p:spPr>
          <a:xfrm>
            <a:off x="9226296" y="4389120"/>
            <a:ext cx="2121408" cy="1234440"/>
          </a:xfrm>
          <a:prstGeom prst="rect">
            <a:avLst/>
          </a:prstGeom>
          <a:noFill/>
          <a:ln/>
        </p:spPr>
        <p:txBody>
          <a:bodyPr wrap="square" lIns="0" tIns="0" rIns="0" bIns="0" rtlCol="0" anchor="t"/>
          <a:lstStyle/>
          <a:p>
            <a:pPr algn="ctr" indent="0" marL="0">
              <a:lnSpc>
                <a:spcPts val="1600"/>
              </a:lnSpc>
              <a:buNone/>
            </a:pPr>
            <a:r>
              <a:rPr lang="en-US" sz="1150" dirty="0">
                <a:solidFill>
                  <a:srgbClr val="4A5468"/>
                </a:solidFill>
                <a:latin typeface="Calibri" pitchFamily="34" charset="0"/>
                <a:ea typeface="Calibri" pitchFamily="34" charset="-122"/>
                <a:cs typeface="Calibri" pitchFamily="34" charset="-120"/>
              </a:rPr>
              <a:t>par milieu, genre du chef de ménage ou tranche d'âge.</a:t>
            </a:r>
            <a:endParaRPr lang="en-US" sz="1150" dirty="0"/>
          </a:p>
        </p:txBody>
      </p:sp>
      <p:sp>
        <p:nvSpPr>
          <p:cNvPr id="21" name="Text 19"/>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25</a:t>
            </a:r>
            <a:endParaRPr lang="en-US" sz="950" dirty="0"/>
          </a:p>
        </p:txBody>
      </p:sp>
      <p:pic>
        <p:nvPicPr>
          <p:cNvPr id="22" name="Image 0" descr="logos/logo_ensae_new.png">    </p:cNvPr>
          <p:cNvPicPr>
            <a:picLocks noChangeAspect="1"/>
          </p:cNvPicPr>
          <p:nvPr/>
        </p:nvPicPr>
        <p:blipFill>
          <a:blip r:embed="rId1"/>
          <a:stretch>
            <a:fillRect/>
          </a:stretch>
        </p:blipFill>
        <p:spPr>
          <a:xfrm>
            <a:off x="11384280" y="6355080"/>
            <a:ext cx="384048" cy="38404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30352"/>
          </a:xfrm>
          <a:prstGeom prst="rect">
            <a:avLst/>
          </a:prstGeom>
          <a:noFill/>
          <a:ln/>
        </p:spPr>
        <p:txBody>
          <a:bodyPr wrap="square" lIns="0" tIns="0" rIns="0" bIns="0" rtlCol="0" anchor="ctr"/>
          <a:lstStyle/>
          <a:p>
            <a:pPr indent="0" marL="0">
              <a:buNone/>
            </a:pPr>
            <a:r>
              <a:rPr lang="en-US" sz="2700" b="1" dirty="0">
                <a:solidFill>
                  <a:srgbClr val="1E2B4A"/>
                </a:solidFill>
                <a:latin typeface="Calibri" pitchFamily="34" charset="0"/>
                <a:ea typeface="Calibri" pitchFamily="34" charset="-122"/>
                <a:cs typeface="Calibri" pitchFamily="34" charset="-120"/>
              </a:rPr>
              <a:t>Recommandations de politique économique</a:t>
            </a:r>
            <a:endParaRPr lang="en-US" sz="2700" dirty="0"/>
          </a:p>
        </p:txBody>
      </p:sp>
      <p:sp>
        <p:nvSpPr>
          <p:cNvPr id="3" name="Text 1"/>
          <p:cNvSpPr/>
          <p:nvPr/>
        </p:nvSpPr>
        <p:spPr>
          <a:xfrm>
            <a:off x="548640" y="896112"/>
            <a:ext cx="11064240" cy="475488"/>
          </a:xfrm>
          <a:prstGeom prst="rect">
            <a:avLst/>
          </a:prstGeom>
          <a:noFill/>
          <a:ln/>
        </p:spPr>
        <p:txBody>
          <a:bodyPr wrap="square" lIns="0" tIns="0" rIns="0" bIns="0" rtlCol="0" anchor="t"/>
          <a:lstStyle/>
          <a:p>
            <a:pPr indent="0" marL="0">
              <a:lnSpc>
                <a:spcPts val="1700"/>
              </a:lnSpc>
              <a:buNone/>
            </a:pPr>
            <a:r>
              <a:rPr lang="en-US" sz="1300" dirty="0">
                <a:solidFill>
                  <a:srgbClr val="4A5468"/>
                </a:solidFill>
                <a:latin typeface="Calibri" pitchFamily="34" charset="0"/>
                <a:ea typeface="Calibri" pitchFamily="34" charset="-122"/>
                <a:cs typeface="Calibri" pitchFamily="34" charset="-120"/>
              </a:rPr>
              <a:t>Elles suivent l'ordre des faits établis, de la dimension et du groupe d'âge sur lesquels l'écart se concentre jusqu'aux conditions de conversion des transferts.</a:t>
            </a:r>
            <a:endParaRPr lang="en-US" sz="1300" dirty="0"/>
          </a:p>
        </p:txBody>
      </p:sp>
      <p:sp>
        <p:nvSpPr>
          <p:cNvPr id="4" name="Shape 2"/>
          <p:cNvSpPr/>
          <p:nvPr/>
        </p:nvSpPr>
        <p:spPr>
          <a:xfrm>
            <a:off x="658368" y="1783080"/>
            <a:ext cx="10890504" cy="1234440"/>
          </a:xfrm>
          <a:prstGeom prst="roundRect">
            <a:avLst>
              <a:gd name="adj" fmla="val 4444"/>
            </a:avLst>
          </a:prstGeom>
          <a:solidFill>
            <a:srgbClr val="F4F5FA"/>
          </a:solidFill>
          <a:ln/>
          <a:effectLst>
            <a:outerShdw sx="100000" sy="100000" kx="0" ky="0" algn="bl" rotWithShape="0" blurRad="127000" dist="25400" dir="5400000">
              <a:srgbClr val="1E2B4A">
                <a:alpha val="10000"/>
              </a:srgbClr>
            </a:outerShdw>
          </a:effectLst>
        </p:spPr>
      </p:sp>
      <p:sp>
        <p:nvSpPr>
          <p:cNvPr id="5" name="Shape 3"/>
          <p:cNvSpPr/>
          <p:nvPr/>
        </p:nvSpPr>
        <p:spPr>
          <a:xfrm>
            <a:off x="960120" y="2002536"/>
            <a:ext cx="804672" cy="804672"/>
          </a:xfrm>
          <a:prstGeom prst="ellipse">
            <a:avLst/>
          </a:prstGeom>
          <a:solidFill>
            <a:srgbClr val="F6ECDC"/>
          </a:solidFill>
          <a:ln w="15875">
            <a:solidFill>
              <a:srgbClr val="ECD5B0"/>
            </a:solidFill>
            <a:prstDash val="solid"/>
          </a:ln>
          <a:effectLst>
            <a:outerShdw sx="100000" sy="100000" kx="0" ky="0" algn="bl" rotWithShape="0" blurRad="127000" dist="25400" dir="5400000">
              <a:srgbClr val="1E2B4A">
                <a:alpha val="8000"/>
              </a:srgbClr>
            </a:outerShdw>
          </a:effectLst>
        </p:spPr>
      </p:sp>
      <p:pic>
        <p:nvPicPr>
          <p:cNvPr id="6" name="Image 0" descr="preencoded.png">    </p:cNvPr>
          <p:cNvPicPr>
            <a:picLocks noChangeAspect="1"/>
          </p:cNvPicPr>
          <p:nvPr/>
        </p:nvPicPr>
        <p:blipFill>
          <a:blip r:embed="rId1"/>
          <a:stretch>
            <a:fillRect/>
          </a:stretch>
        </p:blipFill>
        <p:spPr>
          <a:xfrm>
            <a:off x="1177381" y="2219797"/>
            <a:ext cx="370149" cy="370149"/>
          </a:xfrm>
          <a:prstGeom prst="rect">
            <a:avLst/>
          </a:prstGeom>
        </p:spPr>
      </p:pic>
      <p:sp>
        <p:nvSpPr>
          <p:cNvPr id="7" name="Text 4"/>
          <p:cNvSpPr/>
          <p:nvPr/>
        </p:nvSpPr>
        <p:spPr>
          <a:xfrm>
            <a:off x="1965960" y="1965960"/>
            <a:ext cx="3200400" cy="868680"/>
          </a:xfrm>
          <a:prstGeom prst="rect">
            <a:avLst/>
          </a:prstGeom>
          <a:noFill/>
          <a:ln/>
        </p:spPr>
        <p:txBody>
          <a:bodyPr wrap="square" lIns="0" tIns="0" rIns="0" bIns="0" rtlCol="0" anchor="ctr"/>
          <a:lstStyle/>
          <a:p>
            <a:pPr indent="0" marL="0">
              <a:lnSpc>
                <a:spcPts val="1800"/>
              </a:lnSpc>
              <a:buNone/>
            </a:pPr>
            <a:r>
              <a:rPr lang="en-US" sz="1450" b="1" dirty="0">
                <a:solidFill>
                  <a:srgbClr val="1D2433"/>
                </a:solidFill>
                <a:latin typeface="Calibri" pitchFamily="34" charset="0"/>
                <a:ea typeface="Calibri" pitchFamily="34" charset="-122"/>
                <a:cs typeface="Calibri" pitchFamily="34" charset="-120"/>
              </a:rPr>
              <a:t>Sécurité alimentaire et enfants de 0 à 4 ans</a:t>
            </a:r>
            <a:endParaRPr lang="en-US" sz="1450" dirty="0"/>
          </a:p>
        </p:txBody>
      </p:sp>
      <p:sp>
        <p:nvSpPr>
          <p:cNvPr id="8" name="Text 5"/>
          <p:cNvSpPr/>
          <p:nvPr/>
        </p:nvSpPr>
        <p:spPr>
          <a:xfrm>
            <a:off x="5394960" y="1965960"/>
            <a:ext cx="5852160" cy="868680"/>
          </a:xfrm>
          <a:prstGeom prst="rect">
            <a:avLst/>
          </a:prstGeom>
          <a:noFill/>
          <a:ln/>
        </p:spPr>
        <p:txBody>
          <a:bodyPr wrap="square" lIns="0" tIns="0" rIns="0" bIns="0" rtlCol="0" anchor="ctr"/>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Filets sociaux, cantines scolaires et suivi nutritionnel en priorité dans les communes d'émigration, sans écarter les ménages bénéficiaires au motif qu'ils reçoivent une ressource extérieure.</a:t>
            </a:r>
            <a:endParaRPr lang="en-US" sz="1200" dirty="0"/>
          </a:p>
        </p:txBody>
      </p:sp>
      <p:sp>
        <p:nvSpPr>
          <p:cNvPr id="9" name="Shape 6"/>
          <p:cNvSpPr/>
          <p:nvPr/>
        </p:nvSpPr>
        <p:spPr>
          <a:xfrm>
            <a:off x="658368" y="3200400"/>
            <a:ext cx="10890504" cy="1234440"/>
          </a:xfrm>
          <a:prstGeom prst="roundRect">
            <a:avLst>
              <a:gd name="adj" fmla="val 4444"/>
            </a:avLst>
          </a:prstGeom>
          <a:solidFill>
            <a:srgbClr val="F4F5FA"/>
          </a:solidFill>
          <a:ln/>
          <a:effectLst>
            <a:outerShdw sx="100000" sy="100000" kx="0" ky="0" algn="bl" rotWithShape="0" blurRad="127000" dist="25400" dir="5400000">
              <a:srgbClr val="1E2B4A">
                <a:alpha val="10000"/>
              </a:srgbClr>
            </a:outerShdw>
          </a:effectLst>
        </p:spPr>
      </p:sp>
      <p:sp>
        <p:nvSpPr>
          <p:cNvPr id="10" name="Shape 7"/>
          <p:cNvSpPr/>
          <p:nvPr/>
        </p:nvSpPr>
        <p:spPr>
          <a:xfrm>
            <a:off x="960120" y="3419856"/>
            <a:ext cx="804672" cy="804672"/>
          </a:xfrm>
          <a:prstGeom prst="ellipse">
            <a:avLst/>
          </a:prstGeom>
          <a:solidFill>
            <a:srgbClr val="E1E6EF"/>
          </a:solidFill>
          <a:ln w="15875">
            <a:solidFill>
              <a:srgbClr val="BBC7DC"/>
            </a:solidFill>
            <a:prstDash val="solid"/>
          </a:ln>
          <a:effectLst>
            <a:outerShdw sx="100000" sy="100000" kx="0" ky="0" algn="bl" rotWithShape="0" blurRad="127000" dist="25400" dir="5400000">
              <a:srgbClr val="1E2B4A">
                <a:alpha val="8000"/>
              </a:srgbClr>
            </a:outerShdw>
          </a:effectLst>
        </p:spPr>
      </p:sp>
      <p:pic>
        <p:nvPicPr>
          <p:cNvPr id="11" name="Image 1" descr="preencoded.png">    </p:cNvPr>
          <p:cNvPicPr>
            <a:picLocks noChangeAspect="1"/>
          </p:cNvPicPr>
          <p:nvPr/>
        </p:nvPicPr>
        <p:blipFill>
          <a:blip r:embed="rId2"/>
          <a:stretch>
            <a:fillRect/>
          </a:stretch>
        </p:blipFill>
        <p:spPr>
          <a:xfrm>
            <a:off x="1177381" y="3637117"/>
            <a:ext cx="370149" cy="370149"/>
          </a:xfrm>
          <a:prstGeom prst="rect">
            <a:avLst/>
          </a:prstGeom>
        </p:spPr>
      </p:pic>
      <p:sp>
        <p:nvSpPr>
          <p:cNvPr id="12" name="Text 8"/>
          <p:cNvSpPr/>
          <p:nvPr/>
        </p:nvSpPr>
        <p:spPr>
          <a:xfrm>
            <a:off x="1965960" y="3383280"/>
            <a:ext cx="3200400" cy="868680"/>
          </a:xfrm>
          <a:prstGeom prst="rect">
            <a:avLst/>
          </a:prstGeom>
          <a:noFill/>
          <a:ln/>
        </p:spPr>
        <p:txBody>
          <a:bodyPr wrap="square" lIns="0" tIns="0" rIns="0" bIns="0" rtlCol="0" anchor="ctr"/>
          <a:lstStyle/>
          <a:p>
            <a:pPr indent="0" marL="0">
              <a:lnSpc>
                <a:spcPts val="1800"/>
              </a:lnSpc>
              <a:buNone/>
            </a:pPr>
            <a:r>
              <a:rPr lang="en-US" sz="1450" b="1" dirty="0">
                <a:solidFill>
                  <a:srgbClr val="1D2433"/>
                </a:solidFill>
                <a:latin typeface="Calibri" pitchFamily="34" charset="0"/>
                <a:ea typeface="Calibri" pitchFamily="34" charset="-122"/>
                <a:cs typeface="Calibri" pitchFamily="34" charset="-120"/>
              </a:rPr>
              <a:t>Compléter par l'offre publique de services</a:t>
            </a:r>
            <a:endParaRPr lang="en-US" sz="1450" dirty="0"/>
          </a:p>
        </p:txBody>
      </p:sp>
      <p:sp>
        <p:nvSpPr>
          <p:cNvPr id="13" name="Text 9"/>
          <p:cNvSpPr/>
          <p:nvPr/>
        </p:nvSpPr>
        <p:spPr>
          <a:xfrm>
            <a:off x="5394960" y="3383280"/>
            <a:ext cx="5852160" cy="868680"/>
          </a:xfrm>
          <a:prstGeom prst="rect">
            <a:avLst/>
          </a:prstGeom>
          <a:noFill/>
          <a:ln/>
        </p:spPr>
        <p:txBody>
          <a:bodyPr wrap="square" lIns="0" tIns="0" rIns="0" bIns="0" rtlCol="0" anchor="ctr"/>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L'eau, l'assainissement et la santé relèvent d'investissements collectifs que le pouvoir d'achat privé ne remplace pas. Cibler prioritairement les communes rurales d'émigration.</a:t>
            </a:r>
            <a:endParaRPr lang="en-US" sz="1200" dirty="0"/>
          </a:p>
        </p:txBody>
      </p:sp>
      <p:sp>
        <p:nvSpPr>
          <p:cNvPr id="14" name="Shape 10"/>
          <p:cNvSpPr/>
          <p:nvPr/>
        </p:nvSpPr>
        <p:spPr>
          <a:xfrm>
            <a:off x="658368" y="4617720"/>
            <a:ext cx="10890504" cy="1234440"/>
          </a:xfrm>
          <a:prstGeom prst="roundRect">
            <a:avLst>
              <a:gd name="adj" fmla="val 4444"/>
            </a:avLst>
          </a:prstGeom>
          <a:solidFill>
            <a:srgbClr val="F4F5FA"/>
          </a:solidFill>
          <a:ln/>
          <a:effectLst>
            <a:outerShdw sx="100000" sy="100000" kx="0" ky="0" algn="bl" rotWithShape="0" blurRad="127000" dist="25400" dir="5400000">
              <a:srgbClr val="1E2B4A">
                <a:alpha val="10000"/>
              </a:srgbClr>
            </a:outerShdw>
          </a:effectLst>
        </p:spPr>
      </p:sp>
      <p:sp>
        <p:nvSpPr>
          <p:cNvPr id="15" name="Shape 11"/>
          <p:cNvSpPr/>
          <p:nvPr/>
        </p:nvSpPr>
        <p:spPr>
          <a:xfrm>
            <a:off x="960120" y="4837176"/>
            <a:ext cx="804672" cy="804672"/>
          </a:xfrm>
          <a:prstGeom prst="ellipse">
            <a:avLst/>
          </a:prstGeom>
          <a:solidFill>
            <a:srgbClr val="E0EDEF"/>
          </a:solidFill>
          <a:ln w="15875">
            <a:solidFill>
              <a:srgbClr val="BAD6DB"/>
            </a:solidFill>
            <a:prstDash val="solid"/>
          </a:ln>
          <a:effectLst>
            <a:outerShdw sx="100000" sy="100000" kx="0" ky="0" algn="bl" rotWithShape="0" blurRad="127000" dist="25400" dir="5400000">
              <a:srgbClr val="1E2B4A">
                <a:alpha val="8000"/>
              </a:srgbClr>
            </a:outerShdw>
          </a:effectLst>
        </p:spPr>
      </p:sp>
      <p:pic>
        <p:nvPicPr>
          <p:cNvPr id="16" name="Image 2" descr="preencoded.png">    </p:cNvPr>
          <p:cNvPicPr>
            <a:picLocks noChangeAspect="1"/>
          </p:cNvPicPr>
          <p:nvPr/>
        </p:nvPicPr>
        <p:blipFill>
          <a:blip r:embed="rId3"/>
          <a:stretch>
            <a:fillRect/>
          </a:stretch>
        </p:blipFill>
        <p:spPr>
          <a:xfrm>
            <a:off x="1177381" y="5054437"/>
            <a:ext cx="370149" cy="370149"/>
          </a:xfrm>
          <a:prstGeom prst="rect">
            <a:avLst/>
          </a:prstGeom>
        </p:spPr>
      </p:pic>
      <p:sp>
        <p:nvSpPr>
          <p:cNvPr id="17" name="Text 12"/>
          <p:cNvSpPr/>
          <p:nvPr/>
        </p:nvSpPr>
        <p:spPr>
          <a:xfrm>
            <a:off x="1965960" y="4800600"/>
            <a:ext cx="3200400" cy="868680"/>
          </a:xfrm>
          <a:prstGeom prst="rect">
            <a:avLst/>
          </a:prstGeom>
          <a:noFill/>
          <a:ln/>
        </p:spPr>
        <p:txBody>
          <a:bodyPr wrap="square" lIns="0" tIns="0" rIns="0" bIns="0" rtlCol="0" anchor="ctr"/>
          <a:lstStyle/>
          <a:p>
            <a:pPr indent="0" marL="0">
              <a:lnSpc>
                <a:spcPts val="1800"/>
              </a:lnSpc>
              <a:buNone/>
            </a:pPr>
            <a:r>
              <a:rPr lang="en-US" sz="1450" b="1" dirty="0">
                <a:solidFill>
                  <a:srgbClr val="1D2433"/>
                </a:solidFill>
                <a:latin typeface="Calibri" pitchFamily="34" charset="0"/>
                <a:ea typeface="Calibri" pitchFamily="34" charset="-122"/>
                <a:cs typeface="Calibri" pitchFamily="34" charset="-120"/>
              </a:rPr>
              <a:t>Cibler les petits montants, réduire les coûts</a:t>
            </a:r>
            <a:endParaRPr lang="en-US" sz="1450" dirty="0"/>
          </a:p>
        </p:txBody>
      </p:sp>
      <p:sp>
        <p:nvSpPr>
          <p:cNvPr id="18" name="Text 13"/>
          <p:cNvSpPr/>
          <p:nvPr/>
        </p:nvSpPr>
        <p:spPr>
          <a:xfrm>
            <a:off x="5394960" y="4800600"/>
            <a:ext cx="5852160" cy="868680"/>
          </a:xfrm>
          <a:prstGeom prst="rect">
            <a:avLst/>
          </a:prstGeom>
          <a:noFill/>
          <a:ln/>
        </p:spPr>
        <p:txBody>
          <a:bodyPr wrap="square" lIns="0" tIns="0" rIns="0" bIns="0" rtlCol="0" anchor="ctr"/>
          <a:lstStyle/>
          <a:p>
            <a:pPr indent="0" marL="0">
              <a:lnSpc>
                <a:spcPts val="1650"/>
              </a:lnSpc>
              <a:buNone/>
            </a:pPr>
            <a:r>
              <a:rPr lang="en-US" sz="1200" dirty="0">
                <a:solidFill>
                  <a:srgbClr val="4A5468"/>
                </a:solidFill>
                <a:latin typeface="Calibri" pitchFamily="34" charset="0"/>
                <a:ea typeface="Calibri" pitchFamily="34" charset="-122"/>
                <a:cs typeface="Calibri" pitchFamily="34" charset="-120"/>
              </a:rPr>
              <a:t>Accompagner les ménages qui reçoivent le moins, et réduire les coûts de transaction des envois formels pour accroître les fonds réellement disponibles.</a:t>
            </a:r>
            <a:endParaRPr lang="en-US" sz="1200" dirty="0"/>
          </a:p>
        </p:txBody>
      </p:sp>
      <p:sp>
        <p:nvSpPr>
          <p:cNvPr id="19" name="Text 14"/>
          <p:cNvSpPr/>
          <p:nvPr/>
        </p:nvSpPr>
        <p:spPr>
          <a:xfrm>
            <a:off x="10881360" y="6455664"/>
            <a:ext cx="365760" cy="237744"/>
          </a:xfrm>
          <a:prstGeom prst="rect">
            <a:avLst/>
          </a:prstGeom>
          <a:noFill/>
          <a:ln/>
        </p:spPr>
        <p:txBody>
          <a:bodyPr wrap="square" lIns="0" tIns="0" rIns="0" bIns="0" rtlCol="0" anchor="ctr"/>
          <a:lstStyle/>
          <a:p>
            <a:pPr algn="r" indent="0" marL="0">
              <a:buNone/>
            </a:pPr>
            <a:r>
              <a:rPr lang="en-US" sz="950" dirty="0">
                <a:solidFill>
                  <a:srgbClr val="8A93A5"/>
                </a:solidFill>
                <a:latin typeface="Calibri" pitchFamily="34" charset="0"/>
                <a:ea typeface="Calibri" pitchFamily="34" charset="-122"/>
                <a:cs typeface="Calibri" pitchFamily="34" charset="-120"/>
              </a:rPr>
              <a:t>26</a:t>
            </a:r>
            <a:endParaRPr lang="en-US" sz="950" dirty="0"/>
          </a:p>
        </p:txBody>
      </p:sp>
      <p:pic>
        <p:nvPicPr>
          <p:cNvPr id="20" name="Image 3" descr="logos/logo_ensae_new.png">    </p:cNvPr>
          <p:cNvPicPr>
            <a:picLocks noChangeAspect="1"/>
          </p:cNvPicPr>
          <p:nvPr/>
        </p:nvPicPr>
        <p:blipFill>
          <a:blip r:embed="rId4"/>
          <a:stretch>
            <a:fillRect/>
          </a:stretch>
        </p:blipFill>
        <p:spPr>
          <a:xfrm>
            <a:off x="11384280" y="6355080"/>
            <a:ext cx="384048" cy="38404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13D"/>
        </a:solidFill>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24365E"/>
          </a:solidFill>
          <a:ln/>
        </p:spPr>
      </p:sp>
      <p:sp>
        <p:nvSpPr>
          <p:cNvPr id="3" name="Shape 1"/>
          <p:cNvSpPr/>
          <p:nvPr/>
        </p:nvSpPr>
        <p:spPr>
          <a:xfrm>
            <a:off x="-2011680" y="4023360"/>
            <a:ext cx="4754880" cy="4754880"/>
          </a:xfrm>
          <a:prstGeom prst="ellipse">
            <a:avLst/>
          </a:prstGeom>
          <a:solidFill>
            <a:srgbClr val="24365E"/>
          </a:solidFill>
          <a:ln/>
        </p:spPr>
      </p:sp>
      <p:sp>
        <p:nvSpPr>
          <p:cNvPr id="4" name="Text 2"/>
          <p:cNvSpPr/>
          <p:nvPr/>
        </p:nvSpPr>
        <p:spPr>
          <a:xfrm>
            <a:off x="914400" y="2514600"/>
            <a:ext cx="10360152"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Merci de votre attention</a:t>
            </a:r>
            <a:endParaRPr lang="en-US" sz="4200" dirty="0"/>
          </a:p>
        </p:txBody>
      </p:sp>
      <p:sp>
        <p:nvSpPr>
          <p:cNvPr id="5" name="Text 3"/>
          <p:cNvSpPr/>
          <p:nvPr/>
        </p:nvSpPr>
        <p:spPr>
          <a:xfrm>
            <a:off x="914400" y="3611880"/>
            <a:ext cx="10360152" cy="310896"/>
          </a:xfrm>
          <a:prstGeom prst="rect">
            <a:avLst/>
          </a:prstGeom>
          <a:noFill/>
          <a:ln/>
        </p:spPr>
        <p:txBody>
          <a:bodyPr wrap="square" lIns="0" tIns="0" rIns="0" bIns="0" rtlCol="0" anchor="ctr"/>
          <a:lstStyle/>
          <a:p>
            <a:pPr algn="ctr" indent="0" marL="0">
              <a:buNone/>
            </a:pPr>
            <a:r>
              <a:rPr lang="en-US" sz="1400" dirty="0">
                <a:solidFill>
                  <a:srgbClr val="D96F2B"/>
                </a:solidFill>
                <a:latin typeface="Calibri" pitchFamily="34" charset="0"/>
                <a:ea typeface="Calibri" pitchFamily="34" charset="-122"/>
                <a:cs typeface="Calibri" pitchFamily="34" charset="-120"/>
              </a:rPr>
              <a:t>Sié Rachid TRAORÉ   ·   sous la direction de Mamadou Abdoulaye DIALLO</a:t>
            </a:r>
            <a:endParaRPr lang="en-US" sz="1400" dirty="0"/>
          </a:p>
        </p:txBody>
      </p:sp>
      <p:sp>
        <p:nvSpPr>
          <p:cNvPr id="6" name="Text 4"/>
          <p:cNvSpPr/>
          <p:nvPr/>
        </p:nvSpPr>
        <p:spPr>
          <a:xfrm>
            <a:off x="914400" y="3977640"/>
            <a:ext cx="10360152" cy="292608"/>
          </a:xfrm>
          <a:prstGeom prst="rect">
            <a:avLst/>
          </a:prstGeom>
          <a:noFill/>
          <a:ln/>
        </p:spPr>
        <p:txBody>
          <a:bodyPr wrap="square" lIns="0" tIns="0" rIns="0" bIns="0" rtlCol="0" anchor="ctr"/>
          <a:lstStyle/>
          <a:p>
            <a:pPr algn="ctr" indent="0" marL="0">
              <a:buNone/>
            </a:pPr>
            <a:r>
              <a:rPr lang="en-US" sz="1250" dirty="0">
                <a:solidFill>
                  <a:srgbClr val="8FA6CC"/>
                </a:solidFill>
                <a:latin typeface="Calibri" pitchFamily="34" charset="0"/>
                <a:ea typeface="Calibri" pitchFamily="34" charset="-122"/>
                <a:cs typeface="Calibri" pitchFamily="34" charset="-120"/>
              </a:rPr>
              <a:t>ENSAE Pierre Ndiaye   ·   Août 2026</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ENSAE Pierre Ndiaye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Transferts de migrants et pauvrete multidimensionnelle des enfants au Senegal</dc:title>
  <dc:subject>PptxGenJS Presentation</dc:subject>
  <dc:creator>Sie Rachid TRAORE</dc:creator>
  <cp:lastModifiedBy>Sie Rachid TRAORE</cp:lastModifiedBy>
  <cp:revision>1</cp:revision>
  <dcterms:created xsi:type="dcterms:W3CDTF">2026-08-02T21:22:58Z</dcterms:created>
  <dcterms:modified xsi:type="dcterms:W3CDTF">2026-08-02T21:22:58Z</dcterms:modified>
</cp:coreProperties>
</file>