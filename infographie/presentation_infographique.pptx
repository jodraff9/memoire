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852160" cy="585216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-2194560" y="3840480"/>
            <a:ext cx="5120640" cy="512064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11480"/>
            <a:ext cx="12344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312E81">
                <a:alpha val="22000"/>
              </a:srgbClr>
            </a:outerShdw>
          </a:effectLst>
        </p:spPr>
      </p:sp>
      <p:pic>
        <p:nvPicPr>
          <p:cNvPr id="5" name="Image 0" descr="logos/logo_ensae_n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0352"/>
            <a:ext cx="996696" cy="9966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0387584" y="411480"/>
            <a:ext cx="12344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312E81">
                <a:alpha val="22000"/>
              </a:srgbClr>
            </a:outerShdw>
          </a:effectLst>
        </p:spPr>
      </p:sp>
      <p:pic>
        <p:nvPicPr>
          <p:cNvPr id="7" name="Image 1" descr="logos/logo_ans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6456" y="612648"/>
            <a:ext cx="996696" cy="83210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0" y="50292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200" kern="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RÉPUBLIQUE DU SÉNÉGAL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0" y="804672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École nationale de la statistique et de l'analyse économique Pierre Ndiaye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1005840" y="1691640"/>
            <a:ext cx="1017727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42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des transferts de migrants sur la pauvreté</a:t>
            </a:r>
            <a:endParaRPr lang="en-US" sz="3100" dirty="0"/>
          </a:p>
          <a:p>
            <a:pPr algn="ctr" indent="0" marL="0">
              <a:lnSpc>
                <a:spcPts val="42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multidimensionnelle des enfants au Sénégal</a:t>
            </a:r>
            <a:endParaRPr lang="en-US" sz="3100" dirty="0"/>
          </a:p>
        </p:txBody>
      </p:sp>
      <p:sp>
        <p:nvSpPr>
          <p:cNvPr id="11" name="Text 7"/>
          <p:cNvSpPr/>
          <p:nvPr/>
        </p:nvSpPr>
        <p:spPr>
          <a:xfrm>
            <a:off x="1005840" y="3429000"/>
            <a:ext cx="10177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Mémoire de fin d'études, ingénieur statisticien économiste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2286000" y="422452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2286000" y="448056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Sié Rachid TRAORÉ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2103120" y="4791456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Élève ingénieur statisticien économiste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83680" y="422452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 la direction de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6583680" y="448056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Mamadou Abdoulaye DIALLO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400800" y="4791456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Chercheur postdoctoral en économie appliquée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0" y="5806440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Août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la présentation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78408" y="1883664"/>
            <a:ext cx="841248" cy="841248"/>
          </a:xfrm>
          <a:prstGeom prst="ellipse">
            <a:avLst/>
          </a:prstGeom>
          <a:solidFill>
            <a:srgbClr val="E3E1FB"/>
          </a:solidFill>
          <a:ln w="15875">
            <a:solidFill>
              <a:srgbClr val="C0BCF6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5545" y="2110801"/>
            <a:ext cx="386974" cy="38697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291840" y="1792224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978408" y="2816352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et problématique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978408" y="312724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réalités qui se rejoignent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773168" y="1883664"/>
            <a:ext cx="841248" cy="841248"/>
          </a:xfrm>
          <a:prstGeom prst="ellipse">
            <a:avLst/>
          </a:prstGeom>
          <a:solidFill>
            <a:srgbClr val="F9E9D7"/>
          </a:solidFill>
          <a:ln w="15875">
            <a:solidFill>
              <a:srgbClr val="F1CEA5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305" y="2110801"/>
            <a:ext cx="386974" cy="38697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086600" y="1792224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1" name="Text 7"/>
          <p:cNvSpPr/>
          <p:nvPr/>
        </p:nvSpPr>
        <p:spPr>
          <a:xfrm>
            <a:off x="4773168" y="2816352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Revue de la littérature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4773168" y="312724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Canaux, mesure et lacune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567928" y="1883664"/>
            <a:ext cx="841248" cy="841248"/>
          </a:xfrm>
          <a:prstGeom prst="ellipse">
            <a:avLst/>
          </a:prstGeom>
          <a:solidFill>
            <a:srgbClr val="F9DCE9"/>
          </a:solidFill>
          <a:ln w="15875">
            <a:solidFill>
              <a:srgbClr val="F2B1CE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5065" y="2110801"/>
            <a:ext cx="386974" cy="38697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0881360" y="1792224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16" name="Text 11"/>
          <p:cNvSpPr/>
          <p:nvPr/>
        </p:nvSpPr>
        <p:spPr>
          <a:xfrm>
            <a:off x="8567928" y="2816352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Cadre méthodologique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8567928" y="312724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 et identification PSM-DD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978408" y="4215384"/>
            <a:ext cx="841248" cy="841248"/>
          </a:xfrm>
          <a:prstGeom prst="ellipse">
            <a:avLst/>
          </a:prstGeom>
          <a:solidFill>
            <a:srgbClr val="D7EDF3"/>
          </a:solidFill>
          <a:ln w="15875">
            <a:solidFill>
              <a:srgbClr val="A6D7E3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5545" y="4442521"/>
            <a:ext cx="386974" cy="38697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3291840" y="4123944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21" name="Text 15"/>
          <p:cNvSpPr/>
          <p:nvPr/>
        </p:nvSpPr>
        <p:spPr>
          <a:xfrm>
            <a:off x="978408" y="5148072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empiriques</a:t>
            </a:r>
            <a:endParaRPr lang="en-US" sz="1450" dirty="0"/>
          </a:p>
        </p:txBody>
      </p:sp>
      <p:sp>
        <p:nvSpPr>
          <p:cNvPr id="22" name="Text 16"/>
          <p:cNvSpPr/>
          <p:nvPr/>
        </p:nvSpPr>
        <p:spPr>
          <a:xfrm>
            <a:off x="978408" y="54589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Effet, dimensions, montants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4773168" y="4215384"/>
            <a:ext cx="841248" cy="841248"/>
          </a:xfrm>
          <a:prstGeom prst="ellipse">
            <a:avLst/>
          </a:prstGeom>
          <a:solidFill>
            <a:srgbClr val="E3E1FB"/>
          </a:solidFill>
          <a:ln w="15875">
            <a:solidFill>
              <a:srgbClr val="C0BCF6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0305" y="4442521"/>
            <a:ext cx="386974" cy="386974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086600" y="4123944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000" dirty="0"/>
          </a:p>
        </p:txBody>
      </p:sp>
      <p:sp>
        <p:nvSpPr>
          <p:cNvPr id="26" name="Text 19"/>
          <p:cNvSpPr/>
          <p:nvPr/>
        </p:nvSpPr>
        <p:spPr>
          <a:xfrm>
            <a:off x="4773168" y="5148072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Robustesse et discussion</a:t>
            </a:r>
            <a:endParaRPr lang="en-US" sz="1450" dirty="0"/>
          </a:p>
        </p:txBody>
      </p:sp>
      <p:sp>
        <p:nvSpPr>
          <p:cNvPr id="27" name="Text 20"/>
          <p:cNvSpPr/>
          <p:nvPr/>
        </p:nvSpPr>
        <p:spPr>
          <a:xfrm>
            <a:off x="4773168" y="54589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tient et ce qui ne tient pas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8567928" y="4215384"/>
            <a:ext cx="841248" cy="841248"/>
          </a:xfrm>
          <a:prstGeom prst="ellipse">
            <a:avLst/>
          </a:prstGeom>
          <a:solidFill>
            <a:srgbClr val="F9E9D7"/>
          </a:solidFill>
          <a:ln w="15875">
            <a:solidFill>
              <a:srgbClr val="F1CEA5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95065" y="4442521"/>
            <a:ext cx="386974" cy="386974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10881360" y="4123944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000" dirty="0"/>
          </a:p>
        </p:txBody>
      </p:sp>
      <p:sp>
        <p:nvSpPr>
          <p:cNvPr id="31" name="Text 23"/>
          <p:cNvSpPr/>
          <p:nvPr/>
        </p:nvSpPr>
        <p:spPr>
          <a:xfrm>
            <a:off x="8567928" y="5148072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et recommandations</a:t>
            </a:r>
            <a:endParaRPr lang="en-US" sz="1450" dirty="0"/>
          </a:p>
        </p:txBody>
      </p:sp>
      <p:sp>
        <p:nvSpPr>
          <p:cNvPr id="32" name="Text 24"/>
          <p:cNvSpPr/>
          <p:nvPr/>
        </p:nvSpPr>
        <p:spPr>
          <a:xfrm>
            <a:off x="8567928" y="54589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faut en faire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10881360" y="645566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34" name="Image 6" descr="logos/logo_ensae_ne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84280" y="6355080"/>
            <a:ext cx="38404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réalités qui se rejoignent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0120" y="1600200"/>
            <a:ext cx="868680" cy="868680"/>
          </a:xfrm>
          <a:prstGeom prst="ellipse">
            <a:avLst/>
          </a:prstGeom>
          <a:solidFill>
            <a:srgbClr val="E3E1FB"/>
          </a:solidFill>
          <a:ln w="15875">
            <a:solidFill>
              <a:srgbClr val="C0BCF6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834744"/>
            <a:ext cx="399593" cy="39959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029968" y="1664208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ressource extérieure de premier plan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914400" y="2697480"/>
            <a:ext cx="2286000" cy="578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2 220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914400" y="329387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de dollars reçus en 2017,</a:t>
            </a:r>
            <a:endParaRPr lang="en-US" sz="1200" dirty="0"/>
          </a:p>
          <a:p>
            <a:pPr algn="ctr"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contre 233 en 2000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383280" y="2697480"/>
            <a:ext cx="2286000" cy="578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12,1 %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3383280" y="329387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produit intérieur brut,</a:t>
            </a:r>
            <a:endParaRPr lang="en-US" sz="1200" dirty="0"/>
          </a:p>
          <a:p>
            <a:pPr algn="ctr"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4ᵉ récepteur subsaharien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914400" y="416052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l'échelle des ménages, les montants reçus avoisinent le seuil de pauvreté monétaire annuel par tête.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14400" y="5349240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ANSD et OIM, profil migratoire 2018.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583680" y="1600200"/>
            <a:ext cx="868680" cy="868680"/>
          </a:xfrm>
          <a:prstGeom prst="ellipse">
            <a:avLst/>
          </a:prstGeom>
          <a:solidFill>
            <a:srgbClr val="F9E9D7"/>
          </a:solidFill>
          <a:ln w="15875">
            <a:solidFill>
              <a:srgbClr val="F1CEA5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8224" y="1834744"/>
            <a:ext cx="399593" cy="39959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653528" y="166420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privations infantiles d'ampleur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537960" y="2697480"/>
            <a:ext cx="2286000" cy="578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50,7 %</a:t>
            </a:r>
            <a:endParaRPr lang="en-US" sz="3400" dirty="0"/>
          </a:p>
        </p:txBody>
      </p:sp>
      <p:sp>
        <p:nvSpPr>
          <p:cNvPr id="16" name="Text 12"/>
          <p:cNvSpPr/>
          <p:nvPr/>
        </p:nvSpPr>
        <p:spPr>
          <a:xfrm>
            <a:off x="6537960" y="329387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enfants de 0 à 17 ans privés</a:t>
            </a:r>
            <a:endParaRPr lang="en-US" sz="1200" dirty="0"/>
          </a:p>
          <a:p>
            <a:pPr algn="ctr"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au moins 4 des 7 domaines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9006840" y="2697480"/>
            <a:ext cx="2286000" cy="578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400" dirty="0"/>
          </a:p>
        </p:txBody>
      </p:sp>
      <p:sp>
        <p:nvSpPr>
          <p:cNvPr id="18" name="Text 14"/>
          <p:cNvSpPr/>
          <p:nvPr/>
        </p:nvSpPr>
        <p:spPr>
          <a:xfrm>
            <a:off x="9006840" y="329387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domaines du bien-être,</a:t>
            </a:r>
            <a:endParaRPr lang="en-US" sz="1200" dirty="0"/>
          </a:p>
          <a:p>
            <a:pPr algn="ctr"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l'eau à l'éducation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6537960" y="416052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manques échappent aux mesures fondées sur le seul revenu : un enfant peut vivre au-dessus du seuil monétaire et rester déscolarisé.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6537960" y="53492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ANSD et UNICEF, 2024.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10881360" y="645566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pic>
        <p:nvPicPr>
          <p:cNvPr id="22" name="Image 2" descr="logos/logo_ensae_ne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4280" y="6355080"/>
            <a:ext cx="38404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Problématique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371600" y="1417320"/>
            <a:ext cx="9445752" cy="1481328"/>
          </a:xfrm>
          <a:prstGeom prst="roundRect">
            <a:avLst>
              <a:gd name="adj" fmla="val 3704"/>
            </a:avLst>
          </a:prstGeom>
          <a:solidFill>
            <a:srgbClr val="312E81"/>
          </a:solidFill>
          <a:ln/>
        </p:spPr>
      </p:sp>
      <p:sp>
        <p:nvSpPr>
          <p:cNvPr id="4" name="Text 2"/>
          <p:cNvSpPr/>
          <p:nvPr/>
        </p:nvSpPr>
        <p:spPr>
          <a:xfrm>
            <a:off x="1645920" y="1572768"/>
            <a:ext cx="88971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1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quelle mesure les transferts de migrants réduisent-ils</a:t>
            </a:r>
            <a:endParaRPr lang="en-US" sz="2100" dirty="0"/>
          </a:p>
          <a:p>
            <a:pPr algn="ctr" indent="0" marL="0">
              <a:lnSpc>
                <a:spcPts val="31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pauvreté multidimensionnelle des enfants au Sénégal ?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874520" y="3401568"/>
            <a:ext cx="2057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réponse qui n'a rien d'évident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420624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transferts desserrent la contrainte budgétaire, sans qu'un supplément de ressources se traduise mécaniquement par un recul des privations.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669280" y="3401568"/>
            <a:ext cx="2057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enjeu d'identification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09160" y="420624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Recevoir des transferts suppose un réseau migratoire : les ménages bénéficiaires diffèrent des autres avant même le premier franc reçu.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464040" y="3401568"/>
            <a:ext cx="2057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lacune dans la littérature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503920" y="420624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étude recensée ne combine mesure multidimensionnelle de la pauvreté infantile et identification sur panel en Afrique de l'Ouest.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14400" y="3429000"/>
            <a:ext cx="822960" cy="822960"/>
          </a:xfrm>
          <a:prstGeom prst="ellipse">
            <a:avLst/>
          </a:prstGeom>
          <a:solidFill>
            <a:srgbClr val="F9E9D7"/>
          </a:solidFill>
          <a:ln w="15875">
            <a:solidFill>
              <a:srgbClr val="F1CEA5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6599" y="3651199"/>
            <a:ext cx="378562" cy="378562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709160" y="3429000"/>
            <a:ext cx="822960" cy="822960"/>
          </a:xfrm>
          <a:prstGeom prst="ellipse">
            <a:avLst/>
          </a:prstGeom>
          <a:solidFill>
            <a:srgbClr val="D7EDF3"/>
          </a:solidFill>
          <a:ln w="15875">
            <a:solidFill>
              <a:srgbClr val="A6D7E3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1359" y="3651199"/>
            <a:ext cx="378562" cy="37856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8503920" y="3429000"/>
            <a:ext cx="822960" cy="822960"/>
          </a:xfrm>
          <a:prstGeom prst="ellipse">
            <a:avLst/>
          </a:prstGeom>
          <a:solidFill>
            <a:srgbClr val="F9DCE9"/>
          </a:solidFill>
          <a:ln w="15875">
            <a:solidFill>
              <a:srgbClr val="F2B1CE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6119" y="3651199"/>
            <a:ext cx="378562" cy="37856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881360" y="645566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pic>
        <p:nvPicPr>
          <p:cNvPr id="18" name="Image 3" descr="logos/logo_ensae_ne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4280" y="6355080"/>
            <a:ext cx="38404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et hypothèses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0120" y="1600200"/>
            <a:ext cx="822960" cy="822960"/>
          </a:xfrm>
          <a:prstGeom prst="ellipse">
            <a:avLst/>
          </a:prstGeom>
          <a:solidFill>
            <a:srgbClr val="E3E1FB"/>
          </a:solidFill>
          <a:ln w="15875">
            <a:solidFill>
              <a:srgbClr val="C0BCF6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2319" y="1822399"/>
            <a:ext cx="378562" cy="3785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965960" y="166420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960120" y="265176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Évaluer l'impact des transferts de migrants sur la pauvreté multidimensionnelle des enfants au Sénégal.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960120" y="3520440"/>
            <a:ext cx="329184" cy="329184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3538728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444752" y="3493008"/>
            <a:ext cx="4251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Construire un indice de pauvreté multidimensionnelle adapté aux enfants sénégalais.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960120" y="4544568"/>
            <a:ext cx="329184" cy="329184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1" name="Text 8"/>
          <p:cNvSpPr/>
          <p:nvPr/>
        </p:nvSpPr>
        <p:spPr>
          <a:xfrm>
            <a:off x="960120" y="4562856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444752" y="4517136"/>
            <a:ext cx="4251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Estimer l'impact des transferts sur cet indice et en analyser l'hétérogénéité.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583680" y="1600200"/>
            <a:ext cx="822960" cy="822960"/>
          </a:xfrm>
          <a:prstGeom prst="ellipse">
            <a:avLst/>
          </a:prstGeom>
          <a:solidFill>
            <a:srgbClr val="F9E9D7"/>
          </a:solidFill>
          <a:ln w="15875">
            <a:solidFill>
              <a:srgbClr val="F1CEA5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5879" y="1822399"/>
            <a:ext cx="378562" cy="37856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589520" y="166420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Hypothèses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537960" y="2651760"/>
            <a:ext cx="4754880" cy="137160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/>
        </p:spPr>
      </p:sp>
      <p:sp>
        <p:nvSpPr>
          <p:cNvPr id="17" name="Text 13"/>
          <p:cNvSpPr/>
          <p:nvPr/>
        </p:nvSpPr>
        <p:spPr>
          <a:xfrm>
            <a:off x="6766560" y="288036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7498080" y="2834640"/>
            <a:ext cx="3611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transferts de migrants réduisent significativement la pauvreté multidimensionnelle des enfants.</a:t>
            </a:r>
            <a:endParaRPr lang="en-US" sz="1350" dirty="0"/>
          </a:p>
        </p:txBody>
      </p:sp>
      <p:sp>
        <p:nvSpPr>
          <p:cNvPr id="19" name="Shape 15"/>
          <p:cNvSpPr/>
          <p:nvPr/>
        </p:nvSpPr>
        <p:spPr>
          <a:xfrm>
            <a:off x="6537960" y="4224528"/>
            <a:ext cx="4754880" cy="137160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/>
        </p:spPr>
      </p:sp>
      <p:sp>
        <p:nvSpPr>
          <p:cNvPr id="20" name="Text 16"/>
          <p:cNvSpPr/>
          <p:nvPr/>
        </p:nvSpPr>
        <p:spPr>
          <a:xfrm>
            <a:off x="6766560" y="4453128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</a:t>
            </a:r>
            <a:endParaRPr lang="en-US" sz="2200" dirty="0"/>
          </a:p>
        </p:txBody>
      </p:sp>
      <p:sp>
        <p:nvSpPr>
          <p:cNvPr id="21" name="Text 17"/>
          <p:cNvSpPr/>
          <p:nvPr/>
        </p:nvSpPr>
        <p:spPr>
          <a:xfrm>
            <a:off x="7498080" y="4407408"/>
            <a:ext cx="3611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Leur impact est hétérogène selon les dimensions, le milieu, le genre du chef de ménage, l'âge de l'enfant et le montant reçu.</a:t>
            </a:r>
            <a:endParaRPr lang="en-US" sz="1350" dirty="0"/>
          </a:p>
        </p:txBody>
      </p:sp>
      <p:sp>
        <p:nvSpPr>
          <p:cNvPr id="22" name="Text 18"/>
          <p:cNvSpPr/>
          <p:nvPr/>
        </p:nvSpPr>
        <p:spPr>
          <a:xfrm>
            <a:off x="10881360" y="645566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23" name="Image 2" descr="logos/logo_ensae_ne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4280" y="6355080"/>
            <a:ext cx="38404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les migrants transfèrent, et avec quels effets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60120" y="157276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familles de motivations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960120" y="2212848"/>
            <a:ext cx="274320" cy="27432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5" name="Text 3"/>
          <p:cNvSpPr/>
          <p:nvPr/>
        </p:nvSpPr>
        <p:spPr>
          <a:xfrm>
            <a:off x="1417320" y="21214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Altruisme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417320" y="2432304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transferts décroissent avec le revenu du receveur.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417320" y="288950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Lucas &amp; Stark, 1985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60120" y="3538728"/>
            <a:ext cx="274320" cy="27432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344728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Intérêt personnel et échange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3758184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Préserver un héritage, rembourser la dette du départ.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417320" y="421538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Rapoport &amp; Docquier, 2006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60120" y="4864608"/>
            <a:ext cx="274320" cy="27432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3" name="Text 11"/>
          <p:cNvSpPr/>
          <p:nvPr/>
        </p:nvSpPr>
        <p:spPr>
          <a:xfrm>
            <a:off x="1417320" y="477316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Diversification du risque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17320" y="5084064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transferts assurent le ménage contre les chocs.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417320" y="554126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Stark &amp; Bloom, 1985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0" y="1572768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la littérature empirique établit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635240" y="21214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Pauvreté monétaire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635240" y="2432304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Recul modeste, atténué par les coûts.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635240" y="28895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Azam &amp; Gubert, 2006 ; Combes &amp; Ebeke, 2011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635240" y="34472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Éducation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635240" y="3758184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Scolarisation et capital humain en hausse.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635240" y="42153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Cox Edwards &amp; Ureta, 2003 ; Yang, 2008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635240" y="477316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635240" y="5084064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Effets fragiles, liés au maintien du lien.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635240" y="55412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Davis &amp; Brazil, 2016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583680" y="2176272"/>
            <a:ext cx="749808" cy="749808"/>
          </a:xfrm>
          <a:prstGeom prst="ellipse">
            <a:avLst/>
          </a:prstGeom>
          <a:solidFill>
            <a:srgbClr val="E3E1FB"/>
          </a:solidFill>
          <a:ln w="15875">
            <a:solidFill>
              <a:srgbClr val="C0BCF6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6128" y="2378720"/>
            <a:ext cx="344912" cy="344912"/>
          </a:xfrm>
          <a:prstGeom prst="rect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6583680" y="3502152"/>
            <a:ext cx="749808" cy="749808"/>
          </a:xfrm>
          <a:prstGeom prst="ellipse">
            <a:avLst/>
          </a:prstGeom>
          <a:solidFill>
            <a:srgbClr val="D7EDF3"/>
          </a:solidFill>
          <a:ln w="15875">
            <a:solidFill>
              <a:srgbClr val="A6D7E3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6128" y="3704600"/>
            <a:ext cx="344912" cy="344912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6583680" y="4828032"/>
            <a:ext cx="749808" cy="749808"/>
          </a:xfrm>
          <a:prstGeom prst="ellipse">
            <a:avLst/>
          </a:prstGeom>
          <a:solidFill>
            <a:srgbClr val="F9E9D7"/>
          </a:solidFill>
          <a:ln w="15875">
            <a:solidFill>
              <a:srgbClr val="F1CEA5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6128" y="5030480"/>
            <a:ext cx="344912" cy="344912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0881360" y="645566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pic>
        <p:nvPicPr>
          <p:cNvPr id="33" name="Image 3" descr="logos/logo_ensae_ne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4280" y="6355080"/>
            <a:ext cx="38404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Mesurer la pauvreté de l'enfant, l'approche MODA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 dimensions, 14 indicateurs, trois groupes d'âge. Un enfant est pauvre s'il est privé dans au moins quatre dimensions.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87552" y="2011680"/>
            <a:ext cx="822960" cy="822960"/>
          </a:xfrm>
          <a:prstGeom prst="ellipse">
            <a:avLst/>
          </a:prstGeom>
          <a:solidFill>
            <a:srgbClr val="E3E1FB"/>
          </a:solidFill>
          <a:ln w="15875">
            <a:solidFill>
              <a:srgbClr val="C0BCF6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9751" y="2233879"/>
            <a:ext cx="378562" cy="3785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2962656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Assainissement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551176" y="2011680"/>
            <a:ext cx="822960" cy="822960"/>
          </a:xfrm>
          <a:prstGeom prst="ellipse">
            <a:avLst/>
          </a:prstGeom>
          <a:solidFill>
            <a:srgbClr val="F9DCE9"/>
          </a:solidFill>
          <a:ln w="15875">
            <a:solidFill>
              <a:srgbClr val="F2B1CE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3375" y="2233879"/>
            <a:ext cx="378562" cy="37856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267712" y="2962656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Eau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114800" y="2011680"/>
            <a:ext cx="822960" cy="822960"/>
          </a:xfrm>
          <a:prstGeom prst="ellipse">
            <a:avLst/>
          </a:prstGeom>
          <a:solidFill>
            <a:srgbClr val="E3E1FB"/>
          </a:solidFill>
          <a:ln w="15875">
            <a:solidFill>
              <a:srgbClr val="C0BCF6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6999" y="2233879"/>
            <a:ext cx="378562" cy="37856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831336" y="2962656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Logement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678424" y="2011680"/>
            <a:ext cx="822960" cy="822960"/>
          </a:xfrm>
          <a:prstGeom prst="ellipse">
            <a:avLst/>
          </a:prstGeom>
          <a:solidFill>
            <a:srgbClr val="F9E9D7"/>
          </a:solidFill>
          <a:ln w="15875">
            <a:solidFill>
              <a:srgbClr val="F1CEA5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0623" y="2233879"/>
            <a:ext cx="378562" cy="37856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394960" y="2962656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Nutrition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7242048" y="2011680"/>
            <a:ext cx="822960" cy="822960"/>
          </a:xfrm>
          <a:prstGeom prst="ellipse">
            <a:avLst/>
          </a:prstGeom>
          <a:solidFill>
            <a:srgbClr val="D7EDF3"/>
          </a:solidFill>
          <a:ln w="15875">
            <a:solidFill>
              <a:srgbClr val="A6D7E3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4247" y="2233879"/>
            <a:ext cx="378562" cy="378562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958584" y="2962656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Santé</a:t>
            </a:r>
            <a:endParaRPr lang="en-US" sz="1300" dirty="0"/>
          </a:p>
        </p:txBody>
      </p:sp>
      <p:sp>
        <p:nvSpPr>
          <p:cNvPr id="19" name="Shape 12"/>
          <p:cNvSpPr/>
          <p:nvPr/>
        </p:nvSpPr>
        <p:spPr>
          <a:xfrm>
            <a:off x="8805672" y="2011680"/>
            <a:ext cx="822960" cy="822960"/>
          </a:xfrm>
          <a:prstGeom prst="ellipse">
            <a:avLst/>
          </a:prstGeom>
          <a:solidFill>
            <a:srgbClr val="F9DCE9"/>
          </a:solidFill>
          <a:ln w="15875">
            <a:solidFill>
              <a:srgbClr val="F2B1CE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27871" y="2233879"/>
            <a:ext cx="378562" cy="378562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8522208" y="2962656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10369296" y="2011680"/>
            <a:ext cx="822960" cy="822960"/>
          </a:xfrm>
          <a:prstGeom prst="ellipse">
            <a:avLst/>
          </a:prstGeom>
          <a:solidFill>
            <a:srgbClr val="E3E1FB"/>
          </a:solidFill>
          <a:ln w="15875">
            <a:solidFill>
              <a:srgbClr val="C0BCF6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91495" y="2233879"/>
            <a:ext cx="378562" cy="378562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10085832" y="2962656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Éducation</a:t>
            </a:r>
            <a:endParaRPr lang="en-US" sz="1300" dirty="0"/>
          </a:p>
        </p:txBody>
      </p:sp>
      <p:sp>
        <p:nvSpPr>
          <p:cNvPr id="25" name="Text 16"/>
          <p:cNvSpPr/>
          <p:nvPr/>
        </p:nvSpPr>
        <p:spPr>
          <a:xfrm>
            <a:off x="960120" y="40690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seuils, comme le veut l'approche</a:t>
            </a:r>
            <a:endParaRPr lang="en-US" sz="1450" dirty="0"/>
          </a:p>
        </p:txBody>
      </p:sp>
      <p:sp>
        <p:nvSpPr>
          <p:cNvPr id="26" name="Text 17"/>
          <p:cNvSpPr/>
          <p:nvPr/>
        </p:nvSpPr>
        <p:spPr>
          <a:xfrm>
            <a:off x="960120" y="44348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Intra-dimension, l'enfant est privé s'il l'est dans au moins un indicateur de la dimension.</a:t>
            </a: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Inter-dimensions, il est pauvre s'il cumule au moins quatre des sept dimensions.</a:t>
            </a:r>
            <a:endParaRPr lang="en-US" sz="1350" dirty="0"/>
          </a:p>
        </p:txBody>
      </p:sp>
      <p:sp>
        <p:nvSpPr>
          <p:cNvPr id="27" name="Text 18"/>
          <p:cNvSpPr/>
          <p:nvPr/>
        </p:nvSpPr>
        <p:spPr>
          <a:xfrm>
            <a:off x="6656832" y="4069080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indicateurs adaptés à l'âge</a:t>
            </a:r>
            <a:endParaRPr lang="en-US" sz="1450" dirty="0"/>
          </a:p>
        </p:txBody>
      </p:sp>
      <p:sp>
        <p:nvSpPr>
          <p:cNvPr id="28" name="Text 19"/>
          <p:cNvSpPr/>
          <p:nvPr/>
        </p:nvSpPr>
        <p:spPr>
          <a:xfrm>
            <a:off x="6656832" y="4480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à 4 ans</a:t>
            </a:r>
            <a:endParaRPr lang="en-US" sz="1400" dirty="0"/>
          </a:p>
        </p:txBody>
      </p:sp>
      <p:sp>
        <p:nvSpPr>
          <p:cNvPr id="29" name="Text 20"/>
          <p:cNvSpPr/>
          <p:nvPr/>
        </p:nvSpPr>
        <p:spPr>
          <a:xfrm>
            <a:off x="6656832" y="47731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indicateurs</a:t>
            </a:r>
            <a:endParaRPr lang="en-US" sz="1300" dirty="0"/>
          </a:p>
        </p:txBody>
      </p:sp>
      <p:sp>
        <p:nvSpPr>
          <p:cNvPr id="30" name="Text 21"/>
          <p:cNvSpPr/>
          <p:nvPr/>
        </p:nvSpPr>
        <p:spPr>
          <a:xfrm>
            <a:off x="8229600" y="4480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à 14 ans</a:t>
            </a:r>
            <a:endParaRPr lang="en-US" sz="1400" dirty="0"/>
          </a:p>
        </p:txBody>
      </p:sp>
      <p:sp>
        <p:nvSpPr>
          <p:cNvPr id="31" name="Text 22"/>
          <p:cNvSpPr/>
          <p:nvPr/>
        </p:nvSpPr>
        <p:spPr>
          <a:xfrm>
            <a:off x="8229600" y="47731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indicateurs</a:t>
            </a:r>
            <a:endParaRPr lang="en-US" sz="1300" dirty="0"/>
          </a:p>
        </p:txBody>
      </p:sp>
      <p:sp>
        <p:nvSpPr>
          <p:cNvPr id="32" name="Text 23"/>
          <p:cNvSpPr/>
          <p:nvPr/>
        </p:nvSpPr>
        <p:spPr>
          <a:xfrm>
            <a:off x="9802368" y="4480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à 17 ans</a:t>
            </a:r>
            <a:endParaRPr lang="en-US" sz="1400" dirty="0"/>
          </a:p>
        </p:txBody>
      </p:sp>
      <p:sp>
        <p:nvSpPr>
          <p:cNvPr id="33" name="Text 24"/>
          <p:cNvSpPr/>
          <p:nvPr/>
        </p:nvSpPr>
        <p:spPr>
          <a:xfrm>
            <a:off x="9802368" y="47731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indicateurs</a:t>
            </a:r>
            <a:endParaRPr lang="en-US" sz="1300" dirty="0"/>
          </a:p>
        </p:txBody>
      </p:sp>
      <p:sp>
        <p:nvSpPr>
          <p:cNvPr id="34" name="Text 25"/>
          <p:cNvSpPr/>
          <p:nvPr/>
        </p:nvSpPr>
        <p:spPr>
          <a:xfrm>
            <a:off x="6656832" y="513892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L'illettrisme remplace chez les adolescents les indicateurs propres aux 0 à 4 ans.</a:t>
            </a:r>
            <a:endParaRPr lang="en-US" sz="1300" dirty="0"/>
          </a:p>
        </p:txBody>
      </p:sp>
      <p:sp>
        <p:nvSpPr>
          <p:cNvPr id="35" name="Text 26"/>
          <p:cNvSpPr/>
          <p:nvPr/>
        </p:nvSpPr>
        <p:spPr>
          <a:xfrm>
            <a:off x="548640" y="645566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Matrice complète des indicateurs et des seuils en annexe du mémoire.</a:t>
            </a:r>
            <a:endParaRPr lang="en-US" sz="1000" dirty="0"/>
          </a:p>
        </p:txBody>
      </p:sp>
      <p:sp>
        <p:nvSpPr>
          <p:cNvPr id="36" name="Text 27"/>
          <p:cNvSpPr/>
          <p:nvPr/>
        </p:nvSpPr>
        <p:spPr>
          <a:xfrm>
            <a:off x="10881360" y="645566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37" name="Image 7" descr="logos/logo_ensae_new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84280" y="6355080"/>
            <a:ext cx="38404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et définition du traitement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vagues de l'EHCVM, un panel d'enfants suivis individuellement d'une vague à l'autre.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58368" y="1874520"/>
            <a:ext cx="2606040" cy="552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6 127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58368" y="244551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ménages enquêtés</a:t>
            </a:r>
            <a:endParaRPr lang="en-US" sz="1200" dirty="0"/>
          </a:p>
          <a:p>
            <a:pPr algn="ctr"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 deux vagues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410712" y="1874520"/>
            <a:ext cx="2606040" cy="552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17 786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3410712" y="244551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enfants suivis</a:t>
            </a:r>
            <a:endParaRPr lang="en-US" sz="1200" dirty="0"/>
          </a:p>
          <a:p>
            <a:pPr algn="ctr"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individuellement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63056" y="1874520"/>
            <a:ext cx="2606040" cy="552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2 638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6163056" y="244551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enfants d'un ménage</a:t>
            </a:r>
            <a:endParaRPr lang="en-US" sz="1200" dirty="0"/>
          </a:p>
          <a:p>
            <a:pPr algn="ctr"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bénéficiaire en 2018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915400" y="1874520"/>
            <a:ext cx="2606040" cy="552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14,8 %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915400" y="244551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des enfants</a:t>
            </a:r>
            <a:endParaRPr lang="en-US" sz="1200" dirty="0"/>
          </a:p>
          <a:p>
            <a:pPr algn="ctr"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traités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60120" y="3794760"/>
            <a:ext cx="777240" cy="777240"/>
          </a:xfrm>
          <a:prstGeom prst="ellipse">
            <a:avLst/>
          </a:prstGeom>
          <a:solidFill>
            <a:srgbClr val="F9DCE9"/>
          </a:solidFill>
          <a:ln w="15875">
            <a:solidFill>
              <a:srgbClr val="F2B1CE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9975" y="4004615"/>
            <a:ext cx="357530" cy="35753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920240" y="3840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est traité ?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960120" y="466344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L'enfant dont le ménage a reçu, en 2018, un transfert d'un expéditeur vivant hors du Sénégal et ayant déjà vécu dans le ménage. Le statut, figé en 2018, ne peut pas dépendre de l'évolution des privations.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565392" y="3794760"/>
            <a:ext cx="777240" cy="777240"/>
          </a:xfrm>
          <a:prstGeom prst="ellipse">
            <a:avLst/>
          </a:prstGeom>
          <a:solidFill>
            <a:srgbClr val="D7EDF3"/>
          </a:solidFill>
          <a:ln w="15875">
            <a:solidFill>
              <a:srgbClr val="A6D7E3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5247" y="4004615"/>
            <a:ext cx="357530" cy="35753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525512" y="384048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quoi servent les fonds reçus ?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6565392" y="4690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Soutien courant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8339328" y="4736592"/>
            <a:ext cx="2331720" cy="146304"/>
          </a:xfrm>
          <a:prstGeom prst="roundRect">
            <a:avLst>
              <a:gd name="adj" fmla="val 12500"/>
            </a:avLst>
          </a:prstGeom>
          <a:solidFill>
            <a:srgbClr val="0891B2"/>
          </a:solidFill>
          <a:ln/>
        </p:spPr>
      </p:sp>
      <p:sp>
        <p:nvSpPr>
          <p:cNvPr id="21" name="Text 17"/>
          <p:cNvSpPr/>
          <p:nvPr/>
        </p:nvSpPr>
        <p:spPr>
          <a:xfrm>
            <a:off x="10771632" y="469087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68,5 %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6565392" y="496519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Fêtes et évènements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8339328" y="5010912"/>
            <a:ext cx="316569" cy="146304"/>
          </a:xfrm>
          <a:prstGeom prst="roundRect">
            <a:avLst>
              <a:gd name="adj" fmla="val 12500"/>
            </a:avLst>
          </a:prstGeom>
          <a:solidFill>
            <a:srgbClr val="E2E8F0"/>
          </a:solidFill>
          <a:ln/>
        </p:spPr>
      </p:sp>
      <p:sp>
        <p:nvSpPr>
          <p:cNvPr id="24" name="Text 20"/>
          <p:cNvSpPr/>
          <p:nvPr/>
        </p:nvSpPr>
        <p:spPr>
          <a:xfrm>
            <a:off x="10771632" y="496519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9,3 %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6565392" y="523951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8339328" y="5285232"/>
            <a:ext cx="221258" cy="146304"/>
          </a:xfrm>
          <a:prstGeom prst="roundRect">
            <a:avLst>
              <a:gd name="adj" fmla="val 12500"/>
            </a:avLst>
          </a:prstGeom>
          <a:solidFill>
            <a:srgbClr val="E2E8F0"/>
          </a:solidFill>
          <a:ln/>
        </p:spPr>
      </p:sp>
      <p:sp>
        <p:nvSpPr>
          <p:cNvPr id="27" name="Text 23"/>
          <p:cNvSpPr/>
          <p:nvPr/>
        </p:nvSpPr>
        <p:spPr>
          <a:xfrm>
            <a:off x="10771632" y="523951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6,5 %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6565392" y="551383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Scolarité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8339328" y="5559552"/>
            <a:ext cx="125947" cy="146304"/>
          </a:xfrm>
          <a:prstGeom prst="roundRect">
            <a:avLst>
              <a:gd name="adj" fmla="val 14520"/>
            </a:avLst>
          </a:prstGeom>
          <a:solidFill>
            <a:srgbClr val="E2E8F0"/>
          </a:solidFill>
          <a:ln/>
        </p:spPr>
      </p:sp>
      <p:sp>
        <p:nvSpPr>
          <p:cNvPr id="30" name="Text 26"/>
          <p:cNvSpPr/>
          <p:nvPr/>
        </p:nvSpPr>
        <p:spPr>
          <a:xfrm>
            <a:off x="10771632" y="55138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3,7 %</a:t>
            </a:r>
            <a:endParaRPr lang="en-US" sz="1300" dirty="0"/>
          </a:p>
        </p:txBody>
      </p:sp>
      <p:sp>
        <p:nvSpPr>
          <p:cNvPr id="31" name="Text 27"/>
          <p:cNvSpPr/>
          <p:nvPr/>
        </p:nvSpPr>
        <p:spPr>
          <a:xfrm>
            <a:off x="548640" y="645566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calcul de l'auteur, EHCVM I (2018-2019) et EHCVM II (2021-2022).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10881360" y="645566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pic>
        <p:nvPicPr>
          <p:cNvPr id="33" name="Image 2" descr="logos/logo_ensae_ne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4280" y="6355080"/>
            <a:ext cx="38404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Stratégie d'identification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ménages bénéficiaires diffèrent des autres avant même le premier franc reçu.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32688" y="1965960"/>
            <a:ext cx="804672" cy="804672"/>
          </a:xfrm>
          <a:prstGeom prst="ellipse">
            <a:avLst/>
          </a:prstGeom>
          <a:solidFill>
            <a:srgbClr val="E3E1FB"/>
          </a:solidFill>
          <a:ln w="15875">
            <a:solidFill>
              <a:srgbClr val="C0BCF6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9949" y="2183221"/>
            <a:ext cx="370149" cy="37014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64408" y="1865376"/>
            <a:ext cx="594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932688" y="290779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propension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32688" y="3255264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logit donne à chaque enfant sa probabilité d'être dans un ménage bénéficiaire en 2018.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727448" y="1965960"/>
            <a:ext cx="804672" cy="804672"/>
          </a:xfrm>
          <a:prstGeom prst="ellipse">
            <a:avLst/>
          </a:prstGeom>
          <a:solidFill>
            <a:srgbClr val="F9DCE9"/>
          </a:solidFill>
          <a:ln w="15875">
            <a:solidFill>
              <a:srgbClr val="F2B1CE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4709" y="2183221"/>
            <a:ext cx="370149" cy="370149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059168" y="1865376"/>
            <a:ext cx="594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400" dirty="0"/>
          </a:p>
        </p:txBody>
      </p:sp>
      <p:sp>
        <p:nvSpPr>
          <p:cNvPr id="12" name="Text 8"/>
          <p:cNvSpPr/>
          <p:nvPr/>
        </p:nvSpPr>
        <p:spPr>
          <a:xfrm>
            <a:off x="4727448" y="290779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Appariement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727448" y="3255264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enfant traité est comparé à des témoins de score, d'âge et de profil voisins.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522208" y="1965960"/>
            <a:ext cx="804672" cy="804672"/>
          </a:xfrm>
          <a:prstGeom prst="ellipse">
            <a:avLst/>
          </a:prstGeom>
          <a:solidFill>
            <a:srgbClr val="F9E9D7"/>
          </a:solidFill>
          <a:ln w="15875">
            <a:solidFill>
              <a:srgbClr val="F1CEA5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9469" y="2183221"/>
            <a:ext cx="370149" cy="37014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853928" y="1865376"/>
            <a:ext cx="594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400" dirty="0"/>
          </a:p>
        </p:txBody>
      </p:sp>
      <p:sp>
        <p:nvSpPr>
          <p:cNvPr id="17" name="Text 12"/>
          <p:cNvSpPr/>
          <p:nvPr/>
        </p:nvSpPr>
        <p:spPr>
          <a:xfrm>
            <a:off x="8522208" y="290779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différence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522208" y="3255264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L'écart de trajectoire 2018-2021 élimine ce qui est inobservable mais stable.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58368" y="5010912"/>
            <a:ext cx="10890504" cy="868680"/>
          </a:xfrm>
          <a:prstGeom prst="roundRect">
            <a:avLst>
              <a:gd name="adj" fmla="val 6316"/>
            </a:avLst>
          </a:prstGeom>
          <a:solidFill>
            <a:srgbClr val="312E81"/>
          </a:solidFill>
          <a:ln/>
        </p:spPr>
      </p:sp>
      <p:sp>
        <p:nvSpPr>
          <p:cNvPr id="20" name="Text 15"/>
          <p:cNvSpPr/>
          <p:nvPr/>
        </p:nvSpPr>
        <p:spPr>
          <a:xfrm>
            <a:off x="1005840" y="5120640"/>
            <a:ext cx="10195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PSM-double différence (Heckman et al., 1997) : sélection observable et effets fixes corrigés ensemble.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0881360" y="645566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pic>
        <p:nvPicPr>
          <p:cNvPr id="22" name="Image 3" descr="logos/logo_ensae_ne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4280" y="6355080"/>
            <a:ext cx="38404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État de la pauvreté multidimensionnelle des enfants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L'incidence recule entre les deux vagues, mais l'intensité reste stable : les enfants pauvres cumulent toujours près de cinq privations sur sept.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2011680"/>
            <a:ext cx="4800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 MODA aux deux vagues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60120" y="248716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697480" y="24871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2018-19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840480" y="24871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2021-22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983480" y="24871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60120" y="3310128"/>
            <a:ext cx="4800600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28529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697480" y="285292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63,5 %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840480" y="285292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57,8 %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83480" y="285292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-5,7 pts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60120" y="3968496"/>
            <a:ext cx="4800600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3511296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Intensité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697480" y="351129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70,7 %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840480" y="351129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70,3 %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51129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-0,4 pt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960120" y="4626864"/>
            <a:ext cx="4800600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416966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 ajusté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697480" y="416966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0,449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840480" y="416966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0,406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983480" y="416966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-0,043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60120" y="50749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Enfants de 0 à 17 ans suivis aux deux vagues, seuil de quatre dimensions.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65392" y="2011680"/>
            <a:ext cx="4709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Incidence selon le statut du ménage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65392" y="2606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Non-bénéficiaires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65392" y="295351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2018-19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498080" y="2999232"/>
            <a:ext cx="2696957" cy="182880"/>
          </a:xfrm>
          <a:prstGeom prst="roundRect">
            <a:avLst>
              <a:gd name="adj" fmla="val 10000"/>
            </a:avLst>
          </a:prstGeom>
          <a:solidFill>
            <a:srgbClr val="4F46E5"/>
          </a:solidFill>
          <a:ln/>
        </p:spPr>
      </p:sp>
      <p:sp>
        <p:nvSpPr>
          <p:cNvPr id="29" name="Text 27"/>
          <p:cNvSpPr/>
          <p:nvPr/>
        </p:nvSpPr>
        <p:spPr>
          <a:xfrm>
            <a:off x="10625328" y="2953512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66,6 %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565392" y="333756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2021-22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498080" y="3383280"/>
            <a:ext cx="2449939" cy="182880"/>
          </a:xfrm>
          <a:prstGeom prst="roundRect">
            <a:avLst>
              <a:gd name="adj" fmla="val 10000"/>
            </a:avLst>
          </a:prstGeom>
          <a:solidFill>
            <a:srgbClr val="4F46E5"/>
          </a:solidFill>
          <a:ln/>
        </p:spPr>
      </p:sp>
      <p:sp>
        <p:nvSpPr>
          <p:cNvPr id="32" name="Text 30"/>
          <p:cNvSpPr/>
          <p:nvPr/>
        </p:nvSpPr>
        <p:spPr>
          <a:xfrm>
            <a:off x="10625328" y="333756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60,5 %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565392" y="40233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Bénéficiaires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565392" y="4370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2018-19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498080" y="4416552"/>
            <a:ext cx="1870862" cy="182880"/>
          </a:xfrm>
          <a:prstGeom prst="roundRect">
            <a:avLst>
              <a:gd name="adj" fmla="val 10000"/>
            </a:avLst>
          </a:prstGeom>
          <a:solidFill>
            <a:srgbClr val="D97706"/>
          </a:solidFill>
          <a:ln/>
        </p:spPr>
      </p:sp>
      <p:sp>
        <p:nvSpPr>
          <p:cNvPr id="36" name="Text 34"/>
          <p:cNvSpPr/>
          <p:nvPr/>
        </p:nvSpPr>
        <p:spPr>
          <a:xfrm>
            <a:off x="10625328" y="4370832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46,2 %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565392" y="475488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2021-22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7498080" y="4800600"/>
            <a:ext cx="1721031" cy="182880"/>
          </a:xfrm>
          <a:prstGeom prst="roundRect">
            <a:avLst>
              <a:gd name="adj" fmla="val 10000"/>
            </a:avLst>
          </a:prstGeom>
          <a:solidFill>
            <a:srgbClr val="D97706"/>
          </a:solidFill>
          <a:ln/>
        </p:spPr>
      </p:sp>
      <p:sp>
        <p:nvSpPr>
          <p:cNvPr id="39" name="Text 37"/>
          <p:cNvSpPr/>
          <p:nvPr/>
        </p:nvSpPr>
        <p:spPr>
          <a:xfrm>
            <a:off x="10625328" y="475488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42,5 %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565392" y="502920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enfants de ménages bénéficiaires partent d'un niveau plus favorable : cet avantage précède le traitement.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48640" y="645566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calcul de l'auteur, EHCVM I (2018-2019) et EHCVM II (2021-2022).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0881360" y="645566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pic>
        <p:nvPicPr>
          <p:cNvPr id="43" name="Image 0" descr="logos/logo_ensae_n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6355080"/>
            <a:ext cx="38404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de l'appariement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appariement, les enfants traités et leurs témoins ne se distinguent plus sur les caractéristiques observables.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58368" y="1938528"/>
            <a:ext cx="2606040" cy="527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11,4 %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58368" y="248412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différence standardisée</a:t>
            </a:r>
            <a:endParaRPr lang="en-US" sz="1200" dirty="0"/>
          </a:p>
          <a:p>
            <a:pPr algn="ctr"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moyenne avant appariement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410712" y="1938528"/>
            <a:ext cx="2606040" cy="527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2,4 %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410712" y="248412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appariement,</a:t>
            </a:r>
            <a:endParaRPr lang="en-US" sz="1200" dirty="0"/>
          </a:p>
          <a:p>
            <a:pPr algn="ctr"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 sous le seuil de 10 %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63056" y="1938528"/>
            <a:ext cx="2606040" cy="527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16 210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163056" y="248412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observations-enfants</a:t>
            </a:r>
            <a:endParaRPr lang="en-US" sz="1200" dirty="0"/>
          </a:p>
          <a:p>
            <a:pPr algn="ctr"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 support commun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915400" y="1938528"/>
            <a:ext cx="2606040" cy="527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0,150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915400" y="248412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pseudo-R² du logit,</a:t>
            </a:r>
            <a:endParaRPr lang="en-US" sz="1200" dirty="0"/>
          </a:p>
          <a:p>
            <a:pPr algn="ctr"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17 735 enfants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3822192"/>
            <a:ext cx="10287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Équilibre des principales covariables, différence standardisée en %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427939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Taille du ménage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60120" y="4553712"/>
            <a:ext cx="1408816" cy="128016"/>
          </a:xfrm>
          <a:prstGeom prst="roundRect">
            <a:avLst>
              <a:gd name="adj" fmla="val 14286"/>
            </a:avLst>
          </a:prstGeom>
          <a:solidFill>
            <a:srgbClr val="E2E8F0"/>
          </a:solidFill>
          <a:ln/>
        </p:spPr>
      </p:sp>
      <p:sp>
        <p:nvSpPr>
          <p:cNvPr id="15" name="Shape 13"/>
          <p:cNvSpPr/>
          <p:nvPr/>
        </p:nvSpPr>
        <p:spPr>
          <a:xfrm>
            <a:off x="960120" y="4718304"/>
            <a:ext cx="549920" cy="128016"/>
          </a:xfrm>
          <a:prstGeom prst="roundRect">
            <a:avLst>
              <a:gd name="adj" fmla="val 14286"/>
            </a:avLst>
          </a:prstGeom>
          <a:solidFill>
            <a:srgbClr val="DB2777"/>
          </a:solidFill>
          <a:ln/>
        </p:spPr>
      </p:sp>
      <p:sp>
        <p:nvSpPr>
          <p:cNvPr id="16" name="Text 14"/>
          <p:cNvSpPr/>
          <p:nvPr/>
        </p:nvSpPr>
        <p:spPr>
          <a:xfrm>
            <a:off x="2606040" y="453542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49,7  →  19,4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434840" y="427939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Dépense par tête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434840" y="4553712"/>
            <a:ext cx="830550" cy="128016"/>
          </a:xfrm>
          <a:prstGeom prst="roundRect">
            <a:avLst>
              <a:gd name="adj" fmla="val 14286"/>
            </a:avLst>
          </a:prstGeom>
          <a:solidFill>
            <a:srgbClr val="E2E8F0"/>
          </a:solidFill>
          <a:ln/>
        </p:spPr>
      </p:sp>
      <p:sp>
        <p:nvSpPr>
          <p:cNvPr id="19" name="Shape 17"/>
          <p:cNvSpPr/>
          <p:nvPr/>
        </p:nvSpPr>
        <p:spPr>
          <a:xfrm>
            <a:off x="4434840" y="4718304"/>
            <a:ext cx="572597" cy="128016"/>
          </a:xfrm>
          <a:prstGeom prst="roundRect">
            <a:avLst>
              <a:gd name="adj" fmla="val 14286"/>
            </a:avLst>
          </a:prstGeom>
          <a:solidFill>
            <a:srgbClr val="DB2777"/>
          </a:solidFill>
          <a:ln/>
        </p:spPr>
      </p:sp>
      <p:sp>
        <p:nvSpPr>
          <p:cNvPr id="20" name="Text 18"/>
          <p:cNvSpPr/>
          <p:nvPr/>
        </p:nvSpPr>
        <p:spPr>
          <a:xfrm>
            <a:off x="6080760" y="453542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29,3  →  20,2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909560" y="427939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Milieu rural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909560" y="4553712"/>
            <a:ext cx="629290" cy="128016"/>
          </a:xfrm>
          <a:prstGeom prst="roundRect">
            <a:avLst>
              <a:gd name="adj" fmla="val 14286"/>
            </a:avLst>
          </a:prstGeom>
          <a:solidFill>
            <a:srgbClr val="E2E8F0"/>
          </a:solidFill>
          <a:ln/>
        </p:spPr>
      </p:sp>
      <p:sp>
        <p:nvSpPr>
          <p:cNvPr id="23" name="Shape 21"/>
          <p:cNvSpPr/>
          <p:nvPr/>
        </p:nvSpPr>
        <p:spPr>
          <a:xfrm>
            <a:off x="7909560" y="4718304"/>
            <a:ext cx="252283" cy="128016"/>
          </a:xfrm>
          <a:prstGeom prst="roundRect">
            <a:avLst>
              <a:gd name="adj" fmla="val 14286"/>
            </a:avLst>
          </a:prstGeom>
          <a:solidFill>
            <a:srgbClr val="DB2777"/>
          </a:solidFill>
          <a:ln/>
        </p:spPr>
      </p:sp>
      <p:sp>
        <p:nvSpPr>
          <p:cNvPr id="24" name="Text 22"/>
          <p:cNvSpPr/>
          <p:nvPr/>
        </p:nvSpPr>
        <p:spPr>
          <a:xfrm>
            <a:off x="9555480" y="453542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22,2  →  8,9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60120" y="499262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du chef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60120" y="5266944"/>
            <a:ext cx="779526" cy="128016"/>
          </a:xfrm>
          <a:prstGeom prst="roundRect">
            <a:avLst>
              <a:gd name="adj" fmla="val 14286"/>
            </a:avLst>
          </a:prstGeom>
          <a:solidFill>
            <a:srgbClr val="E2E8F0"/>
          </a:solidFill>
          <a:ln/>
        </p:spPr>
      </p:sp>
      <p:sp>
        <p:nvSpPr>
          <p:cNvPr id="27" name="Shape 25"/>
          <p:cNvSpPr/>
          <p:nvPr/>
        </p:nvSpPr>
        <p:spPr>
          <a:xfrm>
            <a:off x="960120" y="5431536"/>
            <a:ext cx="255118" cy="128016"/>
          </a:xfrm>
          <a:prstGeom prst="roundRect">
            <a:avLst>
              <a:gd name="adj" fmla="val 14286"/>
            </a:avLst>
          </a:prstGeom>
          <a:solidFill>
            <a:srgbClr val="DB2777"/>
          </a:solidFill>
          <a:ln/>
        </p:spPr>
      </p:sp>
      <p:sp>
        <p:nvSpPr>
          <p:cNvPr id="28" name="Text 26"/>
          <p:cNvSpPr/>
          <p:nvPr/>
        </p:nvSpPr>
        <p:spPr>
          <a:xfrm>
            <a:off x="2606040" y="524865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27,5  →  9,0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434840" y="499262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de l'enfant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434840" y="5266944"/>
            <a:ext cx="36576" cy="128016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31" name="Shape 29"/>
          <p:cNvSpPr/>
          <p:nvPr/>
        </p:nvSpPr>
        <p:spPr>
          <a:xfrm>
            <a:off x="4434840" y="5431536"/>
            <a:ext cx="76535" cy="128016"/>
          </a:xfrm>
          <a:prstGeom prst="roundRect">
            <a:avLst>
              <a:gd name="adj" fmla="val 23895"/>
            </a:avLst>
          </a:prstGeom>
          <a:solidFill>
            <a:srgbClr val="DB2777"/>
          </a:solidFill>
          <a:ln/>
        </p:spPr>
      </p:sp>
      <p:sp>
        <p:nvSpPr>
          <p:cNvPr id="32" name="Text 30"/>
          <p:cNvSpPr/>
          <p:nvPr/>
        </p:nvSpPr>
        <p:spPr>
          <a:xfrm>
            <a:off x="6080760" y="524865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  →  2,7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909560" y="499262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Âge de l'enfant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909560" y="5266944"/>
            <a:ext cx="56693" cy="128016"/>
          </a:xfrm>
          <a:prstGeom prst="roundRect">
            <a:avLst>
              <a:gd name="adj" fmla="val 32258"/>
            </a:avLst>
          </a:prstGeom>
          <a:solidFill>
            <a:srgbClr val="E2E8F0"/>
          </a:solidFill>
          <a:ln/>
        </p:spPr>
      </p:sp>
      <p:sp>
        <p:nvSpPr>
          <p:cNvPr id="35" name="Shape 33"/>
          <p:cNvSpPr/>
          <p:nvPr/>
        </p:nvSpPr>
        <p:spPr>
          <a:xfrm>
            <a:off x="7909560" y="5431536"/>
            <a:ext cx="70866" cy="128016"/>
          </a:xfrm>
          <a:prstGeom prst="roundRect">
            <a:avLst>
              <a:gd name="adj" fmla="val 25806"/>
            </a:avLst>
          </a:prstGeom>
          <a:solidFill>
            <a:srgbClr val="DB2777"/>
          </a:solidFill>
          <a:ln/>
        </p:spPr>
      </p:sp>
      <p:sp>
        <p:nvSpPr>
          <p:cNvPr id="36" name="Text 34"/>
          <p:cNvSpPr/>
          <p:nvPr/>
        </p:nvSpPr>
        <p:spPr>
          <a:xfrm>
            <a:off x="9555480" y="524865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  →  2,5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48640" y="645566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Gris : avant appariement ; vert : après appariement. Source : calcul de l'auteur, EHCVM I (2018-2019) et EHCVM II (2021-2022).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0881360" y="645566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pic>
        <p:nvPicPr>
          <p:cNvPr id="39" name="Image 0" descr="logos/logo_ensae_n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6355080"/>
            <a:ext cx="38404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central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58368" y="1298448"/>
            <a:ext cx="3291840" cy="4526280"/>
          </a:xfrm>
          <a:prstGeom prst="roundRect">
            <a:avLst>
              <a:gd name="adj" fmla="val 1667"/>
            </a:avLst>
          </a:prstGeom>
          <a:solidFill>
            <a:srgbClr val="312E81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057400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+6,4</a:t>
            </a:r>
            <a:endParaRPr lang="en-US" sz="6200" dirty="0"/>
          </a:p>
        </p:txBody>
      </p:sp>
      <p:sp>
        <p:nvSpPr>
          <p:cNvPr id="5" name="Text 3"/>
          <p:cNvSpPr/>
          <p:nvPr/>
        </p:nvSpPr>
        <p:spPr>
          <a:xfrm>
            <a:off x="822960" y="3063240"/>
            <a:ext cx="296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de pourcentage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60120" y="3520440"/>
            <a:ext cx="2688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D5D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d'écart de trajectoire défavorable aux enfants des ménages bénéficiaires, significatif au seuil de 5 %.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n'est pas validée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480560" y="153619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Recul de l'incidence entre 2018 et 2021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892040" y="4027932"/>
            <a:ext cx="822960" cy="928116"/>
          </a:xfrm>
          <a:prstGeom prst="roundRect">
            <a:avLst>
              <a:gd name="adj" fmla="val 4444"/>
            </a:avLst>
          </a:prstGeom>
          <a:solidFill>
            <a:srgbClr val="D97706"/>
          </a:solidFill>
          <a:ln/>
        </p:spPr>
      </p:sp>
      <p:sp>
        <p:nvSpPr>
          <p:cNvPr id="10" name="Text 8"/>
          <p:cNvSpPr/>
          <p:nvPr/>
        </p:nvSpPr>
        <p:spPr>
          <a:xfrm>
            <a:off x="4617720" y="369874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3,5 pts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504748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Bénéficiaires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55080" y="2330806"/>
            <a:ext cx="822960" cy="2625242"/>
          </a:xfrm>
          <a:prstGeom prst="roundRect">
            <a:avLst>
              <a:gd name="adj" fmla="val 4444"/>
            </a:avLst>
          </a:prstGeom>
          <a:solidFill>
            <a:srgbClr val="4F46E5"/>
          </a:solidFill>
          <a:ln/>
        </p:spPr>
      </p:sp>
      <p:sp>
        <p:nvSpPr>
          <p:cNvPr id="13" name="Text 11"/>
          <p:cNvSpPr/>
          <p:nvPr/>
        </p:nvSpPr>
        <p:spPr>
          <a:xfrm>
            <a:off x="6080760" y="200162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9,9 pts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035040" y="504748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Témoins</a:t>
            </a:r>
            <a:endParaRPr lang="en-US" sz="13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appariés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17720" y="4956048"/>
            <a:ext cx="3200400" cy="18288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16" name="Text 14"/>
          <p:cNvSpPr/>
          <p:nvPr/>
        </p:nvSpPr>
        <p:spPr>
          <a:xfrm>
            <a:off x="3017520" y="5650992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pauvreté a reculé près de trois fois moins vite chez les bénéficiaires.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732520" y="1536192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aux trois appariements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732520" y="20116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plus proches voisins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561320" y="20116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0,064**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732520" y="2523744"/>
            <a:ext cx="2606040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1" name="Text 19"/>
          <p:cNvSpPr/>
          <p:nvPr/>
        </p:nvSpPr>
        <p:spPr>
          <a:xfrm>
            <a:off x="8732520" y="267004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Noyau Epanechnikov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561320" y="2670048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0,061*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732520" y="3182112"/>
            <a:ext cx="2606040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2"/>
          <p:cNvSpPr/>
          <p:nvPr/>
        </p:nvSpPr>
        <p:spPr>
          <a:xfrm>
            <a:off x="8732520" y="332841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Caliper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561320" y="3328416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0,050*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8732520" y="3840480"/>
            <a:ext cx="2606040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7" name="Text 25"/>
          <p:cNvSpPr/>
          <p:nvPr/>
        </p:nvSpPr>
        <p:spPr>
          <a:xfrm>
            <a:off x="8732520" y="3986784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différence brute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561320" y="3986784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0,035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8732520" y="4498848"/>
            <a:ext cx="2606040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0" name="Text 28"/>
          <p:cNvSpPr/>
          <p:nvPr/>
        </p:nvSpPr>
        <p:spPr>
          <a:xfrm>
            <a:off x="8732520" y="475488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ne tient pas au choix de l'algorithme. La double différence sans appariement, qui ne corrige pas l'avantage initial, donne le même signe atténué.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8640" y="645566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 significatif à 5 %, * à 10 %. Source : calcul de l'auteur, EHCVM I (2018-2019) et EHCVM II (2021-2022).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0881360" y="645566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pic>
        <p:nvPicPr>
          <p:cNvPr id="33" name="Image 0" descr="logos/logo_ensae_n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6355080"/>
            <a:ext cx="38404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se concentre l'écart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les sept dimensions, une seule ressort : la nutrition, celle qui dépend le plus directement du budget courant du ménage.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2011680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Effet estimé par dimension, en points de pourcentage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60120" y="24871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14600" y="2542032"/>
            <a:ext cx="3429000" cy="182880"/>
          </a:xfrm>
          <a:prstGeom prst="roundRect">
            <a:avLst>
              <a:gd name="adj" fmla="val 12500"/>
            </a:avLst>
          </a:prstGeom>
          <a:solidFill>
            <a:srgbClr val="D97706"/>
          </a:solidFill>
          <a:ln/>
        </p:spPr>
      </p:sp>
      <p:sp>
        <p:nvSpPr>
          <p:cNvPr id="7" name="Text 5"/>
          <p:cNvSpPr/>
          <p:nvPr/>
        </p:nvSpPr>
        <p:spPr>
          <a:xfrm>
            <a:off x="6080760" y="248716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+6,8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720840" y="248716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29443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Assainissement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514600" y="2999232"/>
            <a:ext cx="2319618" cy="182880"/>
          </a:xfrm>
          <a:prstGeom prst="roundRect">
            <a:avLst>
              <a:gd name="adj" fmla="val 12500"/>
            </a:avLst>
          </a:prstGeom>
          <a:solidFill>
            <a:srgbClr val="E2E8F0"/>
          </a:solidFill>
          <a:ln/>
        </p:spPr>
      </p:sp>
      <p:sp>
        <p:nvSpPr>
          <p:cNvPr id="11" name="Text 9"/>
          <p:cNvSpPr/>
          <p:nvPr/>
        </p:nvSpPr>
        <p:spPr>
          <a:xfrm>
            <a:off x="6080760" y="294436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+4,6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60120" y="34015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Eau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514600" y="3456432"/>
            <a:ext cx="1210235" cy="182880"/>
          </a:xfrm>
          <a:prstGeom prst="roundRect">
            <a:avLst>
              <a:gd name="adj" fmla="val 12500"/>
            </a:avLst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6080760" y="340156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+2,4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60120" y="38587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Logement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514600" y="3913632"/>
            <a:ext cx="1210235" cy="182880"/>
          </a:xfrm>
          <a:prstGeom prst="roundRect">
            <a:avLst>
              <a:gd name="adj" fmla="val 12500"/>
            </a:avLst>
          </a:prstGeom>
          <a:solidFill>
            <a:srgbClr val="E2E8F0"/>
          </a:solidFill>
          <a:ln/>
        </p:spPr>
      </p:sp>
      <p:sp>
        <p:nvSpPr>
          <p:cNvPr id="17" name="Text 15"/>
          <p:cNvSpPr/>
          <p:nvPr/>
        </p:nvSpPr>
        <p:spPr>
          <a:xfrm>
            <a:off x="6080760" y="385876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+2,4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960120" y="43159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514600" y="4370832"/>
            <a:ext cx="554691" cy="182880"/>
          </a:xfrm>
          <a:prstGeom prst="roundRect">
            <a:avLst>
              <a:gd name="adj" fmla="val 12500"/>
            </a:avLst>
          </a:prstGeom>
          <a:solidFill>
            <a:srgbClr val="E2E8F0"/>
          </a:solidFill>
          <a:ln/>
        </p:spPr>
      </p:sp>
      <p:sp>
        <p:nvSpPr>
          <p:cNvPr id="20" name="Text 18"/>
          <p:cNvSpPr/>
          <p:nvPr/>
        </p:nvSpPr>
        <p:spPr>
          <a:xfrm>
            <a:off x="6080760" y="431596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+1,1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60120" y="47731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Santé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514600" y="4828032"/>
            <a:ext cx="504265" cy="182880"/>
          </a:xfrm>
          <a:prstGeom prst="roundRect">
            <a:avLst>
              <a:gd name="adj" fmla="val 12500"/>
            </a:avLst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6080760" y="477316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+1,0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60120" y="52303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Éducation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514600" y="5285232"/>
            <a:ext cx="252132" cy="182880"/>
          </a:xfrm>
          <a:prstGeom prst="roundRect">
            <a:avLst>
              <a:gd name="adj" fmla="val 12500"/>
            </a:avLst>
          </a:prstGeom>
          <a:solidFill>
            <a:srgbClr val="E2E8F0"/>
          </a:solidFill>
          <a:ln/>
        </p:spPr>
      </p:sp>
      <p:sp>
        <p:nvSpPr>
          <p:cNvPr id="26" name="Text 24"/>
          <p:cNvSpPr/>
          <p:nvPr/>
        </p:nvSpPr>
        <p:spPr>
          <a:xfrm>
            <a:off x="6080760" y="523036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+0,5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498080" y="1783080"/>
            <a:ext cx="4050792" cy="1874520"/>
          </a:xfrm>
          <a:prstGeom prst="roundRect">
            <a:avLst>
              <a:gd name="adj" fmla="val 2927"/>
            </a:avLst>
          </a:prstGeom>
          <a:solidFill>
            <a:srgbClr val="FEF3C7"/>
          </a:solidFill>
          <a:ln/>
        </p:spPr>
      </p:sp>
      <p:sp>
        <p:nvSpPr>
          <p:cNvPr id="28" name="Shape 26"/>
          <p:cNvSpPr/>
          <p:nvPr/>
        </p:nvSpPr>
        <p:spPr>
          <a:xfrm>
            <a:off x="7772400" y="2057400"/>
            <a:ext cx="777240" cy="777240"/>
          </a:xfrm>
          <a:prstGeom prst="ellipse">
            <a:avLst/>
          </a:prstGeom>
          <a:solidFill>
            <a:srgbClr val="F9E9D7"/>
          </a:solidFill>
          <a:ln w="15875">
            <a:solidFill>
              <a:srgbClr val="F1CEA5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2255" y="2267255"/>
            <a:ext cx="357530" cy="35753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8686800" y="208483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+9,1 points chez les 0 à 4 ans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7772400" y="2907792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Significatif à 5 %. Les besoins des plus jeunes passent d'abord par l'alimentation.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7772400" y="4160520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test d'égalité ne conclut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7772400" y="4572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Milieu de résidence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10241280" y="457200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0,863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7772400" y="4956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du chef de ménage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10241280" y="495604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0,879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7772400" y="534009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d'âge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10241280" y="534009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0,252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772400" y="5742432"/>
            <a:ext cx="3520440" cy="36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sous-groupes se distinguent par la significativité de leur effet, non par une ampleur supérieure.</a:t>
            </a:r>
            <a:endParaRPr lang="en-US" sz="100" dirty="0"/>
          </a:p>
        </p:txBody>
      </p:sp>
      <p:sp>
        <p:nvSpPr>
          <p:cNvPr id="40" name="Text 37"/>
          <p:cNvSpPr/>
          <p:nvPr/>
        </p:nvSpPr>
        <p:spPr>
          <a:xfrm>
            <a:off x="548640" y="645566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significatif à 10 %. Appariement au plus proche voisin. Source : calcul de l'auteur, EHCVM I (2018-2019) et EHCVM II (2021-2022).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10881360" y="645566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pic>
        <p:nvPicPr>
          <p:cNvPr id="42" name="Image 1" descr="logos/logo_ensae_n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6355080"/>
            <a:ext cx="38404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gradient selon le montant reçu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L'écart défavorable se concentre sur les plus faibles montants et ne se retrouve pas pour les transferts les plus élevés.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201168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Effet estimé par quintile de montant annuel, en points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60120" y="2542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2542032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jusqu'à 100 000 FCFA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017520" y="2624328"/>
            <a:ext cx="3566160" cy="219456"/>
          </a:xfrm>
          <a:prstGeom prst="roundRect">
            <a:avLst>
              <a:gd name="adj" fmla="val 12500"/>
            </a:avLst>
          </a:prstGeom>
          <a:solidFill>
            <a:srgbClr val="D97706"/>
          </a:solidFill>
          <a:ln/>
        </p:spPr>
      </p:sp>
      <p:sp>
        <p:nvSpPr>
          <p:cNvPr id="8" name="Text 6"/>
          <p:cNvSpPr/>
          <p:nvPr/>
        </p:nvSpPr>
        <p:spPr>
          <a:xfrm>
            <a:off x="6656832" y="254203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+12,9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0" y="2542032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3145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371600" y="3145536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110 000 à 360 000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017520" y="3227832"/>
            <a:ext cx="2736820" cy="219456"/>
          </a:xfrm>
          <a:prstGeom prst="roundRect">
            <a:avLst>
              <a:gd name="adj" fmla="val 12500"/>
            </a:avLst>
          </a:prstGeom>
          <a:solidFill>
            <a:srgbClr val="D97706"/>
          </a:solidFill>
          <a:ln/>
        </p:spPr>
      </p:sp>
      <p:sp>
        <p:nvSpPr>
          <p:cNvPr id="13" name="Text 11"/>
          <p:cNvSpPr/>
          <p:nvPr/>
        </p:nvSpPr>
        <p:spPr>
          <a:xfrm>
            <a:off x="5827492" y="3145536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+9,9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85860" y="3145536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6012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3749040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380 000 à 900 000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17520" y="3831336"/>
            <a:ext cx="552893" cy="219456"/>
          </a:xfrm>
          <a:prstGeom prst="roundRect">
            <a:avLst>
              <a:gd name="adj" fmla="val 12500"/>
            </a:avLst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3643565" y="374904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+2,0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60120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4352544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920 000 à 1 800 000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17520" y="4434840"/>
            <a:ext cx="2322151" cy="219456"/>
          </a:xfrm>
          <a:prstGeom prst="roundRect">
            <a:avLst>
              <a:gd name="adj" fmla="val 12500"/>
            </a:avLst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412823" y="435254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+8,4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60120" y="4956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495604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au-delà de 1 824 000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796363" y="5038344"/>
            <a:ext cx="221157" cy="219456"/>
          </a:xfrm>
          <a:prstGeom prst="roundRect">
            <a:avLst>
              <a:gd name="adj" fmla="val 12500"/>
            </a:avLst>
          </a:prstGeom>
          <a:solidFill>
            <a:srgbClr val="E2E8F0"/>
          </a:solidFill>
          <a:ln/>
        </p:spPr>
      </p:sp>
      <p:sp>
        <p:nvSpPr>
          <p:cNvPr id="26" name="Text 24"/>
          <p:cNvSpPr/>
          <p:nvPr/>
        </p:nvSpPr>
        <p:spPr>
          <a:xfrm>
            <a:off x="3127248" y="4956048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−0,8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3017520" y="2487168"/>
            <a:ext cx="13716" cy="306324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28" name="Shape 26"/>
          <p:cNvSpPr/>
          <p:nvPr/>
        </p:nvSpPr>
        <p:spPr>
          <a:xfrm>
            <a:off x="7863840" y="1783080"/>
            <a:ext cx="3685032" cy="1874520"/>
          </a:xfrm>
          <a:prstGeom prst="roundRect">
            <a:avLst>
              <a:gd name="adj" fmla="val 2927"/>
            </a:avLst>
          </a:prstGeom>
          <a:solidFill>
            <a:srgbClr val="312E81"/>
          </a:solidFill>
          <a:ln/>
        </p:spPr>
      </p:sp>
      <p:sp>
        <p:nvSpPr>
          <p:cNvPr id="29" name="Text 27"/>
          <p:cNvSpPr/>
          <p:nvPr/>
        </p:nvSpPr>
        <p:spPr>
          <a:xfrm>
            <a:off x="8092440" y="201168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−0,025</a:t>
            </a:r>
            <a:endParaRPr lang="en-US" sz="3400" dirty="0"/>
          </a:p>
        </p:txBody>
      </p:sp>
      <p:sp>
        <p:nvSpPr>
          <p:cNvPr id="30" name="Text 28"/>
          <p:cNvSpPr/>
          <p:nvPr/>
        </p:nvSpPr>
        <p:spPr>
          <a:xfrm>
            <a:off x="8001000" y="2542032"/>
            <a:ext cx="3429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pente dose-réponse, significative à 10 %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046720" y="3035808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300" dirty="0">
                <a:solidFill>
                  <a:srgbClr val="D5D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le montant reçu est élevé, plus l'écart de trajectoire tend à se réduire.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138160" y="416052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le lire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138160" y="452628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profil n'est pas strictement monotone. Le montant relevant du migrant, le gradient se lit comme une association conditionnelle.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48640" y="645566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 significatif à 5 %. Source : calcul de l'auteur, EHCVM I (2018-2019) et EHCVM II (2021-2022).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881360" y="645566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pic>
        <p:nvPicPr>
          <p:cNvPr id="36" name="Image 0" descr="logos/logo_ensae_n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6355080"/>
            <a:ext cx="38404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de robustesse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32688" y="1773936"/>
            <a:ext cx="777240" cy="777240"/>
          </a:xfrm>
          <a:prstGeom prst="ellipse">
            <a:avLst/>
          </a:prstGeom>
          <a:solidFill>
            <a:srgbClr val="E3E1FB"/>
          </a:solidFill>
          <a:ln w="15875">
            <a:solidFill>
              <a:srgbClr val="C0BCF6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2543" y="1983791"/>
            <a:ext cx="357530" cy="35753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865376" y="1737360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Méthode d'appariement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4480560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tient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32688" y="267004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algorithmes, effet de 0,050 à 0,064, tous significatifs au moins à 10 %.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537960" y="1773936"/>
            <a:ext cx="777240" cy="777240"/>
          </a:xfrm>
          <a:prstGeom prst="ellipse">
            <a:avLst/>
          </a:prstGeom>
          <a:solidFill>
            <a:srgbClr val="F9DCE9"/>
          </a:solidFill>
          <a:ln w="15875">
            <a:solidFill>
              <a:srgbClr val="F2B1CE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815" y="1983791"/>
            <a:ext cx="357530" cy="35753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470648" y="1737360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 de privation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10085832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signe tient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6537960" y="267004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Testé de 1 à 7 dimensions, l'ampleur suit une courbe en cloche, maximale au seuil retenu.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932688" y="4014216"/>
            <a:ext cx="777240" cy="777240"/>
          </a:xfrm>
          <a:prstGeom prst="ellipse">
            <a:avLst/>
          </a:prstGeom>
          <a:solidFill>
            <a:srgbClr val="D7EDF3"/>
          </a:solidFill>
          <a:ln w="15875">
            <a:solidFill>
              <a:srgbClr val="A6D7E3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543" y="4224071"/>
            <a:ext cx="357530" cy="35753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865376" y="3977640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croisée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4480560" y="397764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tient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932688" y="491032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implémentation indépendante du même estimateur retrouve le résultat.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6537960" y="4014216"/>
            <a:ext cx="777240" cy="777240"/>
          </a:xfrm>
          <a:prstGeom prst="ellipse">
            <a:avLst/>
          </a:prstGeom>
          <a:solidFill>
            <a:srgbClr val="F9E9D7"/>
          </a:solidFill>
          <a:ln w="15875">
            <a:solidFill>
              <a:srgbClr val="F1CEA5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7815" y="4224071"/>
            <a:ext cx="357530" cy="35753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470648" y="3977640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Définition alternative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10085832" y="397764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nuancer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6537960" y="491032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Chez les bénéficiaires de longue date, l'écart ne se retrouve pas (0,022 et −0,008, non significatifs).</a:t>
            </a:r>
            <a:endParaRPr lang="en-US" sz="1350" dirty="0"/>
          </a:p>
        </p:txBody>
      </p:sp>
      <p:sp>
        <p:nvSpPr>
          <p:cNvPr id="23" name="Shape 17"/>
          <p:cNvSpPr/>
          <p:nvPr/>
        </p:nvSpPr>
        <p:spPr>
          <a:xfrm>
            <a:off x="658368" y="5961888"/>
            <a:ext cx="10890504" cy="91"/>
          </a:xfrm>
          <a:prstGeom prst="roundRect">
            <a:avLst>
              <a:gd name="adj" fmla="val 60290110"/>
            </a:avLst>
          </a:prstGeom>
          <a:solidFill>
            <a:srgbClr val="FFFFFF"/>
          </a:solidFill>
          <a:ln/>
        </p:spPr>
      </p:sp>
      <p:sp>
        <p:nvSpPr>
          <p:cNvPr id="24" name="Text 18"/>
          <p:cNvSpPr/>
          <p:nvPr/>
        </p:nvSpPr>
        <p:spPr>
          <a:xfrm>
            <a:off x="548640" y="645566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calcul de l'auteur, EHCVM I (2018-2019) et EHCVM II (2021-2022).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10881360" y="645566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pic>
        <p:nvPicPr>
          <p:cNvPr id="26" name="Image 4" descr="logos/logo_ensae_ne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84280" y="6355080"/>
            <a:ext cx="38404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des hypothèses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600200" y="180136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600200" y="2350008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transferts réduisent significativement la pauvreté multidimensionnelle des enfants.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029200" y="1865376"/>
            <a:ext cx="4617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L'effet estimé vaut +0,064, significatif à 5 %, et de signe défavorable : aucune réduction n'est observée sur l'horizon.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829800" y="225856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validée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600200" y="413308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600200" y="4681728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L'impact est hétérogène selon les dimensions, le milieu, le genre du chef, l'âge et le montant.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0" y="4197096"/>
            <a:ext cx="4617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L'effet n'est établi que sur la nutrition et chez les 0 à 4 ans, avec un gradient net selon le montant. Aucun test d'égalité ne conclut par milieu, genre du chef ou âge.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829800" y="459028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Partiellement validée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32688" y="2103120"/>
            <a:ext cx="566928" cy="566928"/>
          </a:xfrm>
          <a:prstGeom prst="ellipse">
            <a:avLst/>
          </a:prstGeom>
          <a:solidFill>
            <a:srgbClr val="F9E9D7"/>
          </a:solidFill>
          <a:ln w="15875">
            <a:solidFill>
              <a:srgbClr val="F1CEA5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759" y="2256191"/>
            <a:ext cx="260787" cy="260787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32688" y="4434840"/>
            <a:ext cx="566928" cy="566928"/>
          </a:xfrm>
          <a:prstGeom prst="ellipse">
            <a:avLst/>
          </a:prstGeom>
          <a:solidFill>
            <a:srgbClr val="F9DCE9"/>
          </a:solidFill>
          <a:ln w="15875">
            <a:solidFill>
              <a:srgbClr val="F2B1CE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759" y="4587911"/>
            <a:ext cx="260787" cy="26078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0881360" y="645566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pic>
        <p:nvPicPr>
          <p:cNvPr id="16" name="Image 2" descr="logos/logo_ensae_ne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4280" y="6355080"/>
            <a:ext cx="38404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comprendre ce résultat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conditions de vie ne reculent pas : elles progressent plus lentement chez les bénéficiaires.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984248" y="1965960"/>
            <a:ext cx="822960" cy="822960"/>
          </a:xfrm>
          <a:prstGeom prst="ellipse">
            <a:avLst/>
          </a:prstGeom>
          <a:solidFill>
            <a:srgbClr val="D7EDF3"/>
          </a:solidFill>
          <a:ln w="15875">
            <a:solidFill>
              <a:srgbClr val="A6D7E3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6447" y="2188159"/>
            <a:ext cx="378562" cy="3785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32688" y="29260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L'usage des fonds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932688" y="361188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68,5 % en soutien courant, moins d'un dixième en santé ou scolarité. Financer l'ordinaire déplace peu les seuils.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779008" y="1965960"/>
            <a:ext cx="822960" cy="822960"/>
          </a:xfrm>
          <a:prstGeom prst="ellipse">
            <a:avLst/>
          </a:prstGeom>
          <a:solidFill>
            <a:srgbClr val="E3E1FB"/>
          </a:solidFill>
          <a:ln w="15875">
            <a:solidFill>
              <a:srgbClr val="C0BCF6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1207" y="2188159"/>
            <a:ext cx="378562" cy="37856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727448" y="29260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contrainte d'offre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4727448" y="361188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Eau, assainissement et soins supposent des investissements collectifs. La privation en santé touche 97 % des enfants.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9573768" y="1965960"/>
            <a:ext cx="822960" cy="822960"/>
          </a:xfrm>
          <a:prstGeom prst="ellipse">
            <a:avLst/>
          </a:prstGeom>
          <a:solidFill>
            <a:srgbClr val="F9DCE9"/>
          </a:solidFill>
          <a:ln w="15875">
            <a:solidFill>
              <a:srgbClr val="F2B1CE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5967" y="2188159"/>
            <a:ext cx="378562" cy="37856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522208" y="29260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marge sur laquelle l'effet opère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8522208" y="361188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L'écart se joue au milieu de la distribution. Les plus démunis relèvent de déficits qu'aucun flux privé ne comble.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10881360" y="645566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pic>
        <p:nvPicPr>
          <p:cNvPr id="17" name="Image 3" descr="logos/logo_ensae_ne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4280" y="6355080"/>
            <a:ext cx="38404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et perspectives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0120" y="1691640"/>
            <a:ext cx="777240" cy="777240"/>
          </a:xfrm>
          <a:prstGeom prst="ellipse">
            <a:avLst/>
          </a:prstGeom>
          <a:solidFill>
            <a:srgbClr val="F9E9D7"/>
          </a:solidFill>
          <a:ln w="15875">
            <a:solidFill>
              <a:srgbClr val="F1CEA5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9975" y="1901495"/>
            <a:ext cx="357530" cy="35753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920240" y="17373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de l'étude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960120" y="2743200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Tendances parallèles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960120" y="3072384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vagues seulement, donc pas de test direct. L'appariement sur les niveaux initiaux la rend crédible.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960120" y="4315968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Vieillissement des enfants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960120" y="4645152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enfant est évalué sur la grille de son âge. Les groupes figés en 2018 neutralisent l'essentiel.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565392" y="1691640"/>
            <a:ext cx="777240" cy="777240"/>
          </a:xfrm>
          <a:prstGeom prst="ellipse">
            <a:avLst/>
          </a:prstGeom>
          <a:solidFill>
            <a:srgbClr val="F9DCE9"/>
          </a:solidFill>
          <a:ln w="15875">
            <a:solidFill>
              <a:srgbClr val="F2B1CE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5247" y="1901495"/>
            <a:ext cx="357530" cy="35753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25512" y="173736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6565392" y="2798064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14" name="Text 10"/>
          <p:cNvSpPr/>
          <p:nvPr/>
        </p:nvSpPr>
        <p:spPr>
          <a:xfrm>
            <a:off x="6565392" y="280720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7022592" y="27432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 les mécanismes de transmission, dépenses en éducation, en santé et en logement.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6565392" y="3822192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17" name="Text 13"/>
          <p:cNvSpPr/>
          <p:nvPr/>
        </p:nvSpPr>
        <p:spPr>
          <a:xfrm>
            <a:off x="6565392" y="3831336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7022592" y="3767328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Intégrer la durée d'exposition aux transferts et leurs usages effectifs.</a:t>
            </a:r>
            <a:endParaRPr lang="en-US" sz="1350" dirty="0"/>
          </a:p>
        </p:txBody>
      </p:sp>
      <p:sp>
        <p:nvSpPr>
          <p:cNvPr id="19" name="Shape 15"/>
          <p:cNvSpPr/>
          <p:nvPr/>
        </p:nvSpPr>
        <p:spPr>
          <a:xfrm>
            <a:off x="6565392" y="4846320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20" name="Text 16"/>
          <p:cNvSpPr/>
          <p:nvPr/>
        </p:nvSpPr>
        <p:spPr>
          <a:xfrm>
            <a:off x="6565392" y="485546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50" dirty="0"/>
          </a:p>
        </p:txBody>
      </p:sp>
      <p:sp>
        <p:nvSpPr>
          <p:cNvPr id="21" name="Text 17"/>
          <p:cNvSpPr/>
          <p:nvPr/>
        </p:nvSpPr>
        <p:spPr>
          <a:xfrm>
            <a:off x="7022592" y="4791456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Étendre l'analyse aux autres pays de l'UEMOA couverts par l'EHCVM.</a:t>
            </a:r>
            <a:endParaRPr lang="en-US" sz="1350" dirty="0"/>
          </a:p>
        </p:txBody>
      </p:sp>
      <p:sp>
        <p:nvSpPr>
          <p:cNvPr id="22" name="Text 18"/>
          <p:cNvSpPr/>
          <p:nvPr/>
        </p:nvSpPr>
        <p:spPr>
          <a:xfrm>
            <a:off x="10881360" y="645566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pic>
        <p:nvPicPr>
          <p:cNvPr id="23" name="Image 2" descr="logos/logo_ensae_ne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4280" y="6355080"/>
            <a:ext cx="38404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l'étude établit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58368" y="1417320"/>
            <a:ext cx="10890504" cy="1417320"/>
          </a:xfrm>
          <a:prstGeom prst="roundRect">
            <a:avLst>
              <a:gd name="adj" fmla="val 3871"/>
            </a:avLst>
          </a:prstGeom>
          <a:solidFill>
            <a:srgbClr val="312E81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572768"/>
            <a:ext cx="10012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l'horizon 2018-2021, les transferts de migrants n'ont pas réduit la pauvreté multidimensionnelle des enfants au Sénégal.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95528" y="331012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+6,4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95528" y="400507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59536" y="4389120"/>
            <a:ext cx="21214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d'écart de trajectoire, significatif à 5 % et stable aux trois appariements.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584448" y="331012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584448" y="400507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648456" y="4389120"/>
            <a:ext cx="21214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sept ressort, la nutrition, et un seul groupe d'âge, les 0 à 4 ans.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73368" y="331012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Q1-Q2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373368" y="400507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seulement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437376" y="4389120"/>
            <a:ext cx="21214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premiers quintiles de montant portent l'écart observé.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62288" y="331012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9162288" y="400507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concluant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226296" y="4389120"/>
            <a:ext cx="21214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milieu, genre du chef de ménage ou tranche d'âge.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881360" y="645566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pic>
        <p:nvPicPr>
          <p:cNvPr id="18" name="Image 0" descr="logos/logo_ensae_n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6355080"/>
            <a:ext cx="38404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Recommandations de politique économique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Elles suivent l'ordre des faits établis, de la dimension touchée aux conditions de conversion.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0120" y="2002536"/>
            <a:ext cx="804672" cy="804672"/>
          </a:xfrm>
          <a:prstGeom prst="ellipse">
            <a:avLst/>
          </a:prstGeom>
          <a:solidFill>
            <a:srgbClr val="D7EDF3"/>
          </a:solidFill>
          <a:ln w="15875">
            <a:solidFill>
              <a:srgbClr val="A6D7E3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7381" y="2219797"/>
            <a:ext cx="370149" cy="37014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965960" y="19659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alimentaire et enfants de 0 à 4 ans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5394960" y="196596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Filets sociaux, cantines et suivi nutritionnel dans les communes d'émigration, bénéficiaires compris.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960120" y="3419856"/>
            <a:ext cx="804672" cy="804672"/>
          </a:xfrm>
          <a:prstGeom prst="ellipse">
            <a:avLst/>
          </a:prstGeom>
          <a:solidFill>
            <a:srgbClr val="E3E1FB"/>
          </a:solidFill>
          <a:ln w="15875">
            <a:solidFill>
              <a:srgbClr val="C0BCF6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7381" y="3637117"/>
            <a:ext cx="370149" cy="370149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965960" y="33832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Compléter par l'offre publique de services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5394960" y="338328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Eau, assainissement et santé relèvent de l'offre publique, en priorité dans les communes rurales.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960120" y="4837176"/>
            <a:ext cx="804672" cy="804672"/>
          </a:xfrm>
          <a:prstGeom prst="ellipse">
            <a:avLst/>
          </a:prstGeom>
          <a:solidFill>
            <a:srgbClr val="F9DCE9"/>
          </a:solidFill>
          <a:ln w="15875">
            <a:solidFill>
              <a:srgbClr val="F2B1CE"/>
            </a:solidFill>
            <a:prstDash val="solid"/>
          </a:ln>
          <a:effectLst>
            <a:outerShdw sx="100000" sy="100000" kx="0" ky="0" algn="bl" rotWithShape="0" blurRad="127000" dist="25400" dir="5400000">
              <a:srgbClr val="312E81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381" y="5054437"/>
            <a:ext cx="370149" cy="37014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965960" y="480060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Cibler les petits montants, réduire les coûts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5394960" y="480060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Accompagner les ménages qui reçoivent le moins et réduire les coûts des envois formels.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10881360" y="645566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pic>
        <p:nvPicPr>
          <p:cNvPr id="17" name="Image 3" descr="logos/logo_ensae_ne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4280" y="6355080"/>
            <a:ext cx="38404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828800"/>
            <a:ext cx="5486400" cy="548640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023360"/>
            <a:ext cx="4754880" cy="475488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51460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de votre attention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914400" y="3611880"/>
            <a:ext cx="10360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Sié Rachid TRAORÉ   ·   sous la direction de Mamadou Abdoulaye DIALLO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3977640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ENSAE Pierre Ndiaye   ·   Août 2026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ENSAE Pierre Ndiaye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Transferts de migrants et pauvrete multidimensionnelle des enfants au Senegal</dc:title>
  <dc:subject>PptxGenJS Presentation</dc:subject>
  <dc:creator>Sie Rachid TRAORE</dc:creator>
  <cp:lastModifiedBy>Sie Rachid TRAORE</cp:lastModifiedBy>
  <cp:revision>1</cp:revision>
  <dcterms:created xsi:type="dcterms:W3CDTF">2026-08-03T01:51:29Z</dcterms:created>
  <dcterms:modified xsi:type="dcterms:W3CDTF">2026-08-03T01:51:29Z</dcterms:modified>
</cp:coreProperties>
</file>