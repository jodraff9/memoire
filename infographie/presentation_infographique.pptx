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4365E"/>
          </a:solidFill>
          <a:ln/>
        </p:spPr>
      </p:sp>
      <p:sp>
        <p:nvSpPr>
          <p:cNvPr id="3" name="Shape 1"/>
          <p:cNvSpPr/>
          <p:nvPr/>
        </p:nvSpPr>
        <p:spPr>
          <a:xfrm>
            <a:off x="-2194560" y="3840480"/>
            <a:ext cx="5120640" cy="5120640"/>
          </a:xfrm>
          <a:prstGeom prst="ellipse">
            <a:avLst/>
          </a:prstGeom>
          <a:solidFill>
            <a:srgbClr val="24365E"/>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FC0DA"/>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68580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78408" y="188366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6" name="Text 3"/>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1</a:t>
            </a:r>
            <a:endParaRPr lang="en-US" sz="3000" dirty="0"/>
          </a:p>
        </p:txBody>
      </p:sp>
      <p:sp>
        <p:nvSpPr>
          <p:cNvPr id="7" name="Text 4"/>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8" name="Text 5"/>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9" name="Shape 6"/>
          <p:cNvSpPr/>
          <p:nvPr/>
        </p:nvSpPr>
        <p:spPr>
          <a:xfrm>
            <a:off x="448056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4773168" y="188366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2" name="Text 8"/>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2</a:t>
            </a:r>
            <a:endParaRPr lang="en-US" sz="3000" dirty="0"/>
          </a:p>
        </p:txBody>
      </p:sp>
      <p:sp>
        <p:nvSpPr>
          <p:cNvPr id="13" name="Text 9"/>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4" name="Text 10"/>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5" name="Shape 11"/>
          <p:cNvSpPr/>
          <p:nvPr/>
        </p:nvSpPr>
        <p:spPr>
          <a:xfrm>
            <a:off x="827532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8567928" y="1883664"/>
            <a:ext cx="841248" cy="84124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7"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8" name="Text 13"/>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3</a:t>
            </a:r>
            <a:endParaRPr lang="en-US" sz="3000" dirty="0"/>
          </a:p>
        </p:txBody>
      </p:sp>
      <p:sp>
        <p:nvSpPr>
          <p:cNvPr id="19" name="Text 14"/>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20" name="Text 15"/>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21" name="Shape 16"/>
          <p:cNvSpPr/>
          <p:nvPr/>
        </p:nvSpPr>
        <p:spPr>
          <a:xfrm>
            <a:off x="68580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978408" y="4215384"/>
            <a:ext cx="841248" cy="84124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3"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4" name="Text 18"/>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4</a:t>
            </a:r>
            <a:endParaRPr lang="en-US" sz="3000" dirty="0"/>
          </a:p>
        </p:txBody>
      </p:sp>
      <p:sp>
        <p:nvSpPr>
          <p:cNvPr id="25" name="Text 19"/>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6" name="Text 20"/>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7" name="Shape 21"/>
          <p:cNvSpPr/>
          <p:nvPr/>
        </p:nvSpPr>
        <p:spPr>
          <a:xfrm>
            <a:off x="448056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8" name="Shape 22"/>
          <p:cNvSpPr/>
          <p:nvPr/>
        </p:nvSpPr>
        <p:spPr>
          <a:xfrm>
            <a:off x="4773168" y="421538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9"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30" name="Text 23"/>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5</a:t>
            </a:r>
            <a:endParaRPr lang="en-US" sz="3000" dirty="0"/>
          </a:p>
        </p:txBody>
      </p:sp>
      <p:sp>
        <p:nvSpPr>
          <p:cNvPr id="31" name="Text 24"/>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32" name="Text 25"/>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33" name="Shape 26"/>
          <p:cNvSpPr/>
          <p:nvPr/>
        </p:nvSpPr>
        <p:spPr>
          <a:xfrm>
            <a:off x="827532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4" name="Shape 27"/>
          <p:cNvSpPr/>
          <p:nvPr/>
        </p:nvSpPr>
        <p:spPr>
          <a:xfrm>
            <a:off x="8567928" y="421538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5"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6" name="Text 28"/>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6</a:t>
            </a:r>
            <a:endParaRPr lang="en-US" sz="3000" dirty="0"/>
          </a:p>
        </p:txBody>
      </p:sp>
      <p:sp>
        <p:nvSpPr>
          <p:cNvPr id="37" name="Text 29"/>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8" name="Text 30"/>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9" name="Text 3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pic>
        <p:nvPicPr>
          <p:cNvPr id="40"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01</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Contexte et problématique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Une ressource privée massive, des privations infantiles persistantes.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68680" cy="86868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6" name="Text 3"/>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7" name="Text 4"/>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2 220</a:t>
            </a:r>
            <a:endParaRPr lang="en-US" sz="3400" dirty="0"/>
          </a:p>
        </p:txBody>
      </p:sp>
      <p:sp>
        <p:nvSpPr>
          <p:cNvPr id="8" name="Text 5"/>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9" name="Text 6"/>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12,1 %</a:t>
            </a:r>
            <a:endParaRPr lang="en-US" sz="3400" dirty="0"/>
          </a:p>
        </p:txBody>
      </p:sp>
      <p:sp>
        <p:nvSpPr>
          <p:cNvPr id="10" name="Text 7"/>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1" name="Text 8"/>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2" name="Text 9"/>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3" name="Shape 10"/>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4" name="Shape 11"/>
          <p:cNvSpPr/>
          <p:nvPr/>
        </p:nvSpPr>
        <p:spPr>
          <a:xfrm>
            <a:off x="6583680" y="1600200"/>
            <a:ext cx="868680" cy="86868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5"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6" name="Text 12"/>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7" name="Text 13"/>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50,7 %</a:t>
            </a:r>
            <a:endParaRPr lang="en-US" sz="3400" dirty="0"/>
          </a:p>
        </p:txBody>
      </p:sp>
      <p:sp>
        <p:nvSpPr>
          <p:cNvPr id="18" name="Text 14"/>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9" name="Text 15"/>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7</a:t>
            </a:r>
            <a:endParaRPr lang="en-US" sz="3400" dirty="0"/>
          </a:p>
        </p:txBody>
      </p:sp>
      <p:sp>
        <p:nvSpPr>
          <p:cNvPr id="20" name="Text 16"/>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21" name="Text 17"/>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2" name="Text 18"/>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3"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pic>
        <p:nvPicPr>
          <p:cNvPr id="24"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Shape 3"/>
          <p:cNvSpPr/>
          <p:nvPr/>
        </p:nvSpPr>
        <p:spPr>
          <a:xfrm>
            <a:off x="64008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7" name="Text 5"/>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8" name="Shape 6"/>
          <p:cNvSpPr/>
          <p:nvPr/>
        </p:nvSpPr>
        <p:spPr>
          <a:xfrm>
            <a:off x="443484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10" name="Text 8"/>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11" name="Shape 9"/>
          <p:cNvSpPr/>
          <p:nvPr/>
        </p:nvSpPr>
        <p:spPr>
          <a:xfrm>
            <a:off x="822960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12" name="Text 10"/>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3" name="Text 11"/>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4" name="Shape 12"/>
          <p:cNvSpPr/>
          <p:nvPr/>
        </p:nvSpPr>
        <p:spPr>
          <a:xfrm>
            <a:off x="914400" y="34290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5"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6" name="Shape 13"/>
          <p:cNvSpPr/>
          <p:nvPr/>
        </p:nvSpPr>
        <p:spPr>
          <a:xfrm>
            <a:off x="4709160" y="342900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8" name="Shape 14"/>
          <p:cNvSpPr/>
          <p:nvPr/>
        </p:nvSpPr>
        <p:spPr>
          <a:xfrm>
            <a:off x="8503920" y="342900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9"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20"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pic>
        <p:nvPicPr>
          <p:cNvPr id="21"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6" name="Text 3"/>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7" name="Text 4"/>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8" name="Shape 5"/>
          <p:cNvSpPr/>
          <p:nvPr/>
        </p:nvSpPr>
        <p:spPr>
          <a:xfrm>
            <a:off x="960120" y="3520440"/>
            <a:ext cx="329184" cy="329184"/>
          </a:xfrm>
          <a:prstGeom prst="ellipse">
            <a:avLst/>
          </a:prstGeom>
          <a:solidFill>
            <a:srgbClr val="41639E"/>
          </a:solidFill>
          <a:ln/>
        </p:spPr>
      </p:sp>
      <p:sp>
        <p:nvSpPr>
          <p:cNvPr id="9" name="Text 6"/>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1" name="Shape 8"/>
          <p:cNvSpPr/>
          <p:nvPr/>
        </p:nvSpPr>
        <p:spPr>
          <a:xfrm>
            <a:off x="960120" y="4544568"/>
            <a:ext cx="329184" cy="329184"/>
          </a:xfrm>
          <a:prstGeom prst="ellipse">
            <a:avLst/>
          </a:prstGeom>
          <a:solidFill>
            <a:srgbClr val="41639E"/>
          </a:solidFill>
          <a:ln/>
        </p:spPr>
      </p:sp>
      <p:sp>
        <p:nvSpPr>
          <p:cNvPr id="12" name="Text 9"/>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4" name="Shape 11"/>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5" name="Shape 12"/>
          <p:cNvSpPr/>
          <p:nvPr/>
        </p:nvSpPr>
        <p:spPr>
          <a:xfrm>
            <a:off x="6583680" y="16002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6"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7" name="Text 13"/>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8" name="Shape 14"/>
          <p:cNvSpPr/>
          <p:nvPr/>
        </p:nvSpPr>
        <p:spPr>
          <a:xfrm>
            <a:off x="6537960" y="2651760"/>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19" name="Text 15"/>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20" name="Text 16"/>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21" name="Shape 17"/>
          <p:cNvSpPr/>
          <p:nvPr/>
        </p:nvSpPr>
        <p:spPr>
          <a:xfrm>
            <a:off x="6537960" y="4224528"/>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22" name="Text 18"/>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3" name="Text 19"/>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02</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Revue de la littérature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Trois enseignements : la sélection, la diversité des canaux, la lacune à combler.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5" name="Shape 3"/>
          <p:cNvSpPr/>
          <p:nvPr/>
        </p:nvSpPr>
        <p:spPr>
          <a:xfrm>
            <a:off x="960120" y="2194560"/>
            <a:ext cx="274320" cy="274320"/>
          </a:xfrm>
          <a:prstGeom prst="ellipse">
            <a:avLst/>
          </a:prstGeom>
          <a:solidFill>
            <a:srgbClr val="41639E"/>
          </a:solidFill>
          <a:ln/>
        </p:spPr>
      </p:sp>
      <p:sp>
        <p:nvSpPr>
          <p:cNvPr id="6" name="Text 4"/>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7" name="Text 5"/>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8" name="Text 6"/>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9" name="Shape 7"/>
          <p:cNvSpPr/>
          <p:nvPr/>
        </p:nvSpPr>
        <p:spPr>
          <a:xfrm>
            <a:off x="960120" y="3401568"/>
            <a:ext cx="274320" cy="274320"/>
          </a:xfrm>
          <a:prstGeom prst="ellipse">
            <a:avLst/>
          </a:prstGeom>
          <a:solidFill>
            <a:srgbClr val="41639E"/>
          </a:solidFill>
          <a:ln/>
        </p:spPr>
      </p:sp>
      <p:sp>
        <p:nvSpPr>
          <p:cNvPr id="10" name="Text 8"/>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1" name="Text 9"/>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2" name="Text 10"/>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3" name="Shape 11"/>
          <p:cNvSpPr/>
          <p:nvPr/>
        </p:nvSpPr>
        <p:spPr>
          <a:xfrm>
            <a:off x="960120" y="4608576"/>
            <a:ext cx="274320" cy="274320"/>
          </a:xfrm>
          <a:prstGeom prst="ellipse">
            <a:avLst/>
          </a:prstGeom>
          <a:solidFill>
            <a:srgbClr val="41639E"/>
          </a:solidFill>
          <a:ln/>
        </p:spPr>
      </p:sp>
      <p:sp>
        <p:nvSpPr>
          <p:cNvPr id="14" name="Text 12"/>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5" name="Text 13"/>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6" name="Text 14"/>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7" name="Shape 15"/>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9" name="Text 17"/>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20" name="Text 18"/>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21" name="Text 19"/>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2" name="Text 20"/>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3" name="Text 21"/>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4" name="Text 22"/>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5" name="Text 23"/>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6" name="Text 24"/>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7" name="Text 25"/>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8" name="Shape 26"/>
          <p:cNvSpPr/>
          <p:nvPr/>
        </p:nvSpPr>
        <p:spPr>
          <a:xfrm>
            <a:off x="6583680" y="2176272"/>
            <a:ext cx="749808" cy="74980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9"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30" name="Shape 27"/>
          <p:cNvSpPr/>
          <p:nvPr/>
        </p:nvSpPr>
        <p:spPr>
          <a:xfrm>
            <a:off x="6583680" y="3383280"/>
            <a:ext cx="749808" cy="74980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31"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2" name="Shape 28"/>
          <p:cNvSpPr/>
          <p:nvPr/>
        </p:nvSpPr>
        <p:spPr>
          <a:xfrm>
            <a:off x="6583680" y="4590288"/>
            <a:ext cx="749808" cy="74980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3"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4" name="Text 2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pic>
        <p:nvPicPr>
          <p:cNvPr id="3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03</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Cadre méthodologique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Mesurer la pauvreté par l'approche MODA, identifier l'effet par PSM et double différence.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65836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87552"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7" name="Text 4"/>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8" name="Shape 5"/>
          <p:cNvSpPr/>
          <p:nvPr/>
        </p:nvSpPr>
        <p:spPr>
          <a:xfrm>
            <a:off x="222199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9" name="Shape 6"/>
          <p:cNvSpPr/>
          <p:nvPr/>
        </p:nvSpPr>
        <p:spPr>
          <a:xfrm>
            <a:off x="2551176"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0"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11" name="Text 7"/>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2" name="Shape 8"/>
          <p:cNvSpPr/>
          <p:nvPr/>
        </p:nvSpPr>
        <p:spPr>
          <a:xfrm>
            <a:off x="3785616"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3" name="Shape 9"/>
          <p:cNvSpPr/>
          <p:nvPr/>
        </p:nvSpPr>
        <p:spPr>
          <a:xfrm>
            <a:off x="4114800"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4"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5" name="Text 10"/>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6" name="Shape 11"/>
          <p:cNvSpPr/>
          <p:nvPr/>
        </p:nvSpPr>
        <p:spPr>
          <a:xfrm>
            <a:off x="5349240"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7" name="Shape 12"/>
          <p:cNvSpPr/>
          <p:nvPr/>
        </p:nvSpPr>
        <p:spPr>
          <a:xfrm>
            <a:off x="5678424" y="201168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8"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9" name="Text 13"/>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20" name="Shape 14"/>
          <p:cNvSpPr/>
          <p:nvPr/>
        </p:nvSpPr>
        <p:spPr>
          <a:xfrm>
            <a:off x="6912864"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1" name="Shape 15"/>
          <p:cNvSpPr/>
          <p:nvPr/>
        </p:nvSpPr>
        <p:spPr>
          <a:xfrm>
            <a:off x="7242048" y="201168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2"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23" name="Text 16"/>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24" name="Shape 17"/>
          <p:cNvSpPr/>
          <p:nvPr/>
        </p:nvSpPr>
        <p:spPr>
          <a:xfrm>
            <a:off x="847648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5" name="Shape 18"/>
          <p:cNvSpPr/>
          <p:nvPr/>
        </p:nvSpPr>
        <p:spPr>
          <a:xfrm>
            <a:off x="8805672"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26"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7" name="Text 19"/>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8" name="Shape 20"/>
          <p:cNvSpPr/>
          <p:nvPr/>
        </p:nvSpPr>
        <p:spPr>
          <a:xfrm>
            <a:off x="1004011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9" name="Shape 21"/>
          <p:cNvSpPr/>
          <p:nvPr/>
        </p:nvSpPr>
        <p:spPr>
          <a:xfrm>
            <a:off x="10369296"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30"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31" name="Text 22"/>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32" name="Shape 23"/>
          <p:cNvSpPr/>
          <p:nvPr/>
        </p:nvSpPr>
        <p:spPr>
          <a:xfrm>
            <a:off x="658368" y="3858768"/>
            <a:ext cx="54864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3" name="Text 24"/>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34" name="Text 25"/>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35" name="Shape 26"/>
          <p:cNvSpPr/>
          <p:nvPr/>
        </p:nvSpPr>
        <p:spPr>
          <a:xfrm>
            <a:off x="6355080" y="3858768"/>
            <a:ext cx="519379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6" name="Text 27"/>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37" name="Text 28"/>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0 à 4 ans</a:t>
            </a:r>
            <a:endParaRPr lang="en-US" sz="1250" dirty="0"/>
          </a:p>
        </p:txBody>
      </p:sp>
      <p:sp>
        <p:nvSpPr>
          <p:cNvPr id="38" name="Text 29"/>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9" name="Text 30"/>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5 à 14 ans</a:t>
            </a:r>
            <a:endParaRPr lang="en-US" sz="1250" dirty="0"/>
          </a:p>
        </p:txBody>
      </p:sp>
      <p:sp>
        <p:nvSpPr>
          <p:cNvPr id="40" name="Text 31"/>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41" name="Text 32"/>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15 à 17 ans</a:t>
            </a:r>
            <a:endParaRPr lang="en-US" sz="1250" dirty="0"/>
          </a:p>
        </p:txBody>
      </p:sp>
      <p:sp>
        <p:nvSpPr>
          <p:cNvPr id="42" name="Text 33"/>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43" name="Text 34"/>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44"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45"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pic>
        <p:nvPicPr>
          <p:cNvPr id="46"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Shape 2"/>
          <p:cNvSpPr/>
          <p:nvPr/>
        </p:nvSpPr>
        <p:spPr>
          <a:xfrm>
            <a:off x="658368"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6 127</a:t>
            </a:r>
            <a:endParaRPr lang="en-US" sz="3200" dirty="0"/>
          </a:p>
        </p:txBody>
      </p:sp>
      <p:sp>
        <p:nvSpPr>
          <p:cNvPr id="6" name="Text 4"/>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7" name="Shape 5"/>
          <p:cNvSpPr/>
          <p:nvPr/>
        </p:nvSpPr>
        <p:spPr>
          <a:xfrm>
            <a:off x="3410712"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17 786</a:t>
            </a:r>
            <a:endParaRPr lang="en-US" sz="3200" dirty="0"/>
          </a:p>
        </p:txBody>
      </p:sp>
      <p:sp>
        <p:nvSpPr>
          <p:cNvPr id="9" name="Text 7"/>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10" name="Shape 8"/>
          <p:cNvSpPr/>
          <p:nvPr/>
        </p:nvSpPr>
        <p:spPr>
          <a:xfrm>
            <a:off x="6163056"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2 638</a:t>
            </a:r>
            <a:endParaRPr lang="en-US" sz="3200" dirty="0"/>
          </a:p>
        </p:txBody>
      </p:sp>
      <p:sp>
        <p:nvSpPr>
          <p:cNvPr id="12" name="Text 10"/>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3" name="Shape 11"/>
          <p:cNvSpPr/>
          <p:nvPr/>
        </p:nvSpPr>
        <p:spPr>
          <a:xfrm>
            <a:off x="8915400"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14,8 %</a:t>
            </a:r>
            <a:endParaRPr lang="en-US" sz="3200" dirty="0"/>
          </a:p>
        </p:txBody>
      </p:sp>
      <p:sp>
        <p:nvSpPr>
          <p:cNvPr id="15" name="Text 13"/>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6" name="Shape 14"/>
          <p:cNvSpPr/>
          <p:nvPr/>
        </p:nvSpPr>
        <p:spPr>
          <a:xfrm>
            <a:off x="658368" y="3520440"/>
            <a:ext cx="5394960"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17" name="Shape 15"/>
          <p:cNvSpPr/>
          <p:nvPr/>
        </p:nvSpPr>
        <p:spPr>
          <a:xfrm>
            <a:off x="960120" y="379476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8"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9" name="Text 16"/>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20" name="Text 17"/>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21" name="Shape 18"/>
          <p:cNvSpPr/>
          <p:nvPr/>
        </p:nvSpPr>
        <p:spPr>
          <a:xfrm>
            <a:off x="6263640" y="3520440"/>
            <a:ext cx="5285232"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22" name="Shape 19"/>
          <p:cNvSpPr/>
          <p:nvPr/>
        </p:nvSpPr>
        <p:spPr>
          <a:xfrm>
            <a:off x="6565392" y="3794760"/>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3"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24" name="Text 20"/>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25" name="Text 21"/>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6" name="Shape 22"/>
          <p:cNvSpPr/>
          <p:nvPr/>
        </p:nvSpPr>
        <p:spPr>
          <a:xfrm>
            <a:off x="8339328" y="4736592"/>
            <a:ext cx="2331720" cy="146304"/>
          </a:xfrm>
          <a:prstGeom prst="roundRect">
            <a:avLst>
              <a:gd name="adj" fmla="val 12500"/>
            </a:avLst>
          </a:prstGeom>
          <a:solidFill>
            <a:srgbClr val="C98A24"/>
          </a:solidFill>
          <a:ln/>
        </p:spPr>
      </p:sp>
      <p:sp>
        <p:nvSpPr>
          <p:cNvPr id="27" name="Text 23"/>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8" name="Text 24"/>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9" name="Shape 25"/>
          <p:cNvSpPr/>
          <p:nvPr/>
        </p:nvSpPr>
        <p:spPr>
          <a:xfrm>
            <a:off x="8339328" y="5010912"/>
            <a:ext cx="316569" cy="146304"/>
          </a:xfrm>
          <a:prstGeom prst="roundRect">
            <a:avLst>
              <a:gd name="adj" fmla="val 12500"/>
            </a:avLst>
          </a:prstGeom>
          <a:solidFill>
            <a:srgbClr val="E3E7EE"/>
          </a:solidFill>
          <a:ln/>
        </p:spPr>
      </p:sp>
      <p:sp>
        <p:nvSpPr>
          <p:cNvPr id="30" name="Text 26"/>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31" name="Text 27"/>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32" name="Shape 28"/>
          <p:cNvSpPr/>
          <p:nvPr/>
        </p:nvSpPr>
        <p:spPr>
          <a:xfrm>
            <a:off x="8339328" y="5285232"/>
            <a:ext cx="221258" cy="146304"/>
          </a:xfrm>
          <a:prstGeom prst="roundRect">
            <a:avLst>
              <a:gd name="adj" fmla="val 12500"/>
            </a:avLst>
          </a:prstGeom>
          <a:solidFill>
            <a:srgbClr val="E3E7EE"/>
          </a:solidFill>
          <a:ln/>
        </p:spPr>
      </p:sp>
      <p:sp>
        <p:nvSpPr>
          <p:cNvPr id="33" name="Text 29"/>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34" name="Text 30"/>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35" name="Shape 31"/>
          <p:cNvSpPr/>
          <p:nvPr/>
        </p:nvSpPr>
        <p:spPr>
          <a:xfrm>
            <a:off x="8339328" y="5559552"/>
            <a:ext cx="125947" cy="146304"/>
          </a:xfrm>
          <a:prstGeom prst="roundRect">
            <a:avLst>
              <a:gd name="adj" fmla="val 14520"/>
            </a:avLst>
          </a:prstGeom>
          <a:solidFill>
            <a:srgbClr val="E3E7EE"/>
          </a:solidFill>
          <a:ln/>
        </p:spPr>
      </p:sp>
      <p:sp>
        <p:nvSpPr>
          <p:cNvPr id="36" name="Text 32"/>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7" name="Text 33"/>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8" name="Text 3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pic>
        <p:nvPicPr>
          <p:cNvPr id="39"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65836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32688" y="1965960"/>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7" name="Text 4"/>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1</a:t>
            </a:r>
            <a:endParaRPr lang="en-US" sz="3400" dirty="0"/>
          </a:p>
        </p:txBody>
      </p:sp>
      <p:sp>
        <p:nvSpPr>
          <p:cNvPr id="8" name="Text 5"/>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9" name="Text 6"/>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10" name="Shape 7"/>
          <p:cNvSpPr/>
          <p:nvPr/>
        </p:nvSpPr>
        <p:spPr>
          <a:xfrm>
            <a:off x="445312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1" name="Shape 8"/>
          <p:cNvSpPr/>
          <p:nvPr/>
        </p:nvSpPr>
        <p:spPr>
          <a:xfrm>
            <a:off x="4727448" y="1965960"/>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2"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3" name="Text 9"/>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2</a:t>
            </a:r>
            <a:endParaRPr lang="en-US" sz="3400" dirty="0"/>
          </a:p>
        </p:txBody>
      </p:sp>
      <p:sp>
        <p:nvSpPr>
          <p:cNvPr id="14" name="Text 10"/>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5" name="Text 11"/>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6" name="Shape 12"/>
          <p:cNvSpPr/>
          <p:nvPr/>
        </p:nvSpPr>
        <p:spPr>
          <a:xfrm>
            <a:off x="824788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7" name="Shape 13"/>
          <p:cNvSpPr/>
          <p:nvPr/>
        </p:nvSpPr>
        <p:spPr>
          <a:xfrm>
            <a:off x="8522208" y="1965960"/>
            <a:ext cx="804672" cy="804672"/>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8"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9" name="Text 14"/>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3</a:t>
            </a:r>
            <a:endParaRPr lang="en-US" sz="3400" dirty="0"/>
          </a:p>
        </p:txBody>
      </p:sp>
      <p:sp>
        <p:nvSpPr>
          <p:cNvPr id="20" name="Text 15"/>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21" name="Text 16"/>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22" name="Shape 17"/>
          <p:cNvSpPr/>
          <p:nvPr/>
        </p:nvSpPr>
        <p:spPr>
          <a:xfrm>
            <a:off x="658368" y="5010912"/>
            <a:ext cx="10890504" cy="868680"/>
          </a:xfrm>
          <a:prstGeom prst="roundRect">
            <a:avLst>
              <a:gd name="adj" fmla="val 6316"/>
            </a:avLst>
          </a:prstGeom>
          <a:solidFill>
            <a:srgbClr val="1E2B4A"/>
          </a:solidFill>
          <a:ln/>
          <a:effectLst>
            <a:outerShdw sx="100000" sy="100000" kx="0" ky="0" algn="bl" rotWithShape="0" blurRad="127000" dist="25400" dir="5400000">
              <a:srgbClr val="1E2B4A">
                <a:alpha val="10000"/>
              </a:srgbClr>
            </a:outerShdw>
          </a:effectLst>
        </p:spPr>
      </p:sp>
      <p:sp>
        <p:nvSpPr>
          <p:cNvPr id="23" name="Text 18"/>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4"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pic>
        <p:nvPicPr>
          <p:cNvPr id="2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04</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Résultats empiriques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 effet qui ne va pas dans le sens attendu, et qui se localise précisément.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Shape 2"/>
          <p:cNvSpPr/>
          <p:nvPr/>
        </p:nvSpPr>
        <p:spPr>
          <a:xfrm>
            <a:off x="658368" y="1783080"/>
            <a:ext cx="539496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6" name="Text 4"/>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7" name="Text 5"/>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8" name="Text 6"/>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9" name="Text 7"/>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10" name="Shape 8"/>
          <p:cNvSpPr/>
          <p:nvPr/>
        </p:nvSpPr>
        <p:spPr>
          <a:xfrm>
            <a:off x="960120" y="3310128"/>
            <a:ext cx="4800600" cy="10973"/>
          </a:xfrm>
          <a:prstGeom prst="rect">
            <a:avLst/>
          </a:prstGeom>
          <a:solidFill>
            <a:srgbClr val="E3E7EE"/>
          </a:solidFill>
          <a:ln/>
        </p:spPr>
      </p:sp>
      <p:sp>
        <p:nvSpPr>
          <p:cNvPr id="11" name="Text 9"/>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2" name="Text 10"/>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63,5 %</a:t>
            </a:r>
            <a:endParaRPr lang="en-US" sz="1500" dirty="0"/>
          </a:p>
        </p:txBody>
      </p:sp>
      <p:sp>
        <p:nvSpPr>
          <p:cNvPr id="13" name="Text 11"/>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57,8 %</a:t>
            </a:r>
            <a:endParaRPr lang="en-US" sz="1500" dirty="0"/>
          </a:p>
        </p:txBody>
      </p:sp>
      <p:sp>
        <p:nvSpPr>
          <p:cNvPr id="14" name="Text 12"/>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5" name="Shape 13"/>
          <p:cNvSpPr/>
          <p:nvPr/>
        </p:nvSpPr>
        <p:spPr>
          <a:xfrm>
            <a:off x="960120" y="3968496"/>
            <a:ext cx="4800600" cy="10973"/>
          </a:xfrm>
          <a:prstGeom prst="rect">
            <a:avLst/>
          </a:prstGeom>
          <a:solidFill>
            <a:srgbClr val="E3E7EE"/>
          </a:solidFill>
          <a:ln/>
        </p:spPr>
      </p:sp>
      <p:sp>
        <p:nvSpPr>
          <p:cNvPr id="16" name="Text 14"/>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7" name="Text 15"/>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70,7 %</a:t>
            </a:r>
            <a:endParaRPr lang="en-US" sz="1500" dirty="0"/>
          </a:p>
        </p:txBody>
      </p:sp>
      <p:sp>
        <p:nvSpPr>
          <p:cNvPr id="18" name="Text 16"/>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70,3 %</a:t>
            </a:r>
            <a:endParaRPr lang="en-US" sz="1500" dirty="0"/>
          </a:p>
        </p:txBody>
      </p:sp>
      <p:sp>
        <p:nvSpPr>
          <p:cNvPr id="19" name="Text 17"/>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20" name="Shape 18"/>
          <p:cNvSpPr/>
          <p:nvPr/>
        </p:nvSpPr>
        <p:spPr>
          <a:xfrm>
            <a:off x="960120" y="4626864"/>
            <a:ext cx="4800600" cy="10973"/>
          </a:xfrm>
          <a:prstGeom prst="rect">
            <a:avLst/>
          </a:prstGeom>
          <a:solidFill>
            <a:srgbClr val="E3E7EE"/>
          </a:solidFill>
          <a:ln/>
        </p:spPr>
      </p:sp>
      <p:sp>
        <p:nvSpPr>
          <p:cNvPr id="21" name="Text 19"/>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2" name="Text 20"/>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0,449</a:t>
            </a:r>
            <a:endParaRPr lang="en-US" sz="1500" dirty="0"/>
          </a:p>
        </p:txBody>
      </p:sp>
      <p:sp>
        <p:nvSpPr>
          <p:cNvPr id="23" name="Text 21"/>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0,406</a:t>
            </a:r>
            <a:endParaRPr lang="en-US" sz="1500" dirty="0"/>
          </a:p>
        </p:txBody>
      </p:sp>
      <p:sp>
        <p:nvSpPr>
          <p:cNvPr id="24" name="Text 22"/>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5" name="Text 23"/>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6" name="Shape 24"/>
          <p:cNvSpPr/>
          <p:nvPr/>
        </p:nvSpPr>
        <p:spPr>
          <a:xfrm>
            <a:off x="6263640" y="1783080"/>
            <a:ext cx="5285232"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27" name="Text 25"/>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8" name="Text 26"/>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9" name="Text 27"/>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0" name="Shape 28"/>
          <p:cNvSpPr/>
          <p:nvPr/>
        </p:nvSpPr>
        <p:spPr>
          <a:xfrm>
            <a:off x="7498080" y="2999232"/>
            <a:ext cx="2696957" cy="182880"/>
          </a:xfrm>
          <a:prstGeom prst="roundRect">
            <a:avLst>
              <a:gd name="adj" fmla="val 10000"/>
            </a:avLst>
          </a:prstGeom>
          <a:solidFill>
            <a:srgbClr val="41639E"/>
          </a:solidFill>
          <a:ln/>
        </p:spPr>
      </p:sp>
      <p:sp>
        <p:nvSpPr>
          <p:cNvPr id="31" name="Text 29"/>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2" name="Text 30"/>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3" name="Shape 31"/>
          <p:cNvSpPr/>
          <p:nvPr/>
        </p:nvSpPr>
        <p:spPr>
          <a:xfrm>
            <a:off x="7498080" y="3383280"/>
            <a:ext cx="2449939" cy="182880"/>
          </a:xfrm>
          <a:prstGeom prst="roundRect">
            <a:avLst>
              <a:gd name="adj" fmla="val 10000"/>
            </a:avLst>
          </a:prstGeom>
          <a:solidFill>
            <a:srgbClr val="41639E"/>
          </a:solidFill>
          <a:ln/>
        </p:spPr>
      </p:sp>
      <p:sp>
        <p:nvSpPr>
          <p:cNvPr id="34" name="Text 32"/>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5" name="Text 33"/>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6" name="Text 34"/>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7" name="Shape 35"/>
          <p:cNvSpPr/>
          <p:nvPr/>
        </p:nvSpPr>
        <p:spPr>
          <a:xfrm>
            <a:off x="7498080" y="4416552"/>
            <a:ext cx="1870862" cy="182880"/>
          </a:xfrm>
          <a:prstGeom prst="roundRect">
            <a:avLst>
              <a:gd name="adj" fmla="val 10000"/>
            </a:avLst>
          </a:prstGeom>
          <a:solidFill>
            <a:srgbClr val="D96F2B"/>
          </a:solidFill>
          <a:ln/>
        </p:spPr>
      </p:sp>
      <p:sp>
        <p:nvSpPr>
          <p:cNvPr id="38" name="Text 36"/>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9" name="Text 37"/>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40" name="Shape 38"/>
          <p:cNvSpPr/>
          <p:nvPr/>
        </p:nvSpPr>
        <p:spPr>
          <a:xfrm>
            <a:off x="7498080" y="4800600"/>
            <a:ext cx="1721031" cy="182880"/>
          </a:xfrm>
          <a:prstGeom prst="roundRect">
            <a:avLst>
              <a:gd name="adj" fmla="val 10000"/>
            </a:avLst>
          </a:prstGeom>
          <a:solidFill>
            <a:srgbClr val="D96F2B"/>
          </a:solidFill>
          <a:ln/>
        </p:spPr>
      </p:sp>
      <p:sp>
        <p:nvSpPr>
          <p:cNvPr id="41" name="Text 39"/>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2" name="Text 40"/>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3" name="Text 4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4" name="Text 4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pic>
        <p:nvPicPr>
          <p:cNvPr id="4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Shape 2"/>
          <p:cNvSpPr/>
          <p:nvPr/>
        </p:nvSpPr>
        <p:spPr>
          <a:xfrm>
            <a:off x="658368"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8A93A5"/>
                </a:solidFill>
                <a:latin typeface="Calibri" pitchFamily="34" charset="0"/>
                <a:ea typeface="Calibri" pitchFamily="34" charset="-122"/>
                <a:cs typeface="Calibri" pitchFamily="34" charset="-120"/>
              </a:rPr>
              <a:t>11,4 %</a:t>
            </a:r>
            <a:endParaRPr lang="en-US" sz="3000" dirty="0"/>
          </a:p>
        </p:txBody>
      </p:sp>
      <p:sp>
        <p:nvSpPr>
          <p:cNvPr id="6" name="Text 4"/>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7" name="Shape 5"/>
          <p:cNvSpPr/>
          <p:nvPr/>
        </p:nvSpPr>
        <p:spPr>
          <a:xfrm>
            <a:off x="3410712"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3E8C9A"/>
                </a:solidFill>
                <a:latin typeface="Calibri" pitchFamily="34" charset="0"/>
                <a:ea typeface="Calibri" pitchFamily="34" charset="-122"/>
                <a:cs typeface="Calibri" pitchFamily="34" charset="-120"/>
              </a:rPr>
              <a:t>2,4 %</a:t>
            </a:r>
            <a:endParaRPr lang="en-US" sz="3000" dirty="0"/>
          </a:p>
        </p:txBody>
      </p:sp>
      <p:sp>
        <p:nvSpPr>
          <p:cNvPr id="9" name="Text 7"/>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10" name="Shape 8"/>
          <p:cNvSpPr/>
          <p:nvPr/>
        </p:nvSpPr>
        <p:spPr>
          <a:xfrm>
            <a:off x="6163056"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16 210</a:t>
            </a:r>
            <a:endParaRPr lang="en-US" sz="3000" dirty="0"/>
          </a:p>
        </p:txBody>
      </p:sp>
      <p:sp>
        <p:nvSpPr>
          <p:cNvPr id="12" name="Text 10"/>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3" name="Shape 11"/>
          <p:cNvSpPr/>
          <p:nvPr/>
        </p:nvSpPr>
        <p:spPr>
          <a:xfrm>
            <a:off x="8915400"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0,150</a:t>
            </a:r>
            <a:endParaRPr lang="en-US" sz="3000" dirty="0"/>
          </a:p>
        </p:txBody>
      </p:sp>
      <p:sp>
        <p:nvSpPr>
          <p:cNvPr id="15" name="Text 13"/>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6" name="Shape 14"/>
          <p:cNvSpPr/>
          <p:nvPr/>
        </p:nvSpPr>
        <p:spPr>
          <a:xfrm>
            <a:off x="658368" y="3611880"/>
            <a:ext cx="10890504" cy="2194560"/>
          </a:xfrm>
          <a:prstGeom prst="roundRect">
            <a:avLst>
              <a:gd name="adj" fmla="val 2500"/>
            </a:avLst>
          </a:prstGeom>
          <a:solidFill>
            <a:srgbClr val="F4F5FA"/>
          </a:solidFill>
          <a:ln/>
          <a:effectLst>
            <a:outerShdw sx="100000" sy="100000" kx="0" ky="0" algn="bl" rotWithShape="0" blurRad="127000" dist="25400" dir="5400000">
              <a:srgbClr val="1E2B4A">
                <a:alpha val="10000"/>
              </a:srgbClr>
            </a:outerShdw>
          </a:effectLst>
        </p:spPr>
      </p:sp>
      <p:sp>
        <p:nvSpPr>
          <p:cNvPr id="17" name="Text 15"/>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8" name="Text 16"/>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9" name="Shape 17"/>
          <p:cNvSpPr/>
          <p:nvPr/>
        </p:nvSpPr>
        <p:spPr>
          <a:xfrm>
            <a:off x="960120" y="4553712"/>
            <a:ext cx="1408816" cy="128016"/>
          </a:xfrm>
          <a:prstGeom prst="roundRect">
            <a:avLst>
              <a:gd name="adj" fmla="val 14286"/>
            </a:avLst>
          </a:prstGeom>
          <a:solidFill>
            <a:srgbClr val="E3E7EE"/>
          </a:solidFill>
          <a:ln/>
        </p:spPr>
      </p:sp>
      <p:sp>
        <p:nvSpPr>
          <p:cNvPr id="20" name="Shape 18"/>
          <p:cNvSpPr/>
          <p:nvPr/>
        </p:nvSpPr>
        <p:spPr>
          <a:xfrm>
            <a:off x="960120" y="4718304"/>
            <a:ext cx="549920" cy="128016"/>
          </a:xfrm>
          <a:prstGeom prst="roundRect">
            <a:avLst>
              <a:gd name="adj" fmla="val 14286"/>
            </a:avLst>
          </a:prstGeom>
          <a:solidFill>
            <a:srgbClr val="3E8C9A"/>
          </a:solidFill>
          <a:ln/>
        </p:spPr>
      </p:sp>
      <p:sp>
        <p:nvSpPr>
          <p:cNvPr id="21" name="Text 19"/>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22" name="Text 20"/>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23" name="Shape 21"/>
          <p:cNvSpPr/>
          <p:nvPr/>
        </p:nvSpPr>
        <p:spPr>
          <a:xfrm>
            <a:off x="4434840" y="4553712"/>
            <a:ext cx="830550" cy="128016"/>
          </a:xfrm>
          <a:prstGeom prst="roundRect">
            <a:avLst>
              <a:gd name="adj" fmla="val 14286"/>
            </a:avLst>
          </a:prstGeom>
          <a:solidFill>
            <a:srgbClr val="E3E7EE"/>
          </a:solidFill>
          <a:ln/>
        </p:spPr>
      </p:sp>
      <p:sp>
        <p:nvSpPr>
          <p:cNvPr id="24" name="Shape 22"/>
          <p:cNvSpPr/>
          <p:nvPr/>
        </p:nvSpPr>
        <p:spPr>
          <a:xfrm>
            <a:off x="4434840" y="4718304"/>
            <a:ext cx="572597" cy="128016"/>
          </a:xfrm>
          <a:prstGeom prst="roundRect">
            <a:avLst>
              <a:gd name="adj" fmla="val 14286"/>
            </a:avLst>
          </a:prstGeom>
          <a:solidFill>
            <a:srgbClr val="3E8C9A"/>
          </a:solidFill>
          <a:ln/>
        </p:spPr>
      </p:sp>
      <p:sp>
        <p:nvSpPr>
          <p:cNvPr id="25" name="Text 23"/>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6" name="Text 24"/>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7" name="Shape 25"/>
          <p:cNvSpPr/>
          <p:nvPr/>
        </p:nvSpPr>
        <p:spPr>
          <a:xfrm>
            <a:off x="7909560" y="4553712"/>
            <a:ext cx="629290" cy="128016"/>
          </a:xfrm>
          <a:prstGeom prst="roundRect">
            <a:avLst>
              <a:gd name="adj" fmla="val 14286"/>
            </a:avLst>
          </a:prstGeom>
          <a:solidFill>
            <a:srgbClr val="E3E7EE"/>
          </a:solidFill>
          <a:ln/>
        </p:spPr>
      </p:sp>
      <p:sp>
        <p:nvSpPr>
          <p:cNvPr id="28" name="Shape 26"/>
          <p:cNvSpPr/>
          <p:nvPr/>
        </p:nvSpPr>
        <p:spPr>
          <a:xfrm>
            <a:off x="7909560" y="4718304"/>
            <a:ext cx="252283" cy="128016"/>
          </a:xfrm>
          <a:prstGeom prst="roundRect">
            <a:avLst>
              <a:gd name="adj" fmla="val 14286"/>
            </a:avLst>
          </a:prstGeom>
          <a:solidFill>
            <a:srgbClr val="3E8C9A"/>
          </a:solidFill>
          <a:ln/>
        </p:spPr>
      </p:sp>
      <p:sp>
        <p:nvSpPr>
          <p:cNvPr id="29" name="Text 27"/>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30" name="Text 28"/>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31" name="Shape 29"/>
          <p:cNvSpPr/>
          <p:nvPr/>
        </p:nvSpPr>
        <p:spPr>
          <a:xfrm>
            <a:off x="960120" y="5266944"/>
            <a:ext cx="779526" cy="128016"/>
          </a:xfrm>
          <a:prstGeom prst="roundRect">
            <a:avLst>
              <a:gd name="adj" fmla="val 14286"/>
            </a:avLst>
          </a:prstGeom>
          <a:solidFill>
            <a:srgbClr val="E3E7EE"/>
          </a:solidFill>
          <a:ln/>
        </p:spPr>
      </p:sp>
      <p:sp>
        <p:nvSpPr>
          <p:cNvPr id="32" name="Shape 30"/>
          <p:cNvSpPr/>
          <p:nvPr/>
        </p:nvSpPr>
        <p:spPr>
          <a:xfrm>
            <a:off x="960120" y="5431536"/>
            <a:ext cx="255118" cy="128016"/>
          </a:xfrm>
          <a:prstGeom prst="roundRect">
            <a:avLst>
              <a:gd name="adj" fmla="val 14286"/>
            </a:avLst>
          </a:prstGeom>
          <a:solidFill>
            <a:srgbClr val="3E8C9A"/>
          </a:solidFill>
          <a:ln/>
        </p:spPr>
      </p:sp>
      <p:sp>
        <p:nvSpPr>
          <p:cNvPr id="33" name="Text 31"/>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34" name="Text 32"/>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5" name="Shape 33"/>
          <p:cNvSpPr/>
          <p:nvPr/>
        </p:nvSpPr>
        <p:spPr>
          <a:xfrm>
            <a:off x="4434840" y="5266944"/>
            <a:ext cx="36576" cy="128016"/>
          </a:xfrm>
          <a:prstGeom prst="roundRect">
            <a:avLst>
              <a:gd name="adj" fmla="val 50000"/>
            </a:avLst>
          </a:prstGeom>
          <a:solidFill>
            <a:srgbClr val="E3E7EE"/>
          </a:solidFill>
          <a:ln/>
        </p:spPr>
      </p:sp>
      <p:sp>
        <p:nvSpPr>
          <p:cNvPr id="36" name="Shape 34"/>
          <p:cNvSpPr/>
          <p:nvPr/>
        </p:nvSpPr>
        <p:spPr>
          <a:xfrm>
            <a:off x="4434840" y="5431536"/>
            <a:ext cx="76535" cy="128016"/>
          </a:xfrm>
          <a:prstGeom prst="roundRect">
            <a:avLst>
              <a:gd name="adj" fmla="val 23895"/>
            </a:avLst>
          </a:prstGeom>
          <a:solidFill>
            <a:srgbClr val="3E8C9A"/>
          </a:solidFill>
          <a:ln/>
        </p:spPr>
      </p:sp>
      <p:sp>
        <p:nvSpPr>
          <p:cNvPr id="37" name="Text 35"/>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8" name="Text 36"/>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9" name="Shape 37"/>
          <p:cNvSpPr/>
          <p:nvPr/>
        </p:nvSpPr>
        <p:spPr>
          <a:xfrm>
            <a:off x="7909560" y="5266944"/>
            <a:ext cx="56693" cy="128016"/>
          </a:xfrm>
          <a:prstGeom prst="roundRect">
            <a:avLst>
              <a:gd name="adj" fmla="val 32258"/>
            </a:avLst>
          </a:prstGeom>
          <a:solidFill>
            <a:srgbClr val="E3E7EE"/>
          </a:solidFill>
          <a:ln/>
        </p:spPr>
      </p:sp>
      <p:sp>
        <p:nvSpPr>
          <p:cNvPr id="40" name="Shape 38"/>
          <p:cNvSpPr/>
          <p:nvPr/>
        </p:nvSpPr>
        <p:spPr>
          <a:xfrm>
            <a:off x="7909560" y="5431536"/>
            <a:ext cx="70866" cy="128016"/>
          </a:xfrm>
          <a:prstGeom prst="roundRect">
            <a:avLst>
              <a:gd name="adj" fmla="val 25806"/>
            </a:avLst>
          </a:prstGeom>
          <a:solidFill>
            <a:srgbClr val="3E8C9A"/>
          </a:solidFill>
          <a:ln/>
        </p:spPr>
      </p:sp>
      <p:sp>
        <p:nvSpPr>
          <p:cNvPr id="41" name="Text 39"/>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42" name="Text 40"/>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43" name="Text 4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pic>
        <p:nvPicPr>
          <p:cNvPr id="44"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Shape 6"/>
          <p:cNvSpPr/>
          <p:nvPr/>
        </p:nvSpPr>
        <p:spPr>
          <a:xfrm>
            <a:off x="4206240" y="1298448"/>
            <a:ext cx="4023360" cy="452628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10" name="Shape 8"/>
          <p:cNvSpPr/>
          <p:nvPr/>
        </p:nvSpPr>
        <p:spPr>
          <a:xfrm>
            <a:off x="4892040" y="4027932"/>
            <a:ext cx="822960" cy="928116"/>
          </a:xfrm>
          <a:prstGeom prst="roundRect">
            <a:avLst>
              <a:gd name="adj" fmla="val 4444"/>
            </a:avLst>
          </a:prstGeom>
          <a:solidFill>
            <a:srgbClr val="D96F2B"/>
          </a:solidFill>
          <a:ln/>
        </p:spPr>
      </p:sp>
      <p:sp>
        <p:nvSpPr>
          <p:cNvPr id="11" name="Text 9"/>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2" name="Text 10"/>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3" name="Shape 11"/>
          <p:cNvSpPr/>
          <p:nvPr/>
        </p:nvSpPr>
        <p:spPr>
          <a:xfrm>
            <a:off x="6355080" y="2330806"/>
            <a:ext cx="822960" cy="2625242"/>
          </a:xfrm>
          <a:prstGeom prst="roundRect">
            <a:avLst>
              <a:gd name="adj" fmla="val 4444"/>
            </a:avLst>
          </a:prstGeom>
          <a:solidFill>
            <a:srgbClr val="41639E"/>
          </a:solidFill>
          <a:ln/>
        </p:spPr>
      </p:sp>
      <p:sp>
        <p:nvSpPr>
          <p:cNvPr id="14" name="Text 12"/>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5" name="Text 13"/>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6" name="Shape 14"/>
          <p:cNvSpPr/>
          <p:nvPr/>
        </p:nvSpPr>
        <p:spPr>
          <a:xfrm>
            <a:off x="4617720" y="4956048"/>
            <a:ext cx="3200400" cy="18288"/>
          </a:xfrm>
          <a:prstGeom prst="rect">
            <a:avLst/>
          </a:prstGeom>
          <a:solidFill>
            <a:srgbClr val="CFD4DD"/>
          </a:solidFill>
          <a:ln/>
        </p:spPr>
      </p:sp>
      <p:sp>
        <p:nvSpPr>
          <p:cNvPr id="17" name="Text 15"/>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8" name="Shape 16"/>
          <p:cNvSpPr/>
          <p:nvPr/>
        </p:nvSpPr>
        <p:spPr>
          <a:xfrm>
            <a:off x="8485632" y="1298448"/>
            <a:ext cx="3063240" cy="4526280"/>
          </a:xfrm>
          <a:prstGeom prst="roundRect">
            <a:avLst>
              <a:gd name="adj" fmla="val 1791"/>
            </a:avLst>
          </a:prstGeom>
          <a:solidFill>
            <a:srgbClr val="F4F5FA"/>
          </a:solidFill>
          <a:ln/>
          <a:effectLst>
            <a:outerShdw sx="100000" sy="100000" kx="0" ky="0" algn="bl" rotWithShape="0" blurRad="127000" dist="25400" dir="5400000">
              <a:srgbClr val="1E2B4A">
                <a:alpha val="10000"/>
              </a:srgbClr>
            </a:outerShdw>
          </a:effectLst>
        </p:spPr>
      </p:sp>
      <p:sp>
        <p:nvSpPr>
          <p:cNvPr id="19" name="Text 17"/>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20" name="Text 18"/>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21" name="Text 19"/>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0,064**</a:t>
            </a:r>
            <a:endParaRPr lang="en-US" sz="1500" dirty="0"/>
          </a:p>
        </p:txBody>
      </p:sp>
      <p:sp>
        <p:nvSpPr>
          <p:cNvPr id="22" name="Shape 20"/>
          <p:cNvSpPr/>
          <p:nvPr/>
        </p:nvSpPr>
        <p:spPr>
          <a:xfrm>
            <a:off x="8732520" y="2523744"/>
            <a:ext cx="2606040" cy="10973"/>
          </a:xfrm>
          <a:prstGeom prst="rect">
            <a:avLst/>
          </a:prstGeom>
          <a:solidFill>
            <a:srgbClr val="E3E7EE"/>
          </a:solidFill>
          <a:ln/>
        </p:spPr>
      </p:sp>
      <p:sp>
        <p:nvSpPr>
          <p:cNvPr id="23" name="Text 21"/>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4" name="Text 22"/>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0,061*</a:t>
            </a:r>
            <a:endParaRPr lang="en-US" sz="1500" dirty="0"/>
          </a:p>
        </p:txBody>
      </p:sp>
      <p:sp>
        <p:nvSpPr>
          <p:cNvPr id="25" name="Shape 23"/>
          <p:cNvSpPr/>
          <p:nvPr/>
        </p:nvSpPr>
        <p:spPr>
          <a:xfrm>
            <a:off x="8732520" y="3182112"/>
            <a:ext cx="2606040" cy="10973"/>
          </a:xfrm>
          <a:prstGeom prst="rect">
            <a:avLst/>
          </a:prstGeom>
          <a:solidFill>
            <a:srgbClr val="E3E7EE"/>
          </a:solidFill>
          <a:ln/>
        </p:spPr>
      </p:sp>
      <p:sp>
        <p:nvSpPr>
          <p:cNvPr id="26" name="Text 24"/>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7" name="Text 25"/>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0,050*</a:t>
            </a:r>
            <a:endParaRPr lang="en-US" sz="1500" dirty="0"/>
          </a:p>
        </p:txBody>
      </p:sp>
      <p:sp>
        <p:nvSpPr>
          <p:cNvPr id="28" name="Shape 26"/>
          <p:cNvSpPr/>
          <p:nvPr/>
        </p:nvSpPr>
        <p:spPr>
          <a:xfrm>
            <a:off x="8732520" y="3840480"/>
            <a:ext cx="2606040" cy="10973"/>
          </a:xfrm>
          <a:prstGeom prst="rect">
            <a:avLst/>
          </a:prstGeom>
          <a:solidFill>
            <a:srgbClr val="E3E7EE"/>
          </a:solidFill>
          <a:ln/>
        </p:spPr>
      </p:sp>
      <p:sp>
        <p:nvSpPr>
          <p:cNvPr id="29" name="Text 27"/>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30" name="Text 28"/>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31" name="Shape 29"/>
          <p:cNvSpPr/>
          <p:nvPr/>
        </p:nvSpPr>
        <p:spPr>
          <a:xfrm>
            <a:off x="8732520" y="4498848"/>
            <a:ext cx="2606040" cy="10973"/>
          </a:xfrm>
          <a:prstGeom prst="rect">
            <a:avLst/>
          </a:prstGeom>
          <a:solidFill>
            <a:srgbClr val="E3E7EE"/>
          </a:solidFill>
          <a:ln/>
        </p:spPr>
      </p:sp>
      <p:sp>
        <p:nvSpPr>
          <p:cNvPr id="32" name="Text 30"/>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3" name="Text 3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4" name="Text 3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pic>
        <p:nvPicPr>
          <p:cNvPr id="3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Shape 2"/>
          <p:cNvSpPr/>
          <p:nvPr/>
        </p:nvSpPr>
        <p:spPr>
          <a:xfrm>
            <a:off x="658368" y="1783080"/>
            <a:ext cx="658368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6" name="Text 4"/>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7" name="Shape 5"/>
          <p:cNvSpPr/>
          <p:nvPr/>
        </p:nvSpPr>
        <p:spPr>
          <a:xfrm>
            <a:off x="2514600" y="2542032"/>
            <a:ext cx="3429000" cy="182880"/>
          </a:xfrm>
          <a:prstGeom prst="roundRect">
            <a:avLst>
              <a:gd name="adj" fmla="val 12500"/>
            </a:avLst>
          </a:prstGeom>
          <a:solidFill>
            <a:srgbClr val="D96F2B"/>
          </a:solidFill>
          <a:ln/>
        </p:spPr>
      </p:sp>
      <p:sp>
        <p:nvSpPr>
          <p:cNvPr id="8" name="Text 6"/>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D96F2B"/>
                </a:solidFill>
                <a:latin typeface="Calibri" pitchFamily="34" charset="0"/>
                <a:ea typeface="Calibri" pitchFamily="34" charset="-122"/>
                <a:cs typeface="Calibri" pitchFamily="34" charset="-120"/>
              </a:rPr>
              <a:t>+6,8</a:t>
            </a:r>
            <a:endParaRPr lang="en-US" sz="1200" dirty="0"/>
          </a:p>
        </p:txBody>
      </p:sp>
      <p:sp>
        <p:nvSpPr>
          <p:cNvPr id="9" name="Text 7"/>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1" name="Shape 9"/>
          <p:cNvSpPr/>
          <p:nvPr/>
        </p:nvSpPr>
        <p:spPr>
          <a:xfrm>
            <a:off x="2514600" y="2999232"/>
            <a:ext cx="2319618" cy="182880"/>
          </a:xfrm>
          <a:prstGeom prst="roundRect">
            <a:avLst>
              <a:gd name="adj" fmla="val 12500"/>
            </a:avLst>
          </a:prstGeom>
          <a:solidFill>
            <a:srgbClr val="E3E7EE"/>
          </a:solidFill>
          <a:ln/>
        </p:spPr>
      </p:sp>
      <p:sp>
        <p:nvSpPr>
          <p:cNvPr id="12" name="Text 10"/>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+4,6</a:t>
            </a:r>
            <a:endParaRPr lang="en-US" sz="1200" dirty="0"/>
          </a:p>
        </p:txBody>
      </p:sp>
      <p:sp>
        <p:nvSpPr>
          <p:cNvPr id="13" name="Text 11"/>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4" name="Shape 12"/>
          <p:cNvSpPr/>
          <p:nvPr/>
        </p:nvSpPr>
        <p:spPr>
          <a:xfrm>
            <a:off x="2514600" y="3456432"/>
            <a:ext cx="1210235" cy="182880"/>
          </a:xfrm>
          <a:prstGeom prst="roundRect">
            <a:avLst>
              <a:gd name="adj" fmla="val 12500"/>
            </a:avLst>
          </a:prstGeom>
          <a:solidFill>
            <a:srgbClr val="E3E7EE"/>
          </a:solidFill>
          <a:ln/>
        </p:spPr>
      </p:sp>
      <p:sp>
        <p:nvSpPr>
          <p:cNvPr id="15" name="Text 13"/>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6" name="Text 14"/>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7" name="Shape 15"/>
          <p:cNvSpPr/>
          <p:nvPr/>
        </p:nvSpPr>
        <p:spPr>
          <a:xfrm>
            <a:off x="2514600" y="3913632"/>
            <a:ext cx="1210235" cy="182880"/>
          </a:xfrm>
          <a:prstGeom prst="roundRect">
            <a:avLst>
              <a:gd name="adj" fmla="val 12500"/>
            </a:avLst>
          </a:prstGeom>
          <a:solidFill>
            <a:srgbClr val="E3E7EE"/>
          </a:solidFill>
          <a:ln/>
        </p:spPr>
      </p:sp>
      <p:sp>
        <p:nvSpPr>
          <p:cNvPr id="18" name="Text 16"/>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9" name="Text 17"/>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20" name="Shape 18"/>
          <p:cNvSpPr/>
          <p:nvPr/>
        </p:nvSpPr>
        <p:spPr>
          <a:xfrm>
            <a:off x="2514600" y="4370832"/>
            <a:ext cx="554691" cy="182880"/>
          </a:xfrm>
          <a:prstGeom prst="roundRect">
            <a:avLst>
              <a:gd name="adj" fmla="val 12500"/>
            </a:avLst>
          </a:prstGeom>
          <a:solidFill>
            <a:srgbClr val="E3E7EE"/>
          </a:solidFill>
          <a:ln/>
        </p:spPr>
      </p:sp>
      <p:sp>
        <p:nvSpPr>
          <p:cNvPr id="21" name="Text 19"/>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+1,1</a:t>
            </a:r>
            <a:endParaRPr lang="en-US" sz="1200" dirty="0"/>
          </a:p>
        </p:txBody>
      </p:sp>
      <p:sp>
        <p:nvSpPr>
          <p:cNvPr id="22" name="Text 20"/>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3" name="Shape 21"/>
          <p:cNvSpPr/>
          <p:nvPr/>
        </p:nvSpPr>
        <p:spPr>
          <a:xfrm>
            <a:off x="2514600" y="4828032"/>
            <a:ext cx="504265" cy="182880"/>
          </a:xfrm>
          <a:prstGeom prst="roundRect">
            <a:avLst>
              <a:gd name="adj" fmla="val 12500"/>
            </a:avLst>
          </a:prstGeom>
          <a:solidFill>
            <a:srgbClr val="E3E7EE"/>
          </a:solidFill>
          <a:ln/>
        </p:spPr>
      </p:sp>
      <p:sp>
        <p:nvSpPr>
          <p:cNvPr id="24" name="Text 22"/>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+1,0</a:t>
            </a:r>
            <a:endParaRPr lang="en-US" sz="1200" dirty="0"/>
          </a:p>
        </p:txBody>
      </p:sp>
      <p:sp>
        <p:nvSpPr>
          <p:cNvPr id="25" name="Text 23"/>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6" name="Shape 24"/>
          <p:cNvSpPr/>
          <p:nvPr/>
        </p:nvSpPr>
        <p:spPr>
          <a:xfrm>
            <a:off x="2514600" y="5285232"/>
            <a:ext cx="252132" cy="182880"/>
          </a:xfrm>
          <a:prstGeom prst="roundRect">
            <a:avLst>
              <a:gd name="adj" fmla="val 12500"/>
            </a:avLst>
          </a:prstGeom>
          <a:solidFill>
            <a:srgbClr val="E3E7EE"/>
          </a:solidFill>
          <a:ln/>
        </p:spPr>
      </p:sp>
      <p:sp>
        <p:nvSpPr>
          <p:cNvPr id="27" name="Text 25"/>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+0,5</a:t>
            </a:r>
            <a:endParaRPr lang="en-US" sz="1200" dirty="0"/>
          </a:p>
        </p:txBody>
      </p:sp>
      <p:sp>
        <p:nvSpPr>
          <p:cNvPr id="28" name="Shape 26"/>
          <p:cNvSpPr/>
          <p:nvPr/>
        </p:nvSpPr>
        <p:spPr>
          <a:xfrm>
            <a:off x="7498080" y="1783080"/>
            <a:ext cx="4050792" cy="1874520"/>
          </a:xfrm>
          <a:prstGeom prst="roundRect">
            <a:avLst>
              <a:gd name="adj" fmla="val 2927"/>
            </a:avLst>
          </a:prstGeom>
          <a:solidFill>
            <a:srgbClr val="F7EAE4"/>
          </a:solidFill>
          <a:ln/>
          <a:effectLst>
            <a:outerShdw sx="100000" sy="100000" kx="0" ky="0" algn="bl" rotWithShape="0" blurRad="127000" dist="25400" dir="5400000">
              <a:srgbClr val="1E2B4A">
                <a:alpha val="10000"/>
              </a:srgbClr>
            </a:outerShdw>
          </a:effectLst>
        </p:spPr>
      </p:sp>
      <p:sp>
        <p:nvSpPr>
          <p:cNvPr id="29" name="Shape 27"/>
          <p:cNvSpPr/>
          <p:nvPr/>
        </p:nvSpPr>
        <p:spPr>
          <a:xfrm>
            <a:off x="7772400" y="205740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0"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1" name="Text 28"/>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2" name="Text 29"/>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3" name="Shape 30"/>
          <p:cNvSpPr/>
          <p:nvPr/>
        </p:nvSpPr>
        <p:spPr>
          <a:xfrm>
            <a:off x="7498080" y="3931920"/>
            <a:ext cx="405079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1"/>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5" name="Text 32"/>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6" name="Text 33"/>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7" name="Text 34"/>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8" name="Text 35"/>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9" name="Text 36"/>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40" name="Text 37"/>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41" name="Text 38"/>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2"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3"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pic>
        <p:nvPicPr>
          <p:cNvPr id="44"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Shape 2"/>
          <p:cNvSpPr/>
          <p:nvPr/>
        </p:nvSpPr>
        <p:spPr>
          <a:xfrm>
            <a:off x="658368" y="1783080"/>
            <a:ext cx="694944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6" name="Text 4"/>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Q1</a:t>
            </a:r>
            <a:endParaRPr lang="en-US" sz="1300" dirty="0"/>
          </a:p>
        </p:txBody>
      </p:sp>
      <p:sp>
        <p:nvSpPr>
          <p:cNvPr id="7" name="Text 5"/>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8" name="Shape 6"/>
          <p:cNvSpPr/>
          <p:nvPr/>
        </p:nvSpPr>
        <p:spPr>
          <a:xfrm>
            <a:off x="3017520" y="2624328"/>
            <a:ext cx="3566160" cy="219456"/>
          </a:xfrm>
          <a:prstGeom prst="roundRect">
            <a:avLst>
              <a:gd name="adj" fmla="val 12500"/>
            </a:avLst>
          </a:prstGeom>
          <a:solidFill>
            <a:srgbClr val="D96F2B"/>
          </a:solidFill>
          <a:ln/>
        </p:spPr>
      </p:sp>
      <p:sp>
        <p:nvSpPr>
          <p:cNvPr id="9" name="Text 7"/>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+12,9</a:t>
            </a:r>
            <a:endParaRPr lang="en-US" sz="1200" dirty="0"/>
          </a:p>
        </p:txBody>
      </p:sp>
      <p:sp>
        <p:nvSpPr>
          <p:cNvPr id="10" name="Text 8"/>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Q2</a:t>
            </a:r>
            <a:endParaRPr lang="en-US" sz="1300" dirty="0"/>
          </a:p>
        </p:txBody>
      </p:sp>
      <p:sp>
        <p:nvSpPr>
          <p:cNvPr id="12" name="Text 10"/>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3" name="Shape 11"/>
          <p:cNvSpPr/>
          <p:nvPr/>
        </p:nvSpPr>
        <p:spPr>
          <a:xfrm>
            <a:off x="3017520" y="3227832"/>
            <a:ext cx="2736820" cy="219456"/>
          </a:xfrm>
          <a:prstGeom prst="roundRect">
            <a:avLst>
              <a:gd name="adj" fmla="val 12500"/>
            </a:avLst>
          </a:prstGeom>
          <a:solidFill>
            <a:srgbClr val="D96F2B"/>
          </a:solidFill>
          <a:ln/>
        </p:spPr>
      </p:sp>
      <p:sp>
        <p:nvSpPr>
          <p:cNvPr id="14" name="Text 12"/>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+9,9</a:t>
            </a:r>
            <a:endParaRPr lang="en-US" sz="1200" dirty="0"/>
          </a:p>
        </p:txBody>
      </p:sp>
      <p:sp>
        <p:nvSpPr>
          <p:cNvPr id="15" name="Text 13"/>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8" name="Shape 16"/>
          <p:cNvSpPr/>
          <p:nvPr/>
        </p:nvSpPr>
        <p:spPr>
          <a:xfrm>
            <a:off x="3017520" y="3831336"/>
            <a:ext cx="552893" cy="219456"/>
          </a:xfrm>
          <a:prstGeom prst="roundRect">
            <a:avLst>
              <a:gd name="adj" fmla="val 12500"/>
            </a:avLst>
          </a:prstGeom>
          <a:solidFill>
            <a:srgbClr val="E3E7EE"/>
          </a:solidFill>
          <a:ln/>
        </p:spPr>
      </p:sp>
      <p:sp>
        <p:nvSpPr>
          <p:cNvPr id="19" name="Text 17"/>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+2,0</a:t>
            </a:r>
            <a:endParaRPr lang="en-US" sz="1200" dirty="0"/>
          </a:p>
        </p:txBody>
      </p:sp>
      <p:sp>
        <p:nvSpPr>
          <p:cNvPr id="20" name="Text 18"/>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2" name="Shape 20"/>
          <p:cNvSpPr/>
          <p:nvPr/>
        </p:nvSpPr>
        <p:spPr>
          <a:xfrm>
            <a:off x="3017520" y="4434840"/>
            <a:ext cx="2322151" cy="219456"/>
          </a:xfrm>
          <a:prstGeom prst="roundRect">
            <a:avLst>
              <a:gd name="adj" fmla="val 12500"/>
            </a:avLst>
          </a:prstGeom>
          <a:solidFill>
            <a:srgbClr val="E3E7EE"/>
          </a:solidFill>
          <a:ln/>
        </p:spPr>
      </p:sp>
      <p:sp>
        <p:nvSpPr>
          <p:cNvPr id="23" name="Text 21"/>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+8,4</a:t>
            </a:r>
            <a:endParaRPr lang="en-US" sz="1200" dirty="0"/>
          </a:p>
        </p:txBody>
      </p:sp>
      <p:sp>
        <p:nvSpPr>
          <p:cNvPr id="24" name="Text 22"/>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6" name="Shape 24"/>
          <p:cNvSpPr/>
          <p:nvPr/>
        </p:nvSpPr>
        <p:spPr>
          <a:xfrm>
            <a:off x="2796363" y="5038344"/>
            <a:ext cx="221157" cy="219456"/>
          </a:xfrm>
          <a:prstGeom prst="roundRect">
            <a:avLst>
              <a:gd name="adj" fmla="val 12500"/>
            </a:avLst>
          </a:prstGeom>
          <a:solidFill>
            <a:srgbClr val="E3E7EE"/>
          </a:solidFill>
          <a:ln/>
        </p:spPr>
      </p:sp>
      <p:sp>
        <p:nvSpPr>
          <p:cNvPr id="27" name="Text 25"/>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−0,8</a:t>
            </a:r>
            <a:endParaRPr lang="en-US" sz="1200" dirty="0"/>
          </a:p>
        </p:txBody>
      </p:sp>
      <p:sp>
        <p:nvSpPr>
          <p:cNvPr id="28" name="Shape 26"/>
          <p:cNvSpPr/>
          <p:nvPr/>
        </p:nvSpPr>
        <p:spPr>
          <a:xfrm>
            <a:off x="3017520" y="2487168"/>
            <a:ext cx="13716" cy="3063240"/>
          </a:xfrm>
          <a:prstGeom prst="rect">
            <a:avLst/>
          </a:prstGeom>
          <a:solidFill>
            <a:srgbClr val="B9C0CC"/>
          </a:solidFill>
          <a:ln/>
        </p:spPr>
      </p:sp>
      <p:sp>
        <p:nvSpPr>
          <p:cNvPr id="29" name="Shape 27"/>
          <p:cNvSpPr/>
          <p:nvPr/>
        </p:nvSpPr>
        <p:spPr>
          <a:xfrm>
            <a:off x="7863840" y="1783080"/>
            <a:ext cx="3685032" cy="1874520"/>
          </a:xfrm>
          <a:prstGeom prst="roundRect">
            <a:avLst>
              <a:gd name="adj" fmla="val 2927"/>
            </a:avLst>
          </a:prstGeom>
          <a:solidFill>
            <a:srgbClr val="1E2B4A"/>
          </a:solidFill>
          <a:ln/>
          <a:effectLst>
            <a:outerShdw sx="100000" sy="100000" kx="0" ky="0" algn="bl" rotWithShape="0" blurRad="127000" dist="25400" dir="5400000">
              <a:srgbClr val="1E2B4A">
                <a:alpha val="10000"/>
              </a:srgbClr>
            </a:outerShdw>
          </a:effectLst>
        </p:spPr>
      </p:sp>
      <p:sp>
        <p:nvSpPr>
          <p:cNvPr id="30" name="Text 28"/>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1" name="Text 29"/>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2" name="Text 30"/>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3" name="Shape 31"/>
          <p:cNvSpPr/>
          <p:nvPr/>
        </p:nvSpPr>
        <p:spPr>
          <a:xfrm>
            <a:off x="7863840" y="3931920"/>
            <a:ext cx="368503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2"/>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5" name="Text 33"/>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6" name="Text 34"/>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7" name="Text 3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pic>
        <p:nvPicPr>
          <p:cNvPr id="3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05</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Robustesse et discussion</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le résultat supporte, et ce qu'il ne prouve pas.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658368"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32688" y="1773936"/>
            <a:ext cx="777240" cy="77724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6" name="Text 3"/>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7" name="Text 4"/>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1639E"/>
                </a:solidFill>
                <a:latin typeface="Calibri" pitchFamily="34" charset="0"/>
                <a:ea typeface="Calibri" pitchFamily="34" charset="-122"/>
                <a:cs typeface="Calibri" pitchFamily="34" charset="-120"/>
              </a:rPr>
              <a:t>Le résultat tient</a:t>
            </a:r>
            <a:endParaRPr lang="en-US" sz="1100" dirty="0"/>
          </a:p>
        </p:txBody>
      </p:sp>
      <p:sp>
        <p:nvSpPr>
          <p:cNvPr id="8" name="Text 5"/>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9" name="Shape 6"/>
          <p:cNvSpPr/>
          <p:nvPr/>
        </p:nvSpPr>
        <p:spPr>
          <a:xfrm>
            <a:off x="6263640"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6537960" y="1773936"/>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2" name="Text 8"/>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3" name="Text 9"/>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3E8C9A"/>
                </a:solidFill>
                <a:latin typeface="Calibri" pitchFamily="34" charset="0"/>
                <a:ea typeface="Calibri" pitchFamily="34" charset="-122"/>
                <a:cs typeface="Calibri" pitchFamily="34" charset="-120"/>
              </a:rPr>
              <a:t>Le signe tient</a:t>
            </a:r>
            <a:endParaRPr lang="en-US" sz="1100" dirty="0"/>
          </a:p>
        </p:txBody>
      </p:sp>
      <p:sp>
        <p:nvSpPr>
          <p:cNvPr id="14" name="Text 10"/>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5" name="Shape 11"/>
          <p:cNvSpPr/>
          <p:nvPr/>
        </p:nvSpPr>
        <p:spPr>
          <a:xfrm>
            <a:off x="658368"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932688" y="4014216"/>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8" name="Text 13"/>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9" name="Text 14"/>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C98A24"/>
                </a:solidFill>
                <a:latin typeface="Calibri" pitchFamily="34" charset="0"/>
                <a:ea typeface="Calibri" pitchFamily="34" charset="-122"/>
                <a:cs typeface="Calibri" pitchFamily="34" charset="-120"/>
              </a:rPr>
              <a:t>Le résultat tient</a:t>
            </a:r>
            <a:endParaRPr lang="en-US" sz="1100" dirty="0"/>
          </a:p>
        </p:txBody>
      </p:sp>
      <p:sp>
        <p:nvSpPr>
          <p:cNvPr id="20" name="Text 15"/>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21" name="Shape 16"/>
          <p:cNvSpPr/>
          <p:nvPr/>
        </p:nvSpPr>
        <p:spPr>
          <a:xfrm>
            <a:off x="6263640"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6537960" y="4014216"/>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23"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4" name="Text 18"/>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5" name="Text 19"/>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6" name="Text 20"/>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7" name="Shape 21"/>
          <p:cNvSpPr/>
          <p:nvPr/>
        </p:nvSpPr>
        <p:spPr>
          <a:xfrm>
            <a:off x="658368" y="5961888"/>
            <a:ext cx="10890504" cy="91"/>
          </a:xfrm>
          <a:prstGeom prst="roundRect">
            <a:avLst>
              <a:gd name="adj" fmla="val 60290110"/>
            </a:avLst>
          </a:prstGeom>
          <a:solidFill>
            <a:srgbClr val="FFFFFF"/>
          </a:solidFill>
          <a:ln/>
          <a:effectLst>
            <a:outerShdw sx="100000" sy="100000" kx="0" ky="0" algn="bl" rotWithShape="0" blurRad="127000" dist="25400" dir="5400000">
              <a:srgbClr val="1E2B4A">
                <a:alpha val="10000"/>
              </a:srgbClr>
            </a:outerShdw>
          </a:effectLst>
        </p:spPr>
      </p:sp>
      <p:sp>
        <p:nvSpPr>
          <p:cNvPr id="28" name="Text 2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9" name="Text 2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pic>
        <p:nvPicPr>
          <p:cNvPr id="30"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Validation des hypothèses</a:t>
            </a:r>
            <a:endParaRPr lang="en-US" sz="2700" dirty="0"/>
          </a:p>
        </p:txBody>
      </p:sp>
      <p:sp>
        <p:nvSpPr>
          <p:cNvPr id="3" name="Shape 1"/>
          <p:cNvSpPr/>
          <p:nvPr/>
        </p:nvSpPr>
        <p:spPr>
          <a:xfrm>
            <a:off x="658368" y="148132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5" name="Text 3"/>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6" name="Text 4"/>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7" name="Text 5"/>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8" name="Shape 6"/>
          <p:cNvSpPr/>
          <p:nvPr/>
        </p:nvSpPr>
        <p:spPr>
          <a:xfrm>
            <a:off x="658368" y="381304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3E8C9A"/>
                </a:solidFill>
                <a:latin typeface="Calibri" pitchFamily="34" charset="0"/>
                <a:ea typeface="Calibri" pitchFamily="34" charset="-122"/>
                <a:cs typeface="Calibri" pitchFamily="34" charset="-120"/>
              </a:rPr>
              <a:t>H2</a:t>
            </a:r>
            <a:endParaRPr lang="en-US" sz="2600" dirty="0"/>
          </a:p>
        </p:txBody>
      </p:sp>
      <p:sp>
        <p:nvSpPr>
          <p:cNvPr id="10" name="Text 8"/>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11" name="Text 9"/>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2" name="Text 10"/>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3E8C9A"/>
                </a:solidFill>
                <a:latin typeface="Calibri" pitchFamily="34" charset="0"/>
                <a:ea typeface="Calibri" pitchFamily="34" charset="-122"/>
                <a:cs typeface="Calibri" pitchFamily="34" charset="-120"/>
              </a:rPr>
              <a:t>Partiellement validée</a:t>
            </a:r>
            <a:endParaRPr lang="en-US" sz="1350" dirty="0"/>
          </a:p>
        </p:txBody>
      </p:sp>
      <p:sp>
        <p:nvSpPr>
          <p:cNvPr id="13" name="Shape 11"/>
          <p:cNvSpPr/>
          <p:nvPr/>
        </p:nvSpPr>
        <p:spPr>
          <a:xfrm>
            <a:off x="932688" y="2103120"/>
            <a:ext cx="566928" cy="56692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4"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5" name="Shape 12"/>
          <p:cNvSpPr/>
          <p:nvPr/>
        </p:nvSpPr>
        <p:spPr>
          <a:xfrm>
            <a:off x="932688" y="4434840"/>
            <a:ext cx="566928" cy="56692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7" name="Text 1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21</a:t>
            </a:r>
            <a:endParaRPr lang="en-US" sz="950" dirty="0"/>
          </a:p>
        </p:txBody>
      </p:sp>
      <p:pic>
        <p:nvPicPr>
          <p:cNvPr id="18"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65836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1984248" y="196596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7" name="Text 4"/>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8" name="Text 5"/>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9" name="Shape 6"/>
          <p:cNvSpPr/>
          <p:nvPr/>
        </p:nvSpPr>
        <p:spPr>
          <a:xfrm>
            <a:off x="445312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5779008" y="196596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2" name="Text 8"/>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3" name="Text 9"/>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4" name="Shape 10"/>
          <p:cNvSpPr/>
          <p:nvPr/>
        </p:nvSpPr>
        <p:spPr>
          <a:xfrm>
            <a:off x="824788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573768" y="196596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7" name="Text 12"/>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8" name="Text 13"/>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22</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658368" y="1417320"/>
            <a:ext cx="5394960"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9164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6" name="Text 3"/>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7" name="Text 4"/>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8" name="Text 5"/>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9" name="Text 6"/>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10" name="Text 7"/>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1" name="Shape 8"/>
          <p:cNvSpPr/>
          <p:nvPr/>
        </p:nvSpPr>
        <p:spPr>
          <a:xfrm>
            <a:off x="6263640" y="1417320"/>
            <a:ext cx="5285232"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12" name="Shape 9"/>
          <p:cNvSpPr/>
          <p:nvPr/>
        </p:nvSpPr>
        <p:spPr>
          <a:xfrm>
            <a:off x="6565392" y="169164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3"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4" name="Text 10"/>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5" name="Shape 11"/>
          <p:cNvSpPr/>
          <p:nvPr/>
        </p:nvSpPr>
        <p:spPr>
          <a:xfrm>
            <a:off x="6565392" y="2798064"/>
            <a:ext cx="292608" cy="292608"/>
          </a:xfrm>
          <a:prstGeom prst="ellipse">
            <a:avLst/>
          </a:prstGeom>
          <a:solidFill>
            <a:srgbClr val="3E8C9A"/>
          </a:solidFill>
          <a:ln/>
        </p:spPr>
      </p:sp>
      <p:sp>
        <p:nvSpPr>
          <p:cNvPr id="16" name="Text 12"/>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8" name="Shape 14"/>
          <p:cNvSpPr/>
          <p:nvPr/>
        </p:nvSpPr>
        <p:spPr>
          <a:xfrm>
            <a:off x="6565392" y="3822192"/>
            <a:ext cx="292608" cy="292608"/>
          </a:xfrm>
          <a:prstGeom prst="ellipse">
            <a:avLst/>
          </a:prstGeom>
          <a:solidFill>
            <a:srgbClr val="3E8C9A"/>
          </a:solidFill>
          <a:ln/>
        </p:spPr>
      </p:sp>
      <p:sp>
        <p:nvSpPr>
          <p:cNvPr id="19" name="Text 15"/>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21" name="Shape 17"/>
          <p:cNvSpPr/>
          <p:nvPr/>
        </p:nvSpPr>
        <p:spPr>
          <a:xfrm>
            <a:off x="6565392" y="4846320"/>
            <a:ext cx="292608" cy="292608"/>
          </a:xfrm>
          <a:prstGeom prst="ellipse">
            <a:avLst/>
          </a:prstGeom>
          <a:solidFill>
            <a:srgbClr val="3E8C9A"/>
          </a:solidFill>
          <a:ln/>
        </p:spPr>
      </p:sp>
      <p:sp>
        <p:nvSpPr>
          <p:cNvPr id="22" name="Text 18"/>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23</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06</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 et recommandations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l'étude établit, et ce qu'il faut en faire.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Shape 3"/>
          <p:cNvSpPr/>
          <p:nvPr/>
        </p:nvSpPr>
        <p:spPr>
          <a:xfrm>
            <a:off x="65836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7" name="Text 5"/>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8" name="Text 6"/>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9" name="Shape 7"/>
          <p:cNvSpPr/>
          <p:nvPr/>
        </p:nvSpPr>
        <p:spPr>
          <a:xfrm>
            <a:off x="344728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0" name="Text 8"/>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1639E"/>
                </a:solidFill>
                <a:latin typeface="Calibri" pitchFamily="34" charset="0"/>
                <a:ea typeface="Calibri" pitchFamily="34" charset="-122"/>
                <a:cs typeface="Calibri" pitchFamily="34" charset="-120"/>
              </a:rPr>
              <a:t>1</a:t>
            </a:r>
            <a:endParaRPr lang="en-US" sz="3600" dirty="0"/>
          </a:p>
        </p:txBody>
      </p:sp>
      <p:sp>
        <p:nvSpPr>
          <p:cNvPr id="11" name="Text 9"/>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2" name="Text 10"/>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3" name="Shape 11"/>
          <p:cNvSpPr/>
          <p:nvPr/>
        </p:nvSpPr>
        <p:spPr>
          <a:xfrm>
            <a:off x="623620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3E8C9A"/>
                </a:solidFill>
                <a:latin typeface="Calibri" pitchFamily="34" charset="0"/>
                <a:ea typeface="Calibri" pitchFamily="34" charset="-122"/>
                <a:cs typeface="Calibri" pitchFamily="34" charset="-120"/>
              </a:rPr>
              <a:t>Q1-Q2</a:t>
            </a:r>
            <a:endParaRPr lang="en-US" sz="3600" dirty="0"/>
          </a:p>
        </p:txBody>
      </p:sp>
      <p:sp>
        <p:nvSpPr>
          <p:cNvPr id="15" name="Text 13"/>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6" name="Text 14"/>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7" name="Shape 15"/>
          <p:cNvSpPr/>
          <p:nvPr/>
        </p:nvSpPr>
        <p:spPr>
          <a:xfrm>
            <a:off x="902512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C98A24"/>
                </a:solidFill>
                <a:latin typeface="Calibri" pitchFamily="34" charset="0"/>
                <a:ea typeface="Calibri" pitchFamily="34" charset="-122"/>
                <a:cs typeface="Calibri" pitchFamily="34" charset="-120"/>
              </a:rPr>
              <a:t>0</a:t>
            </a:r>
            <a:endParaRPr lang="en-US" sz="3600" dirty="0"/>
          </a:p>
        </p:txBody>
      </p:sp>
      <p:sp>
        <p:nvSpPr>
          <p:cNvPr id="19" name="Text 17"/>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20" name="Text 18"/>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21"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25</a:t>
            </a:r>
            <a:endParaRPr lang="en-US" sz="950" dirty="0"/>
          </a:p>
        </p:txBody>
      </p:sp>
      <p:pic>
        <p:nvPicPr>
          <p:cNvPr id="22"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658368" y="178308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60120" y="2002536"/>
            <a:ext cx="804672" cy="804672"/>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6"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7" name="Text 4"/>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8" name="Text 5"/>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9" name="Shape 6"/>
          <p:cNvSpPr/>
          <p:nvPr/>
        </p:nvSpPr>
        <p:spPr>
          <a:xfrm>
            <a:off x="658368" y="320040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960120" y="3419856"/>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2" name="Text 8"/>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3" name="Text 9"/>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4" name="Shape 10"/>
          <p:cNvSpPr/>
          <p:nvPr/>
        </p:nvSpPr>
        <p:spPr>
          <a:xfrm>
            <a:off x="658368" y="461772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60120" y="4837176"/>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7" name="Text 12"/>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8" name="Text 13"/>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26</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4365E"/>
          </a:solidFill>
          <a:ln/>
        </p:spPr>
      </p:sp>
      <p:sp>
        <p:nvSpPr>
          <p:cNvPr id="3" name="Shape 1"/>
          <p:cNvSpPr/>
          <p:nvPr/>
        </p:nvSpPr>
        <p:spPr>
          <a:xfrm>
            <a:off x="-2011680" y="4023360"/>
            <a:ext cx="4754880" cy="4754880"/>
          </a:xfrm>
          <a:prstGeom prst="ellipse">
            <a:avLst/>
          </a:prstGeom>
          <a:solidFill>
            <a:srgbClr val="24365E"/>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2026-08-02T21:22:14Z</dcterms:created>
  <dcterms:modified xsi:type="dcterms:W3CDTF">2026-08-02T21:22:14Z</dcterms:modified>
</cp:coreProperties>
</file>